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907"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nl-NL"/>
  <c:roundedCorners val="1"/>
  <c:style val="2"/>
  <c:chart>
    <c:autoTitleDeleted val="1"/>
    <c:plotArea>
      <c:layout/>
      <c:barChart>
        <c:barDir val="col"/>
        <c:grouping val="clustered"/>
        <c:varyColors val="1"/>
        <c:ser>
          <c:idx val="0"/>
          <c:order val="0"/>
          <c:tx>
            <c:v>Sample accuracy</c:v>
          </c:tx>
          <c:spPr>
            <a:solidFill>
              <a:srgbClr val="68D7BA"/>
            </a:solidFill>
          </c:spPr>
          <c:invertIfNegative val="0"/>
          <c:dPt>
            <c:idx val="0"/>
            <c:invertIfNegative val="0"/>
            <c:bubble3D val="0"/>
            <c:extLst>
              <c:ext xmlns:c16="http://schemas.microsoft.com/office/drawing/2014/chart" uri="{C3380CC4-5D6E-409C-BE32-E72D297353CC}">
                <c16:uniqueId val="{00000001-9624-4AF3-9288-6FFE0C82EC1C}"/>
              </c:ext>
            </c:extLst>
          </c:dPt>
          <c:dPt>
            <c:idx val="1"/>
            <c:invertIfNegative val="0"/>
            <c:bubble3D val="0"/>
            <c:spPr>
              <a:solidFill>
                <a:srgbClr val="8DA1BD"/>
              </a:solidFill>
            </c:spPr>
            <c:extLst>
              <c:ext xmlns:c16="http://schemas.microsoft.com/office/drawing/2014/chart" uri="{C3380CC4-5D6E-409C-BE32-E72D297353CC}">
                <c16:uniqueId val="{00000003-9624-4AF3-9288-6FFE0C82EC1C}"/>
              </c:ext>
            </c:extLst>
          </c:dPt>
          <c:dLbls>
            <c:numFmt formatCode="0.0%" sourceLinked="0"/>
            <c:spPr>
              <a:noFill/>
              <a:ln>
                <a:noFill/>
              </a:ln>
              <a:effectLst/>
            </c:spPr>
            <c:txPr>
              <a:bodyPr anchorCtr="1"/>
              <a:lstStyle/>
              <a:p>
                <a:pPr>
                  <a:defRPr sz="2100" b="1">
                    <a:solidFill>
                      <a:srgbClr val="F3F6FB"/>
                    </a:solidFill>
                    <a:latin typeface="Arial"/>
                    <a:ea typeface="Arial"/>
                    <a:cs typeface="Arial"/>
                  </a:defRPr>
                </a:pPr>
                <a:endParaRPr lang="nl-N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RoBERTa</c:v>
                </c:pt>
                <c:pt idx="1">
                  <c:v>VADER</c:v>
                </c:pt>
              </c:strCache>
            </c:strRef>
          </c:cat>
          <c:val>
            <c:numRef>
              <c:f>'Chart Data'!$B$2:$B$3</c:f>
              <c:numCache>
                <c:formatCode>0.0%</c:formatCode>
                <c:ptCount val="2"/>
                <c:pt idx="0">
                  <c:v>0.62745097999999999</c:v>
                </c:pt>
                <c:pt idx="1">
                  <c:v>0.33333332999999998</c:v>
                </c:pt>
              </c:numCache>
            </c:numRef>
          </c:val>
          <c:extLst>
            <c:ext xmlns:c16="http://schemas.microsoft.com/office/drawing/2014/chart" uri="{C3380CC4-5D6E-409C-BE32-E72D297353CC}">
              <c16:uniqueId val="{00000004-9624-4AF3-9288-6FFE0C82EC1C}"/>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35445A"/>
            </a:solidFill>
          </a:ln>
        </c:spPr>
        <c:txPr>
          <a:bodyPr anchorCtr="1"/>
          <a:lstStyle/>
          <a:p>
            <a:pPr>
              <a:defRPr sz="1875">
                <a:solidFill>
                  <a:srgbClr val="F3F6FB"/>
                </a:solidFill>
                <a:latin typeface="Arial"/>
                <a:ea typeface="Arial"/>
                <a:cs typeface="Arial"/>
              </a:defRPr>
            </a:pPr>
            <a:endParaRPr lang="nl-NL"/>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35445A"/>
              </a:solidFill>
            </a:ln>
          </c:spPr>
        </c:majorGridlines>
        <c:numFmt formatCode="0.0%" sourceLinked="1"/>
        <c:majorTickMark val="none"/>
        <c:minorTickMark val="none"/>
        <c:tickLblPos val="nextTo"/>
        <c:spPr>
          <a:ln w="9525">
            <a:solidFill>
              <a:srgbClr val="D4D4D4"/>
            </a:solidFill>
            <a:prstDash val="solid"/>
          </a:ln>
        </c:spPr>
        <c:txPr>
          <a:bodyPr anchorCtr="1"/>
          <a:lstStyle/>
          <a:p>
            <a:pPr>
              <a:defRPr sz="1575">
                <a:solidFill>
                  <a:srgbClr val="AABBD0"/>
                </a:solidFill>
                <a:latin typeface="Arial"/>
                <a:ea typeface="Arial"/>
                <a:cs typeface="Arial"/>
              </a:defRPr>
            </a:pPr>
            <a:endParaRPr lang="nl-NL"/>
          </a:p>
        </c:txPr>
        <c:crossAx val="48650112"/>
        <c:crosses val="autoZero"/>
        <c:crossBetween val="between"/>
        <c:majorUnit val="0.25"/>
      </c:valAx>
      <c:spPr>
        <a:solidFill>
          <a:srgbClr val="0B1422"/>
        </a:solidFill>
      </c:spPr>
    </c:plotArea>
    <c:plotVisOnly val="1"/>
    <c:dispBlanksAs val="zero"/>
    <c:showDLblsOverMax val="1"/>
  </c:chart>
  <c:spPr>
    <a:solidFill>
      <a:srgbClr val="0B1422"/>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Autonomous Driving Sentiment Monitor. Luuk Aalders. Research prototype connecting YouTube data collection, Hugging Face inference and a live dashboard. Sources: project README.md and EVALUATION_REPORT.md.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research question concerns selected YouTube discussions, not representative population opinion. A manually annotated example approves damaging the vehicle; RoBERTa predicts Positive while the human target-specific label is Negative. This is observed evidence of an interpretation problem, not a claim of stakeholder validation. SDG 9 relevance: traceable investigation of concerns about autonomous mobility can inform exploratory research into innovation. No public-trust or infrastructure benefit has been measured. Sources: README.md, EVALUATION_REPORT.md, data/manual_labels.csv.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Intended users, rather than people whose adoption has been tested: mobility researchers, transport-policy analysts and autonomous-transport organisations. They can explore sampled discussion and inspect source comments. The product is not designed for individual vehicle-safety decisions, population-wide opinion estimates or personal profiling. YouTube commenters are data contributors, not necessarily dashboard users. No stakeholder usability study has been conducted. Source: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collector reads the first 20 unique video IDs from video_ids.csv and uses commentThreads.list, order=time, textFormat=plainText. It inspects at most three pages with 100 threads per page per video and stores the top-level comments only. The collection includes already existing recent comments. It skips known comment IDs and deduplicates the combined CSV. cron-job.org and the existing GitHub schedule trigger checks approximately every ten minutes. Source: https://github.com/LuukAalders/Hackathons/blob/main/Hackathon%206/collect_comments.py and https://developers.google.com/youtube/v3/docs/commentThreads/list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Model: cardiffnlp/twitter-roberta-base-sentiment-latest, exact revision 3216a57f2a0d9c45a2e6c20157c20c49fb4bf9c7. The model targets English social-media text. The project uses pretrained weights without training or fine-tuning. Hugging Face Transformers and PyTorch run in Python on CPU in GitHub Actions. Preprocessing normalises links/usernames, truncates to at most 512 tokens, validates labels and reports skipped records. The local script is incremental; the hosted artifact workflow currently reanalyses the dataset and caches model weights. Sources: https://huggingface.co/cardiffnlp/twitter-roberta-base-sentiment-latest; analyse_sentiment.py; sentiment/core.py; automation/sentiment.yml.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User fit: mobility researchers and transport-policy analysts need to locate patterns and inspect evidence rather than accept automated labels as final judgments. Manual reading retains context but is laborious at this dataset size; no empirical time-saving study has been performed. Keyword counts do not reliably resolve context. The implemented VADER baseline provides evidence about a simpler approach: on the same 51 relevant human annotations, RoBERTa matches 32 and VADER 17. One annotator and a small sample limit the comparison. Source: README.md and EVALUATION_REPORT.md.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User-supplied screenshot of the collection overview, captured 15 October 2026. It shows 2,533 unique comments, 2,530 analysed comments, three unclassified comments and a score of -37.3. Counts include comments already available when collection started. The three unclassified records are one empty comment and two detected non-English comments in the verified snapshot. Predictions: 306 positive, 975 neutral, 1,249 negative. Percentages use 2,530 classified comments. Source: README.md, verified dataset snapshot and supplied image codex-clipboard-d1bf08d6-356e-4b30-a21b-f6621b248f60.png.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supplied screenshot shows a filtered dashboard selection, rather than the complete dataset. The screenshot header is cropped while keeping the complete plotted values, axes and distribution. The total dataset figures remain on the preceding slide. Hourly percentages use publication times. Small groups can produce sharp percentage swings. Source: supplied dashboard screenshot and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Sixty real comments were annotated. Nine were not relevant and excluded, leaving 51 relevant comments, including 26 Negative, 17 Neutral and eight Positive. Both models were compared against the same human labels. RoBERTa matched 32/51 and VADER matched 17/51. The percentage chart shows agreement on this sample, not population-level verified accuracy. VADER version 3.3.2 uses compound thresholds of +/-0.05. Source: EVALUATION_REPORT.md and data/manual_labels.csv.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three examples are real comments, discussed by the human annotator. The model predicted Positive in each case. Human labels are Neutral for the sarcastic technology statement and Negative for the water-hose and smart-car comments. The hose explanation is that approval of damaging a vehicle expresses opposition to it. The smart-car comment mocks the vehicle. These examples illustrate target and contextual errors, rather than proof that every use of these words will fail. Source: EVALUATION_REPORT.md and data/failure_explanations.json.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selected videos and self-selected commenters are not a representative population sample. One person can contribute multiple comments. The collector covers top-level comments only and limits pagination. An English Twitter-trained model can fail on YouTube sarcasm, mixed languages or off-topic discussion. The collector does not store author-profile fields, but text and traceable IDs can contain personal information, so the dataset is not fully anonymous. Original inputs remain separate from predictions; failed refreshes retain a complete snapshot with a warning. Model caching reduces download costs, but full hosted reanalysis repeats inference. Sources: README.md, collector code and model card.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Privacy: text and comment IDs remain traceable and could expose people to unwanted attention if redistributed. Author profiles are omitted and the repository is private; review excerpts for personal details before sharing. Bias: selected videos, self-selection and an English model exclude voices; researchers could mistake this sample for population opinion. Disclose limits, restrict conclusions and propose broader sampling. Misclassification: sarcasm and target attitudes can reverse interpretation and mislead analysts; source inspection and genuine human labels provide current checks, while independent annotation is proposed. Computation: repeated full hosted inference consumes extra resources; weight caching is implemented, incremental prediction reuse remains proposed. Sources: README.md and EVALUATION_REPORT.md. No anonymisation, representative sampling or measured energy savings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walkthrough: open localhost:3101 and show totals plus synchronization status. Select a date range and chart point; inspect the corresponding comments and a source-video link. Open /evaluation to compare the models with human annotations and explain an error. A refresh retrieves completed data; it does not start collection. These are demonstration instructions, not a claim that a recording is included. Sources: README.md and the implemented dashboard.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Rows are human labels and columns are model predictions. Order: Negative, Neutral, Positive. RoBERTa matrix [[18,6,2],[5,11,1],[3,2,3]]. VADER matrix [[13,3,10],[7,3,7],[3,4,1]]. Both matrices total 51 comments. Correct matches are the diagonal: 32 for RoBERTa and 17 for VADER. Source: EVALUATION_REPORT.md.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A26E10C-0374-423E-885C-591063FC766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EBC45CA9-FCE4-43F2-95FE-359BA298518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15EEF5B-9CBA-4DE9-AFE6-C56ACB60B72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181855E-D10F-4B55-8C50-73E01BD528A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AC9C765B-734A-4FF5-A315-398905DB3F5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1DAB433-C303-4A46-BE71-1AACD201489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0D570F5B-C29E-4E00-B56D-9E35573BAB5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C8C8F064-D37C-4B2B-B772-F46F0EEF735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32074D6-E11A-4DB8-B8DB-2212BC29382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D3AFC1AE-0B7B-469B-8B4D-F55C2764384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localhost:3101/"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820DF28A-F49B-49CA-8B6F-2E3F2340C5EC}"/>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01</a:t>
            </a:r>
          </a:p>
        </p:txBody>
      </p:sp>
      <p:sp>
        <p:nvSpPr>
          <p:cNvPr id="2" name="Rechthoek 1">
            <a:extLst>
              <a:ext uri="{FF2B5EF4-FFF2-40B4-BE49-F238E27FC236}">
                <a16:creationId xmlns:a16="http://schemas.microsoft.com/office/drawing/2014/main" id="{A0951A5C-228C-4334-A475-B09AA887CF6D}"/>
              </a:ext>
            </a:extLst>
          </p:cNvPr>
          <p:cNvSpPr>
            <a:spLocks noGrp="1"/>
          </p:cNvSpPr>
          <p:nvPr/>
        </p:nvSpPr>
        <p:spPr>
          <a:xfrm>
            <a:off x="609600" y="666750"/>
            <a:ext cx="9525000" cy="381000"/>
          </a:xfrm>
          <a:prstGeom prst="rect">
            <a:avLst/>
          </a:prstGeom>
          <a:noFill/>
          <a:ln w="0">
            <a:noFill/>
          </a:ln>
        </p:spPr>
        <p:txBody>
          <a:bodyPr wrap="square" lIns="0" tIns="0" rIns="0" bIns="0" anchor="t">
            <a:noAutofit/>
          </a:bodyPr>
          <a:lstStyle>
            <a:defPPr>
              <a:defRPr sz="1650" b="1">
                <a:solidFill>
                  <a:srgbClr val="68D7BA"/>
                </a:solidFill>
                <a:latin typeface="Arial"/>
                <a:ea typeface="Arial"/>
                <a:cs typeface="Arial"/>
              </a:defRPr>
            </a:defPPr>
          </a:lstStyle>
          <a:p>
            <a:pPr>
              <a:buNone/>
              <a:defRPr sz="1650" b="1">
                <a:solidFill>
                  <a:srgbClr val="68D7BA"/>
                </a:solidFill>
                <a:latin typeface="Arial"/>
                <a:ea typeface="Arial"/>
                <a:cs typeface="Arial"/>
              </a:defRPr>
            </a:pPr>
            <a:r>
              <a:rPr sz="1650" b="1">
                <a:solidFill>
                  <a:srgbClr val="68D7BA"/>
                </a:solidFill>
                <a:latin typeface="Arial"/>
                <a:ea typeface="Arial"/>
                <a:cs typeface="Arial"/>
              </a:rPr>
              <a:t>AUTONOMOUS MOBILITY RESEARCH</a:t>
            </a:r>
          </a:p>
        </p:txBody>
      </p:sp>
      <p:sp>
        <p:nvSpPr>
          <p:cNvPr id="3" name="Rechthoek 2">
            <a:extLst>
              <a:ext uri="{FF2B5EF4-FFF2-40B4-BE49-F238E27FC236}">
                <a16:creationId xmlns:a16="http://schemas.microsoft.com/office/drawing/2014/main" id="{89A09E7C-DECC-4F56-9A06-0AF02B357CEE}"/>
              </a:ext>
            </a:extLst>
          </p:cNvPr>
          <p:cNvSpPr>
            <a:spLocks noGrp="1"/>
          </p:cNvSpPr>
          <p:nvPr/>
        </p:nvSpPr>
        <p:spPr>
          <a:xfrm>
            <a:off x="609600" y="1847850"/>
            <a:ext cx="10953750" cy="2095500"/>
          </a:xfrm>
          <a:prstGeom prst="rect">
            <a:avLst/>
          </a:prstGeom>
          <a:noFill/>
          <a:ln w="0">
            <a:noFill/>
          </a:ln>
        </p:spPr>
        <p:txBody>
          <a:bodyPr wrap="square" lIns="0" tIns="0" rIns="0" bIns="0" anchor="t">
            <a:noAutofit/>
          </a:bodyPr>
          <a:lstStyle>
            <a:defPPr>
              <a:defRPr sz="5700" b="1">
                <a:solidFill>
                  <a:srgbClr val="F3F6FB"/>
                </a:solidFill>
                <a:latin typeface="Arial"/>
                <a:ea typeface="Arial"/>
                <a:cs typeface="Arial"/>
              </a:defRPr>
            </a:defPPr>
          </a:lstStyle>
          <a:p>
            <a:pPr>
              <a:buNone/>
              <a:defRPr sz="5700" b="1">
                <a:solidFill>
                  <a:srgbClr val="F3F6FB"/>
                </a:solidFill>
                <a:latin typeface="Arial"/>
                <a:ea typeface="Arial"/>
                <a:cs typeface="Arial"/>
              </a:defRPr>
            </a:pPr>
            <a:r>
              <a:rPr sz="5700" b="1">
                <a:solidFill>
                  <a:srgbClr val="F3F6FB"/>
                </a:solidFill>
                <a:latin typeface="Arial"/>
                <a:ea typeface="Arial"/>
                <a:cs typeface="Arial"/>
              </a:rPr>
              <a:t>Autonomous Driving</a:t>
            </a:r>
          </a:p>
          <a:p>
            <a:pPr>
              <a:buNone/>
              <a:defRPr sz="5700" b="1">
                <a:solidFill>
                  <a:srgbClr val="F3F6FB"/>
                </a:solidFill>
                <a:latin typeface="Arial"/>
                <a:ea typeface="Arial"/>
                <a:cs typeface="Arial"/>
              </a:defRPr>
            </a:pPr>
            <a:r>
              <a:rPr sz="5700" b="1">
                <a:solidFill>
                  <a:srgbClr val="F3F6FB"/>
                </a:solidFill>
                <a:latin typeface="Arial"/>
                <a:ea typeface="Arial"/>
                <a:cs typeface="Arial"/>
              </a:rPr>
              <a:t>Sentiment Monitor</a:t>
            </a:r>
          </a:p>
        </p:txBody>
      </p:sp>
      <p:sp>
        <p:nvSpPr>
          <p:cNvPr id="4" name="Rechthoek 3">
            <a:extLst>
              <a:ext uri="{FF2B5EF4-FFF2-40B4-BE49-F238E27FC236}">
                <a16:creationId xmlns:a16="http://schemas.microsoft.com/office/drawing/2014/main" id="{6848C299-ACFE-4566-94AC-81D299D2E8A6}"/>
              </a:ext>
            </a:extLst>
          </p:cNvPr>
          <p:cNvSpPr>
            <a:spLocks noGrp="1"/>
          </p:cNvSpPr>
          <p:nvPr/>
        </p:nvSpPr>
        <p:spPr>
          <a:xfrm>
            <a:off x="647700" y="4333875"/>
            <a:ext cx="10382250" cy="685800"/>
          </a:xfrm>
          <a:prstGeom prst="rect">
            <a:avLst/>
          </a:prstGeom>
          <a:noFill/>
          <a:ln w="0">
            <a:noFill/>
          </a:ln>
        </p:spPr>
        <p:txBody>
          <a:bodyPr wrap="square" lIns="0" tIns="0" rIns="0" bIns="0" anchor="t">
            <a:noAutofit/>
          </a:bodyPr>
          <a:lstStyle>
            <a:defPPr>
              <a:defRPr sz="2400" b="0">
                <a:solidFill>
                  <a:srgbClr val="AABBD0"/>
                </a:solidFill>
                <a:latin typeface="Arial"/>
                <a:ea typeface="Arial"/>
                <a:cs typeface="Arial"/>
              </a:defRPr>
            </a:defPPr>
          </a:lstStyle>
          <a:p>
            <a:pPr>
              <a:buNone/>
              <a:defRPr sz="2400" b="0">
                <a:solidFill>
                  <a:srgbClr val="AABBD0"/>
                </a:solidFill>
                <a:latin typeface="Arial"/>
                <a:ea typeface="Arial"/>
                <a:cs typeface="Arial"/>
              </a:defRPr>
            </a:pPr>
            <a:r>
              <a:rPr sz="2400" b="0">
                <a:solidFill>
                  <a:srgbClr val="AABBD0"/>
                </a:solidFill>
                <a:latin typeface="Arial"/>
                <a:ea typeface="Arial"/>
                <a:cs typeface="Arial"/>
              </a:rPr>
              <a:t>Exploring YouTube discussion with sentiment analysis</a:t>
            </a:r>
          </a:p>
        </p:txBody>
      </p:sp>
      <p:sp>
        <p:nvSpPr>
          <p:cNvPr id="5" name="Rechthoek 4">
            <a:extLst>
              <a:ext uri="{FF2B5EF4-FFF2-40B4-BE49-F238E27FC236}">
                <a16:creationId xmlns:a16="http://schemas.microsoft.com/office/drawing/2014/main" id="{4E0CA0C4-1679-40AD-B5DB-76D4444B843C}"/>
              </a:ext>
            </a:extLst>
          </p:cNvPr>
          <p:cNvSpPr>
            <a:spLocks noGrp="1"/>
          </p:cNvSpPr>
          <p:nvPr/>
        </p:nvSpPr>
        <p:spPr>
          <a:xfrm>
            <a:off x="647700" y="5562600"/>
            <a:ext cx="6667500" cy="619125"/>
          </a:xfrm>
          <a:prstGeom prst="rect">
            <a:avLst/>
          </a:prstGeom>
          <a:noFill/>
          <a:ln w="0">
            <a:noFill/>
          </a:ln>
        </p:spPr>
        <p:txBody>
          <a:bodyPr wrap="square" lIns="0" tIns="0" rIns="0" bIns="0" anchor="t">
            <a:noAutofit/>
          </a:bodyPr>
          <a:lstStyle>
            <a:defPPr>
              <a:defRPr sz="1800" b="0">
                <a:solidFill>
                  <a:srgbClr val="AABBD0"/>
                </a:solidFill>
                <a:latin typeface="Arial"/>
                <a:ea typeface="Arial"/>
                <a:cs typeface="Arial"/>
              </a:defRPr>
            </a:defPPr>
          </a:lstStyle>
          <a:p>
            <a:pPr>
              <a:buNone/>
              <a:defRPr sz="1800" b="0">
                <a:solidFill>
                  <a:srgbClr val="AABBD0"/>
                </a:solidFill>
                <a:latin typeface="Arial"/>
                <a:ea typeface="Arial"/>
                <a:cs typeface="Arial"/>
              </a:defRPr>
            </a:pPr>
            <a:r>
              <a:rPr sz="1800" b="0">
                <a:solidFill>
                  <a:srgbClr val="AABBD0"/>
                </a:solidFill>
                <a:latin typeface="Arial"/>
                <a:ea typeface="Arial"/>
                <a:cs typeface="Arial"/>
              </a:rPr>
              <a:t>Luuk </a:t>
            </a:r>
            <a:r>
              <a:rPr>
                <a:solidFill>
                  <a:srgbClr val="AABBD0"/>
                </a:solidFill>
                <a:latin typeface="Arial"/>
                <a:ea typeface="Arial"/>
                <a:cs typeface="Arial"/>
              </a:rPr>
              <a:t>&amp; Nina</a:t>
            </a:r>
            <a:endParaRPr sz="1800" b="0">
              <a:solidFill>
                <a:srgbClr val="AABBD0"/>
              </a:solidFill>
              <a:latin typeface="Arial"/>
              <a:ea typeface="Arial"/>
              <a:cs typeface="Arial"/>
            </a:endParaRPr>
          </a:p>
          <a:p>
            <a:pPr>
              <a:buNone/>
              <a:defRPr sz="1800" b="0">
                <a:solidFill>
                  <a:srgbClr val="AABBD0"/>
                </a:solidFill>
                <a:latin typeface="Arial"/>
                <a:ea typeface="Arial"/>
                <a:cs typeface="Arial"/>
              </a:defRPr>
            </a:pPr>
            <a:r>
              <a:rPr sz="1800" b="0" dirty="0">
                <a:solidFill>
                  <a:srgbClr val="AABBD0"/>
                </a:solidFill>
                <a:latin typeface="Arial"/>
                <a:ea typeface="Arial"/>
                <a:cs typeface="Arial"/>
              </a:rPr>
              <a:t>15 October 2026</a:t>
            </a:r>
          </a:p>
        </p:txBody>
      </p:sp>
    </p:spTree>
    <p:extLst>
      <p:ext uri="{BB962C8B-B14F-4D97-AF65-F5344CB8AC3E}">
        <p14:creationId xmlns:p14="http://schemas.microsoft.com/office/powerpoint/2010/main" val="1810434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B4ED6CF4-F50E-4FC5-8551-82F6745566D5}"/>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Research question and purpose</a:t>
            </a:r>
          </a:p>
        </p:txBody>
      </p:sp>
      <p:sp>
        <p:nvSpPr>
          <p:cNvPr id="2" name="Rechthoek 1">
            <a:extLst>
              <a:ext uri="{FF2B5EF4-FFF2-40B4-BE49-F238E27FC236}">
                <a16:creationId xmlns:a16="http://schemas.microsoft.com/office/drawing/2014/main" id="{B143B442-C8B3-4C93-BF07-07DFD8FB795B}"/>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02</a:t>
            </a:r>
          </a:p>
        </p:txBody>
      </p:sp>
      <p:sp>
        <p:nvSpPr>
          <p:cNvPr id="3" name="Rechthoek 2">
            <a:extLst>
              <a:ext uri="{FF2B5EF4-FFF2-40B4-BE49-F238E27FC236}">
                <a16:creationId xmlns:a16="http://schemas.microsoft.com/office/drawing/2014/main" id="{2B0E1671-2381-46A7-BC7B-0DA76B54E039}"/>
              </a:ext>
            </a:extLst>
          </p:cNvPr>
          <p:cNvSpPr>
            <a:spLocks noGrp="1"/>
          </p:cNvSpPr>
          <p:nvPr/>
        </p:nvSpPr>
        <p:spPr>
          <a:xfrm>
            <a:off x="609600" y="1600200"/>
            <a:ext cx="10972800" cy="1066800"/>
          </a:xfrm>
          <a:prstGeom prst="rect">
            <a:avLst/>
          </a:prstGeom>
          <a:noFill/>
          <a:ln w="0">
            <a:noFill/>
          </a:ln>
        </p:spPr>
        <p:txBody>
          <a:bodyPr wrap="square" lIns="0" tIns="0" rIns="0" bIns="0" anchor="t">
            <a:noAutofit/>
          </a:bodyPr>
          <a:lstStyle>
            <a:defPPr>
              <a:defRPr sz="2775" b="1">
                <a:solidFill>
                  <a:srgbClr val="F3F6FB"/>
                </a:solidFill>
                <a:latin typeface="Arial"/>
                <a:ea typeface="Arial"/>
                <a:cs typeface="Arial"/>
              </a:defRPr>
            </a:defPPr>
          </a:lstStyle>
          <a:p>
            <a:pPr>
              <a:buNone/>
              <a:defRPr sz="2775" b="1">
                <a:solidFill>
                  <a:srgbClr val="F3F6FB"/>
                </a:solidFill>
                <a:latin typeface="Arial"/>
                <a:ea typeface="Arial"/>
                <a:cs typeface="Arial"/>
              </a:defRPr>
            </a:pPr>
            <a:r>
              <a:rPr sz="2775" b="1">
                <a:solidFill>
                  <a:srgbClr val="F3F6FB"/>
                </a:solidFill>
                <a:latin typeface="Arial"/>
                <a:ea typeface="Arial"/>
                <a:cs typeface="Arial"/>
              </a:rPr>
              <a:t>How does sentiment toward self-driving cars change</a:t>
            </a:r>
          </a:p>
          <a:p>
            <a:pPr>
              <a:buNone/>
              <a:defRPr sz="2775" b="1">
                <a:solidFill>
                  <a:srgbClr val="F3F6FB"/>
                </a:solidFill>
                <a:latin typeface="Arial"/>
                <a:ea typeface="Arial"/>
                <a:cs typeface="Arial"/>
              </a:defRPr>
            </a:pPr>
            <a:r>
              <a:rPr sz="2775" b="1">
                <a:solidFill>
                  <a:srgbClr val="F3F6FB"/>
                </a:solidFill>
                <a:latin typeface="Arial"/>
                <a:ea typeface="Arial"/>
                <a:cs typeface="Arial"/>
              </a:rPr>
              <a:t>in the selected YouTube discussions?</a:t>
            </a:r>
          </a:p>
        </p:txBody>
      </p:sp>
      <p:sp>
        <p:nvSpPr>
          <p:cNvPr id="4" name="Rechthoek 3">
            <a:extLst>
              <a:ext uri="{FF2B5EF4-FFF2-40B4-BE49-F238E27FC236}">
                <a16:creationId xmlns:a16="http://schemas.microsoft.com/office/drawing/2014/main" id="{ABFFBBD3-8B62-46BD-9E8A-CC690341A996}"/>
              </a:ext>
            </a:extLst>
          </p:cNvPr>
          <p:cNvSpPr>
            <a:spLocks noGrp="1"/>
          </p:cNvSpPr>
          <p:nvPr/>
        </p:nvSpPr>
        <p:spPr>
          <a:xfrm>
            <a:off x="609600" y="3028950"/>
            <a:ext cx="10972800" cy="952500"/>
          </a:xfrm>
          <a:prstGeom prst="rect">
            <a:avLst/>
          </a:prstGeom>
          <a:noFill/>
          <a:ln w="0">
            <a:noFill/>
          </a:ln>
        </p:spPr>
        <p:txBody>
          <a:bodyPr wrap="square" lIns="0" tIns="0" rIns="0" bIns="0" anchor="t">
            <a:noAutofit/>
          </a:bodyPr>
          <a:lstStyle>
            <a:defPPr>
              <a:defRPr sz="2025" b="0">
                <a:solidFill>
                  <a:srgbClr val="F3F6FB"/>
                </a:solidFill>
                <a:latin typeface="Arial"/>
                <a:ea typeface="Arial"/>
                <a:cs typeface="Arial"/>
              </a:defRPr>
            </a:defPPr>
          </a:lstStyle>
          <a:p>
            <a:pPr>
              <a:buNone/>
              <a:defRPr sz="2025" b="0">
                <a:solidFill>
                  <a:srgbClr val="F3F6FB"/>
                </a:solidFill>
                <a:latin typeface="Arial"/>
                <a:ea typeface="Arial"/>
                <a:cs typeface="Arial"/>
              </a:defRPr>
            </a:pPr>
            <a:r>
              <a:rPr sz="2025" b="0">
                <a:solidFill>
                  <a:srgbClr val="F3F6FB"/>
                </a:solidFill>
                <a:latin typeface="Arial"/>
                <a:ea typeface="Arial"/>
                <a:cs typeface="Arial"/>
              </a:rPr>
              <a:t>Observed problem: approval of damage to a vehicle was labelled Positive,</a:t>
            </a:r>
          </a:p>
          <a:p>
            <a:pPr>
              <a:buNone/>
              <a:defRPr sz="2025" b="0">
                <a:solidFill>
                  <a:srgbClr val="F3F6FB"/>
                </a:solidFill>
                <a:latin typeface="Arial"/>
                <a:ea typeface="Arial"/>
                <a:cs typeface="Arial"/>
              </a:defRPr>
            </a:pPr>
            <a:r>
              <a:rPr sz="2025" b="0">
                <a:solidFill>
                  <a:srgbClr val="F3F6FB"/>
                </a:solidFill>
                <a:latin typeface="Arial"/>
                <a:ea typeface="Arial"/>
                <a:cs typeface="Arial"/>
              </a:rPr>
              <a:t>while the human annotator judged its attitude to autonomous driving Negative.</a:t>
            </a:r>
          </a:p>
        </p:txBody>
      </p:sp>
      <p:sp>
        <p:nvSpPr>
          <p:cNvPr id="5" name="Rechthoek 4">
            <a:extLst>
              <a:ext uri="{FF2B5EF4-FFF2-40B4-BE49-F238E27FC236}">
                <a16:creationId xmlns:a16="http://schemas.microsoft.com/office/drawing/2014/main" id="{80D820EC-E144-4396-9F05-927C2874C981}"/>
              </a:ext>
            </a:extLst>
          </p:cNvPr>
          <p:cNvSpPr>
            <a:spLocks noGrp="1"/>
          </p:cNvSpPr>
          <p:nvPr/>
        </p:nvSpPr>
        <p:spPr>
          <a:xfrm>
            <a:off x="609600" y="4648200"/>
            <a:ext cx="10972800" cy="95250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buNone/>
              <a:defRPr sz="2100" b="0">
                <a:solidFill>
                  <a:srgbClr val="F3F6FB"/>
                </a:solidFill>
                <a:latin typeface="Arial"/>
                <a:ea typeface="Arial"/>
                <a:cs typeface="Arial"/>
              </a:defRPr>
            </a:pPr>
            <a:r>
              <a:rPr sz="2100" b="0">
                <a:solidFill>
                  <a:srgbClr val="F3F6FB"/>
                </a:solidFill>
                <a:latin typeface="Arial"/>
                <a:ea typeface="Arial"/>
                <a:cs typeface="Arial"/>
              </a:rPr>
              <a:t>SDG 9: examining concerns about transport innovation</a:t>
            </a:r>
          </a:p>
          <a:p>
            <a:pPr>
              <a:buNone/>
              <a:defRPr sz="2100" b="0">
                <a:solidFill>
                  <a:srgbClr val="F3F6FB"/>
                </a:solidFill>
                <a:latin typeface="Arial"/>
                <a:ea typeface="Arial"/>
                <a:cs typeface="Arial"/>
              </a:defRPr>
            </a:pPr>
            <a:r>
              <a:rPr sz="2100" b="0">
                <a:solidFill>
                  <a:srgbClr val="F3F6FB"/>
                </a:solidFill>
                <a:latin typeface="Arial"/>
                <a:ea typeface="Arial"/>
                <a:cs typeface="Arial"/>
              </a:rPr>
              <a:t>Researchers need traceable evidence before interpreting apparent acceptance.</a:t>
            </a:r>
          </a:p>
        </p:txBody>
      </p:sp>
      <p:sp>
        <p:nvSpPr>
          <p:cNvPr id="7" name="Rechthoek 6">
            <a:extLst>
              <a:ext uri="{FF2B5EF4-FFF2-40B4-BE49-F238E27FC236}">
                <a16:creationId xmlns:a16="http://schemas.microsoft.com/office/drawing/2014/main" id="{CBE7F99C-99F8-4883-A70E-BA30855B0ABC}"/>
              </a:ext>
            </a:extLst>
          </p:cNvPr>
          <p:cNvSpPr>
            <a:spLocks noGrp="1"/>
          </p:cNvSpPr>
          <p:nvPr/>
        </p:nvSpPr>
        <p:spPr>
          <a:xfrm>
            <a:off x="609600" y="5915025"/>
            <a:ext cx="10972800" cy="419100"/>
          </a:xfrm>
          <a:prstGeom prst="rect">
            <a:avLst/>
          </a:prstGeom>
          <a:noFill/>
          <a:ln w="0">
            <a:noFill/>
          </a:ln>
        </p:spPr>
        <p:txBody>
          <a:bodyPr wrap="square" lIns="0" tIns="0" rIns="0" bIns="0" anchor="t">
            <a:noAutofit/>
          </a:bodyPr>
          <a:lstStyle>
            <a:defPPr>
              <a:defRPr sz="1650" b="0">
                <a:solidFill>
                  <a:srgbClr val="AABBD0"/>
                </a:solidFill>
                <a:latin typeface="Arial"/>
                <a:ea typeface="Arial"/>
                <a:cs typeface="Arial"/>
              </a:defRPr>
            </a:defPPr>
          </a:lstStyle>
          <a:p>
            <a:pPr>
              <a:defRPr sz="1650" b="0">
                <a:solidFill>
                  <a:srgbClr val="AABBD0"/>
                </a:solidFill>
                <a:latin typeface="Arial"/>
                <a:ea typeface="Arial"/>
                <a:cs typeface="Arial"/>
              </a:defRPr>
            </a:pPr>
            <a:r>
              <a:rPr sz="1650" b="0">
                <a:solidFill>
                  <a:srgbClr val="AABBD0"/>
                </a:solidFill>
                <a:latin typeface="Arial"/>
                <a:ea typeface="Arial"/>
                <a:cs typeface="Arial"/>
              </a:rPr>
              <a:t>The example comes from this project’s human evaluation; user interviews have not taken place.</a:t>
            </a:r>
          </a:p>
        </p:txBody>
      </p:sp>
    </p:spTree>
    <p:extLst>
      <p:ext uri="{BB962C8B-B14F-4D97-AF65-F5344CB8AC3E}">
        <p14:creationId xmlns:p14="http://schemas.microsoft.com/office/powerpoint/2010/main" val="1694455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8F7FB1B3-DB10-4469-8B1C-A46F694E101A}"/>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User group and intended use</a:t>
            </a:r>
          </a:p>
        </p:txBody>
      </p:sp>
      <p:sp>
        <p:nvSpPr>
          <p:cNvPr id="2" name="Rechthoek 1">
            <a:extLst>
              <a:ext uri="{FF2B5EF4-FFF2-40B4-BE49-F238E27FC236}">
                <a16:creationId xmlns:a16="http://schemas.microsoft.com/office/drawing/2014/main" id="{3FDA47F9-D98C-4BDE-8BFA-DA1460D75432}"/>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03</a:t>
            </a:r>
          </a:p>
        </p:txBody>
      </p:sp>
      <p:sp>
        <p:nvSpPr>
          <p:cNvPr id="3" name="Rechthoek 2">
            <a:extLst>
              <a:ext uri="{FF2B5EF4-FFF2-40B4-BE49-F238E27FC236}">
                <a16:creationId xmlns:a16="http://schemas.microsoft.com/office/drawing/2014/main" id="{048668A8-E193-439C-A7B3-0E529C64A9B7}"/>
              </a:ext>
            </a:extLst>
          </p:cNvPr>
          <p:cNvSpPr>
            <a:spLocks noGrp="1"/>
          </p:cNvSpPr>
          <p:nvPr/>
        </p:nvSpPr>
        <p:spPr>
          <a:xfrm>
            <a:off x="609600" y="1628775"/>
            <a:ext cx="4953000" cy="428625"/>
          </a:xfrm>
          <a:prstGeom prst="rect">
            <a:avLst/>
          </a:prstGeom>
          <a:noFill/>
          <a:ln w="0">
            <a:noFill/>
          </a:ln>
        </p:spPr>
        <p:txBody>
          <a:bodyPr wrap="square" lIns="0" tIns="0" rIns="0" bIns="0" anchor="t">
            <a:noAutofit/>
          </a:bodyPr>
          <a:lstStyle>
            <a:defPPr>
              <a:defRPr sz="2250" b="1">
                <a:solidFill>
                  <a:srgbClr val="68D7BA"/>
                </a:solidFill>
                <a:latin typeface="Arial"/>
                <a:ea typeface="Arial"/>
                <a:cs typeface="Arial"/>
              </a:defRPr>
            </a:defPPr>
          </a:lstStyle>
          <a:p>
            <a:pPr>
              <a:buNone/>
              <a:defRPr sz="2250" b="1">
                <a:solidFill>
                  <a:srgbClr val="68D7BA"/>
                </a:solidFill>
                <a:latin typeface="Arial"/>
                <a:ea typeface="Arial"/>
                <a:cs typeface="Arial"/>
              </a:defRPr>
            </a:pPr>
            <a:r>
              <a:rPr sz="2250" b="1">
                <a:solidFill>
                  <a:srgbClr val="68D7BA"/>
                </a:solidFill>
                <a:latin typeface="Arial"/>
                <a:ea typeface="Arial"/>
                <a:cs typeface="Arial"/>
              </a:rPr>
              <a:t>Designed for</a:t>
            </a:r>
          </a:p>
        </p:txBody>
      </p:sp>
      <p:sp>
        <p:nvSpPr>
          <p:cNvPr id="4" name="Rechthoek 3">
            <a:extLst>
              <a:ext uri="{FF2B5EF4-FFF2-40B4-BE49-F238E27FC236}">
                <a16:creationId xmlns:a16="http://schemas.microsoft.com/office/drawing/2014/main" id="{B612E431-6F87-4BA2-984E-AD87DFB87A7A}"/>
              </a:ext>
            </a:extLst>
          </p:cNvPr>
          <p:cNvSpPr>
            <a:spLocks noGrp="1"/>
          </p:cNvSpPr>
          <p:nvPr/>
        </p:nvSpPr>
        <p:spPr>
          <a:xfrm>
            <a:off x="609600" y="2305050"/>
            <a:ext cx="5095875" cy="990600"/>
          </a:xfrm>
          <a:prstGeom prst="rect">
            <a:avLst/>
          </a:prstGeom>
          <a:noFill/>
          <a:ln w="0">
            <a:noFill/>
          </a:ln>
        </p:spPr>
        <p:txBody>
          <a:bodyPr wrap="square" lIns="0" tIns="0" rIns="0" bIns="0" anchor="t">
            <a:noAutofit/>
          </a:bodyPr>
          <a:lstStyle>
            <a:defPPr>
              <a:defRPr sz="1950" b="0">
                <a:solidFill>
                  <a:srgbClr val="F3F6FB"/>
                </a:solidFill>
                <a:latin typeface="Arial"/>
                <a:ea typeface="Arial"/>
                <a:cs typeface="Arial"/>
              </a:defRPr>
            </a:defPPr>
          </a:lstStyle>
          <a:p>
            <a:pPr>
              <a:buNone/>
              <a:defRPr sz="1950" b="0">
                <a:solidFill>
                  <a:srgbClr val="F3F6FB"/>
                </a:solidFill>
                <a:latin typeface="Arial"/>
                <a:ea typeface="Arial"/>
                <a:cs typeface="Arial"/>
              </a:defRPr>
            </a:pPr>
            <a:r>
              <a:rPr sz="1950" b="0">
                <a:solidFill>
                  <a:srgbClr val="F3F6FB"/>
                </a:solidFill>
                <a:latin typeface="Arial"/>
                <a:ea typeface="Arial"/>
                <a:cs typeface="Arial"/>
              </a:rPr>
              <a:t>Mobility researchers</a:t>
            </a:r>
          </a:p>
          <a:p>
            <a:pPr>
              <a:buNone/>
              <a:defRPr sz="1950" b="0">
                <a:solidFill>
                  <a:srgbClr val="F3F6FB"/>
                </a:solidFill>
                <a:latin typeface="Arial"/>
                <a:ea typeface="Arial"/>
                <a:cs typeface="Arial"/>
              </a:defRPr>
            </a:pPr>
            <a:r>
              <a:rPr sz="1950" b="0">
                <a:solidFill>
                  <a:srgbClr val="F3F6FB"/>
                </a:solidFill>
                <a:latin typeface="Arial"/>
                <a:ea typeface="Arial"/>
                <a:cs typeface="Arial"/>
              </a:rPr>
              <a:t>Explore attitudes and emerging concerns.</a:t>
            </a:r>
          </a:p>
        </p:txBody>
      </p:sp>
      <p:sp>
        <p:nvSpPr>
          <p:cNvPr id="5" name="Rechthoek 4">
            <a:extLst>
              <a:ext uri="{FF2B5EF4-FFF2-40B4-BE49-F238E27FC236}">
                <a16:creationId xmlns:a16="http://schemas.microsoft.com/office/drawing/2014/main" id="{08D8CB70-2BAE-4780-AAE0-03BEE483EEFD}"/>
              </a:ext>
            </a:extLst>
          </p:cNvPr>
          <p:cNvSpPr>
            <a:spLocks noGrp="1"/>
          </p:cNvSpPr>
          <p:nvPr/>
        </p:nvSpPr>
        <p:spPr>
          <a:xfrm>
            <a:off x="609600" y="3409950"/>
            <a:ext cx="5095875" cy="990600"/>
          </a:xfrm>
          <a:prstGeom prst="rect">
            <a:avLst/>
          </a:prstGeom>
          <a:noFill/>
          <a:ln w="0">
            <a:noFill/>
          </a:ln>
        </p:spPr>
        <p:txBody>
          <a:bodyPr wrap="square" lIns="0" tIns="0" rIns="0" bIns="0" anchor="t">
            <a:noAutofit/>
          </a:bodyPr>
          <a:lstStyle>
            <a:defPPr>
              <a:defRPr sz="1950" b="0">
                <a:solidFill>
                  <a:srgbClr val="F3F6FB"/>
                </a:solidFill>
                <a:latin typeface="Arial"/>
                <a:ea typeface="Arial"/>
                <a:cs typeface="Arial"/>
              </a:defRPr>
            </a:defPPr>
          </a:lstStyle>
          <a:p>
            <a:pPr>
              <a:buNone/>
              <a:defRPr sz="1950" b="0">
                <a:solidFill>
                  <a:srgbClr val="F3F6FB"/>
                </a:solidFill>
                <a:latin typeface="Arial"/>
                <a:ea typeface="Arial"/>
                <a:cs typeface="Arial"/>
              </a:defRPr>
            </a:pPr>
            <a:r>
              <a:rPr sz="1950" b="0">
                <a:solidFill>
                  <a:srgbClr val="F3F6FB"/>
                </a:solidFill>
                <a:latin typeface="Arial"/>
                <a:ea typeface="Arial"/>
                <a:cs typeface="Arial"/>
              </a:rPr>
              <a:t>Transport-policy analysts</a:t>
            </a:r>
          </a:p>
          <a:p>
            <a:pPr>
              <a:buNone/>
              <a:defRPr sz="1950" b="0">
                <a:solidFill>
                  <a:srgbClr val="F3F6FB"/>
                </a:solidFill>
                <a:latin typeface="Arial"/>
                <a:ea typeface="Arial"/>
                <a:cs typeface="Arial"/>
              </a:defRPr>
            </a:pPr>
            <a:r>
              <a:rPr sz="1950" b="0">
                <a:solidFill>
                  <a:srgbClr val="F3F6FB"/>
                </a:solidFill>
                <a:latin typeface="Arial"/>
                <a:ea typeface="Arial"/>
                <a:cs typeface="Arial"/>
              </a:rPr>
              <a:t>Inspect evidence behind a trend.</a:t>
            </a:r>
          </a:p>
        </p:txBody>
      </p:sp>
      <p:sp>
        <p:nvSpPr>
          <p:cNvPr id="6" name="Rechthoek 5">
            <a:extLst>
              <a:ext uri="{FF2B5EF4-FFF2-40B4-BE49-F238E27FC236}">
                <a16:creationId xmlns:a16="http://schemas.microsoft.com/office/drawing/2014/main" id="{3B3B88D5-8F36-40D8-A16A-D1B17F794629}"/>
              </a:ext>
            </a:extLst>
          </p:cNvPr>
          <p:cNvSpPr>
            <a:spLocks noGrp="1"/>
          </p:cNvSpPr>
          <p:nvPr/>
        </p:nvSpPr>
        <p:spPr>
          <a:xfrm>
            <a:off x="609600" y="4514850"/>
            <a:ext cx="5095875" cy="990600"/>
          </a:xfrm>
          <a:prstGeom prst="rect">
            <a:avLst/>
          </a:prstGeom>
          <a:noFill/>
          <a:ln w="0">
            <a:noFill/>
          </a:ln>
        </p:spPr>
        <p:txBody>
          <a:bodyPr wrap="square" lIns="0" tIns="0" rIns="0" bIns="0" anchor="t">
            <a:noAutofit/>
          </a:bodyPr>
          <a:lstStyle>
            <a:defPPr>
              <a:defRPr sz="1950" b="0">
                <a:solidFill>
                  <a:srgbClr val="F3F6FB"/>
                </a:solidFill>
                <a:latin typeface="Arial"/>
                <a:ea typeface="Arial"/>
                <a:cs typeface="Arial"/>
              </a:defRPr>
            </a:defPPr>
          </a:lstStyle>
          <a:p>
            <a:pPr>
              <a:buNone/>
              <a:defRPr sz="1950" b="0">
                <a:solidFill>
                  <a:srgbClr val="F3F6FB"/>
                </a:solidFill>
                <a:latin typeface="Arial"/>
                <a:ea typeface="Arial"/>
                <a:cs typeface="Arial"/>
              </a:defRPr>
            </a:pPr>
            <a:r>
              <a:rPr sz="1950" b="0">
                <a:solidFill>
                  <a:srgbClr val="F3F6FB"/>
                </a:solidFill>
                <a:latin typeface="Arial"/>
                <a:ea typeface="Arial"/>
                <a:cs typeface="Arial"/>
              </a:rPr>
              <a:t>Autonomous-transport organisations</a:t>
            </a:r>
          </a:p>
          <a:p>
            <a:pPr>
              <a:buNone/>
              <a:defRPr sz="1950" b="0">
                <a:solidFill>
                  <a:srgbClr val="F3F6FB"/>
                </a:solidFill>
                <a:latin typeface="Arial"/>
                <a:ea typeface="Arial"/>
                <a:cs typeface="Arial"/>
              </a:defRPr>
            </a:pPr>
            <a:r>
              <a:rPr sz="1950" b="0">
                <a:solidFill>
                  <a:srgbClr val="F3F6FB"/>
                </a:solidFill>
                <a:latin typeface="Arial"/>
                <a:ea typeface="Arial"/>
                <a:cs typeface="Arial"/>
              </a:rPr>
              <a:t>Review discussion around their technology.</a:t>
            </a:r>
          </a:p>
        </p:txBody>
      </p:sp>
      <p:sp>
        <p:nvSpPr>
          <p:cNvPr id="7" name="Rechthoek 6">
            <a:extLst>
              <a:ext uri="{FF2B5EF4-FFF2-40B4-BE49-F238E27FC236}">
                <a16:creationId xmlns:a16="http://schemas.microsoft.com/office/drawing/2014/main" id="{108428A1-7188-44BD-97D1-260752B46D2C}"/>
              </a:ext>
            </a:extLst>
          </p:cNvPr>
          <p:cNvSpPr>
            <a:spLocks noGrp="1"/>
          </p:cNvSpPr>
          <p:nvPr/>
        </p:nvSpPr>
        <p:spPr>
          <a:xfrm>
            <a:off x="6572250" y="1628775"/>
            <a:ext cx="5010150" cy="428625"/>
          </a:xfrm>
          <a:prstGeom prst="rect">
            <a:avLst/>
          </a:prstGeom>
          <a:noFill/>
          <a:ln w="0">
            <a:noFill/>
          </a:ln>
        </p:spPr>
        <p:txBody>
          <a:bodyPr wrap="square" lIns="0" tIns="0" rIns="0" bIns="0" anchor="t">
            <a:noAutofit/>
          </a:bodyPr>
          <a:lstStyle>
            <a:defPPr>
              <a:defRPr sz="2250" b="1">
                <a:solidFill>
                  <a:srgbClr val="F47E83"/>
                </a:solidFill>
                <a:latin typeface="Arial"/>
                <a:ea typeface="Arial"/>
                <a:cs typeface="Arial"/>
              </a:defRPr>
            </a:defPPr>
          </a:lstStyle>
          <a:p>
            <a:pPr>
              <a:buNone/>
              <a:defRPr sz="2250" b="1">
                <a:solidFill>
                  <a:srgbClr val="F47E83"/>
                </a:solidFill>
                <a:latin typeface="Arial"/>
                <a:ea typeface="Arial"/>
                <a:cs typeface="Arial"/>
              </a:defRPr>
            </a:pPr>
            <a:r>
              <a:rPr sz="2250" b="1">
                <a:solidFill>
                  <a:srgbClr val="F47E83"/>
                </a:solidFill>
                <a:latin typeface="Arial"/>
                <a:ea typeface="Arial"/>
                <a:cs typeface="Arial"/>
              </a:rPr>
              <a:t>Outside the intended use</a:t>
            </a:r>
          </a:p>
        </p:txBody>
      </p:sp>
      <p:sp>
        <p:nvSpPr>
          <p:cNvPr id="8" name="Rechthoek 7">
            <a:extLst>
              <a:ext uri="{FF2B5EF4-FFF2-40B4-BE49-F238E27FC236}">
                <a16:creationId xmlns:a16="http://schemas.microsoft.com/office/drawing/2014/main" id="{ABFE1ADD-3288-4B5F-AC6C-2FCFF4513EC2}"/>
              </a:ext>
            </a:extLst>
          </p:cNvPr>
          <p:cNvSpPr>
            <a:spLocks noGrp="1"/>
          </p:cNvSpPr>
          <p:nvPr/>
        </p:nvSpPr>
        <p:spPr>
          <a:xfrm>
            <a:off x="6572250" y="2305050"/>
            <a:ext cx="5010150" cy="990600"/>
          </a:xfrm>
          <a:prstGeom prst="rect">
            <a:avLst/>
          </a:prstGeom>
          <a:noFill/>
          <a:ln w="0">
            <a:noFill/>
          </a:ln>
        </p:spPr>
        <p:txBody>
          <a:bodyPr wrap="square" lIns="0" tIns="0" rIns="0" bIns="0" anchor="t">
            <a:noAutofit/>
          </a:bodyPr>
          <a:lstStyle>
            <a:defPPr>
              <a:defRPr sz="1950" b="0">
                <a:solidFill>
                  <a:srgbClr val="F3F6FB"/>
                </a:solidFill>
                <a:latin typeface="Arial"/>
                <a:ea typeface="Arial"/>
                <a:cs typeface="Arial"/>
              </a:defRPr>
            </a:defPPr>
          </a:lstStyle>
          <a:p>
            <a:pPr>
              <a:buNone/>
              <a:defRPr sz="1950" b="0">
                <a:solidFill>
                  <a:srgbClr val="F3F6FB"/>
                </a:solidFill>
                <a:latin typeface="Arial"/>
                <a:ea typeface="Arial"/>
                <a:cs typeface="Arial"/>
              </a:defRPr>
            </a:pPr>
            <a:r>
              <a:rPr sz="1950" b="0">
                <a:solidFill>
                  <a:srgbClr val="F3F6FB"/>
                </a:solidFill>
                <a:latin typeface="Arial"/>
                <a:ea typeface="Arial"/>
                <a:cs typeface="Arial"/>
              </a:rPr>
              <a:t>Individual drivers or passengers</a:t>
            </a:r>
          </a:p>
          <a:p>
            <a:pPr>
              <a:buNone/>
              <a:defRPr sz="1950" b="0">
                <a:solidFill>
                  <a:srgbClr val="F3F6FB"/>
                </a:solidFill>
                <a:latin typeface="Arial"/>
                <a:ea typeface="Arial"/>
                <a:cs typeface="Arial"/>
              </a:defRPr>
            </a:pPr>
            <a:r>
              <a:rPr sz="1950" b="0">
                <a:solidFill>
                  <a:srgbClr val="F3F6FB"/>
                </a:solidFill>
                <a:latin typeface="Arial"/>
                <a:ea typeface="Arial"/>
                <a:cs typeface="Arial"/>
              </a:rPr>
              <a:t>Choosing whether a vehicle is safe.</a:t>
            </a:r>
          </a:p>
        </p:txBody>
      </p:sp>
      <p:sp>
        <p:nvSpPr>
          <p:cNvPr id="9" name="Rechthoek 8">
            <a:extLst>
              <a:ext uri="{FF2B5EF4-FFF2-40B4-BE49-F238E27FC236}">
                <a16:creationId xmlns:a16="http://schemas.microsoft.com/office/drawing/2014/main" id="{0773B001-BF91-4C88-A06A-29A337BB403C}"/>
              </a:ext>
            </a:extLst>
          </p:cNvPr>
          <p:cNvSpPr>
            <a:spLocks noGrp="1"/>
          </p:cNvSpPr>
          <p:nvPr/>
        </p:nvSpPr>
        <p:spPr>
          <a:xfrm>
            <a:off x="6572250" y="3409950"/>
            <a:ext cx="5010150" cy="990600"/>
          </a:xfrm>
          <a:prstGeom prst="rect">
            <a:avLst/>
          </a:prstGeom>
          <a:noFill/>
          <a:ln w="0">
            <a:noFill/>
          </a:ln>
        </p:spPr>
        <p:txBody>
          <a:bodyPr wrap="square" lIns="0" tIns="0" rIns="0" bIns="0" anchor="t">
            <a:noAutofit/>
          </a:bodyPr>
          <a:lstStyle>
            <a:defPPr>
              <a:defRPr sz="1950" b="0">
                <a:solidFill>
                  <a:srgbClr val="F3F6FB"/>
                </a:solidFill>
                <a:latin typeface="Arial"/>
                <a:ea typeface="Arial"/>
                <a:cs typeface="Arial"/>
              </a:defRPr>
            </a:defPPr>
          </a:lstStyle>
          <a:p>
            <a:pPr>
              <a:buNone/>
              <a:defRPr sz="1950" b="0">
                <a:solidFill>
                  <a:srgbClr val="F3F6FB"/>
                </a:solidFill>
                <a:latin typeface="Arial"/>
                <a:ea typeface="Arial"/>
                <a:cs typeface="Arial"/>
              </a:defRPr>
            </a:pPr>
            <a:r>
              <a:rPr sz="1950" b="0">
                <a:solidFill>
                  <a:srgbClr val="F3F6FB"/>
                </a:solidFill>
                <a:latin typeface="Arial"/>
                <a:ea typeface="Arial"/>
                <a:cs typeface="Arial"/>
              </a:rPr>
              <a:t>General population opinion polling</a:t>
            </a:r>
          </a:p>
          <a:p>
            <a:pPr>
              <a:buNone/>
              <a:defRPr sz="1950" b="0">
                <a:solidFill>
                  <a:srgbClr val="F3F6FB"/>
                </a:solidFill>
                <a:latin typeface="Arial"/>
                <a:ea typeface="Arial"/>
                <a:cs typeface="Arial"/>
              </a:defRPr>
            </a:pPr>
            <a:r>
              <a:rPr sz="1950" b="0">
                <a:solidFill>
                  <a:srgbClr val="F3F6FB"/>
                </a:solidFill>
                <a:latin typeface="Arial"/>
                <a:ea typeface="Arial"/>
                <a:cs typeface="Arial"/>
              </a:rPr>
              <a:t>Estimating what everyone thinks.</a:t>
            </a:r>
          </a:p>
        </p:txBody>
      </p:sp>
      <p:sp>
        <p:nvSpPr>
          <p:cNvPr id="10" name="Rechthoek 9">
            <a:extLst>
              <a:ext uri="{FF2B5EF4-FFF2-40B4-BE49-F238E27FC236}">
                <a16:creationId xmlns:a16="http://schemas.microsoft.com/office/drawing/2014/main" id="{D6D296A8-5313-4632-BA1E-8D787EE0CE6B}"/>
              </a:ext>
            </a:extLst>
          </p:cNvPr>
          <p:cNvSpPr>
            <a:spLocks noGrp="1"/>
          </p:cNvSpPr>
          <p:nvPr/>
        </p:nvSpPr>
        <p:spPr>
          <a:xfrm>
            <a:off x="6572250" y="4514850"/>
            <a:ext cx="5010150" cy="990600"/>
          </a:xfrm>
          <a:prstGeom prst="rect">
            <a:avLst/>
          </a:prstGeom>
          <a:noFill/>
          <a:ln w="0">
            <a:noFill/>
          </a:ln>
        </p:spPr>
        <p:txBody>
          <a:bodyPr wrap="square" lIns="0" tIns="0" rIns="0" bIns="0" anchor="t">
            <a:noAutofit/>
          </a:bodyPr>
          <a:lstStyle>
            <a:defPPr>
              <a:defRPr sz="1950" b="0">
                <a:solidFill>
                  <a:srgbClr val="F3F6FB"/>
                </a:solidFill>
                <a:latin typeface="Arial"/>
                <a:ea typeface="Arial"/>
                <a:cs typeface="Arial"/>
              </a:defRPr>
            </a:defPPr>
          </a:lstStyle>
          <a:p>
            <a:pPr>
              <a:buNone/>
              <a:defRPr sz="1950" b="0">
                <a:solidFill>
                  <a:srgbClr val="F3F6FB"/>
                </a:solidFill>
                <a:latin typeface="Arial"/>
                <a:ea typeface="Arial"/>
                <a:cs typeface="Arial"/>
              </a:defRPr>
            </a:pPr>
            <a:r>
              <a:rPr sz="1950" b="0">
                <a:solidFill>
                  <a:srgbClr val="F3F6FB"/>
                </a:solidFill>
                <a:latin typeface="Arial"/>
                <a:ea typeface="Arial"/>
                <a:cs typeface="Arial"/>
              </a:rPr>
              <a:t>Profiling individual commenters</a:t>
            </a:r>
          </a:p>
          <a:p>
            <a:pPr>
              <a:buNone/>
              <a:defRPr sz="1950" b="0">
                <a:solidFill>
                  <a:srgbClr val="F3F6FB"/>
                </a:solidFill>
                <a:latin typeface="Arial"/>
                <a:ea typeface="Arial"/>
                <a:cs typeface="Arial"/>
              </a:defRPr>
            </a:pPr>
            <a:r>
              <a:rPr sz="1950" b="0">
                <a:solidFill>
                  <a:srgbClr val="F3F6FB"/>
                </a:solidFill>
                <a:latin typeface="Arial"/>
                <a:ea typeface="Arial"/>
                <a:cs typeface="Arial"/>
              </a:rPr>
              <a:t>Inferring personal traits or making decisions.</a:t>
            </a:r>
          </a:p>
        </p:txBody>
      </p:sp>
      <p:sp>
        <p:nvSpPr>
          <p:cNvPr id="11" name="Rechthoek 10">
            <a:extLst>
              <a:ext uri="{FF2B5EF4-FFF2-40B4-BE49-F238E27FC236}">
                <a16:creationId xmlns:a16="http://schemas.microsoft.com/office/drawing/2014/main" id="{33FC339D-1B98-4750-8EEF-DE22A1407963}"/>
              </a:ext>
            </a:extLst>
          </p:cNvPr>
          <p:cNvSpPr>
            <a:spLocks noGrp="1"/>
          </p:cNvSpPr>
          <p:nvPr/>
        </p:nvSpPr>
        <p:spPr>
          <a:xfrm>
            <a:off x="609600" y="6038850"/>
            <a:ext cx="10763250" cy="304800"/>
          </a:xfrm>
          <a:prstGeom prst="rect">
            <a:avLst/>
          </a:prstGeom>
          <a:noFill/>
          <a:ln w="0">
            <a:noFill/>
          </a:ln>
        </p:spPr>
        <p:txBody>
          <a:bodyPr wrap="square" lIns="0" tIns="0" rIns="0" bIns="0" anchor="t">
            <a:noAutofit/>
          </a:bodyPr>
          <a:lstStyle>
            <a:defPPr>
              <a:defRPr sz="1650" b="0">
                <a:solidFill>
                  <a:srgbClr val="AABBD0"/>
                </a:solidFill>
                <a:latin typeface="Arial"/>
                <a:ea typeface="Arial"/>
                <a:cs typeface="Arial"/>
              </a:defRPr>
            </a:defPPr>
          </a:lstStyle>
          <a:p>
            <a:pPr>
              <a:buNone/>
              <a:defRPr sz="1650" b="0">
                <a:solidFill>
                  <a:srgbClr val="AABBD0"/>
                </a:solidFill>
                <a:latin typeface="Arial"/>
                <a:ea typeface="Arial"/>
                <a:cs typeface="Arial"/>
              </a:defRPr>
            </a:pPr>
            <a:r>
              <a:rPr sz="1650" b="0">
                <a:solidFill>
                  <a:srgbClr val="AABBD0"/>
                </a:solidFill>
                <a:latin typeface="Arial"/>
                <a:ea typeface="Arial"/>
                <a:cs typeface="Arial"/>
              </a:rPr>
              <a:t>These are proposed users. Stakeholder testing has not yet taken place.</a:t>
            </a:r>
          </a:p>
        </p:txBody>
      </p:sp>
    </p:spTree>
    <p:extLst>
      <p:ext uri="{BB962C8B-B14F-4D97-AF65-F5344CB8AC3E}">
        <p14:creationId xmlns:p14="http://schemas.microsoft.com/office/powerpoint/2010/main" val="1596448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16" name="Rechthoek 15">
            <a:extLst>
              <a:ext uri="{FF2B5EF4-FFF2-40B4-BE49-F238E27FC236}">
                <a16:creationId xmlns:a16="http://schemas.microsoft.com/office/drawing/2014/main" id="{8D767EA0-9D2E-42B8-BD06-1840E97C0FFC}"/>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YouTube data collection</a:t>
            </a:r>
          </a:p>
        </p:txBody>
      </p:sp>
      <p:sp>
        <p:nvSpPr>
          <p:cNvPr id="2" name="Rechthoek 1">
            <a:extLst>
              <a:ext uri="{FF2B5EF4-FFF2-40B4-BE49-F238E27FC236}">
                <a16:creationId xmlns:a16="http://schemas.microsoft.com/office/drawing/2014/main" id="{88DF3F5C-D752-4507-AAB1-6B21F8738AA8}"/>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04</a:t>
            </a:r>
          </a:p>
        </p:txBody>
      </p:sp>
      <p:sp>
        <p:nvSpPr>
          <p:cNvPr id="3" name="Rechthoek 2">
            <a:extLst>
              <a:ext uri="{FF2B5EF4-FFF2-40B4-BE49-F238E27FC236}">
                <a16:creationId xmlns:a16="http://schemas.microsoft.com/office/drawing/2014/main" id="{37E0A424-547B-4498-99A2-10FA68B5455A}"/>
              </a:ext>
            </a:extLst>
          </p:cNvPr>
          <p:cNvSpPr>
            <a:spLocks noGrp="1"/>
          </p:cNvSpPr>
          <p:nvPr/>
        </p:nvSpPr>
        <p:spPr>
          <a:xfrm>
            <a:off x="609600" y="1685925"/>
            <a:ext cx="714375" cy="476250"/>
          </a:xfrm>
          <a:prstGeom prst="rect">
            <a:avLst/>
          </a:prstGeom>
          <a:noFill/>
          <a:ln w="0">
            <a:noFill/>
          </a:ln>
        </p:spPr>
        <p:txBody>
          <a:bodyPr wrap="square" lIns="0" tIns="0" rIns="0" bIns="0" anchor="t">
            <a:noAutofit/>
          </a:bodyPr>
          <a:lstStyle>
            <a:defPPr>
              <a:defRPr sz="2700" b="1">
                <a:solidFill>
                  <a:srgbClr val="68D7BA"/>
                </a:solidFill>
                <a:latin typeface="Arial"/>
                <a:ea typeface="Arial"/>
                <a:cs typeface="Arial"/>
              </a:defRPr>
            </a:defPPr>
          </a:lstStyle>
          <a:p>
            <a:pPr>
              <a:buNone/>
              <a:defRPr sz="2700" b="1">
                <a:solidFill>
                  <a:srgbClr val="68D7BA"/>
                </a:solidFill>
                <a:latin typeface="Arial"/>
                <a:ea typeface="Arial"/>
                <a:cs typeface="Arial"/>
              </a:defRPr>
            </a:pPr>
            <a:r>
              <a:rPr sz="2700" b="1">
                <a:solidFill>
                  <a:srgbClr val="68D7BA"/>
                </a:solidFill>
                <a:latin typeface="Arial"/>
                <a:ea typeface="Arial"/>
                <a:cs typeface="Arial"/>
              </a:rPr>
              <a:t>01</a:t>
            </a:r>
          </a:p>
        </p:txBody>
      </p:sp>
      <p:sp>
        <p:nvSpPr>
          <p:cNvPr id="4" name="Rechthoek 3">
            <a:extLst>
              <a:ext uri="{FF2B5EF4-FFF2-40B4-BE49-F238E27FC236}">
                <a16:creationId xmlns:a16="http://schemas.microsoft.com/office/drawing/2014/main" id="{90ADA144-603B-4B45-AB55-2F200E0E4DB4}"/>
              </a:ext>
            </a:extLst>
          </p:cNvPr>
          <p:cNvSpPr>
            <a:spLocks noGrp="1"/>
          </p:cNvSpPr>
          <p:nvPr/>
        </p:nvSpPr>
        <p:spPr>
          <a:xfrm>
            <a:off x="1571625" y="1685925"/>
            <a:ext cx="3810000" cy="400050"/>
          </a:xfrm>
          <a:prstGeom prst="rect">
            <a:avLst/>
          </a:prstGeom>
          <a:noFill/>
          <a:ln w="0">
            <a:noFill/>
          </a:ln>
        </p:spPr>
        <p:txBody>
          <a:bodyPr wrap="square" lIns="0" tIns="0" rIns="0" bIns="0" anchor="t">
            <a:noAutofit/>
          </a:bodyPr>
          <a:lstStyle>
            <a:defPPr>
              <a:defRPr sz="2175" b="1">
                <a:solidFill>
                  <a:srgbClr val="F3F6FB"/>
                </a:solidFill>
                <a:latin typeface="Arial"/>
                <a:ea typeface="Arial"/>
                <a:cs typeface="Arial"/>
              </a:defRPr>
            </a:defPPr>
          </a:lstStyle>
          <a:p>
            <a:pPr>
              <a:buNone/>
              <a:defRPr sz="2175" b="1">
                <a:solidFill>
                  <a:srgbClr val="F3F6FB"/>
                </a:solidFill>
                <a:latin typeface="Arial"/>
                <a:ea typeface="Arial"/>
                <a:cs typeface="Arial"/>
              </a:defRPr>
            </a:pPr>
            <a:r>
              <a:rPr sz="2175" b="1">
                <a:solidFill>
                  <a:srgbClr val="F3F6FB"/>
                </a:solidFill>
                <a:latin typeface="Arial"/>
                <a:ea typeface="Arial"/>
                <a:cs typeface="Arial"/>
              </a:rPr>
              <a:t>Selected videos</a:t>
            </a:r>
          </a:p>
        </p:txBody>
      </p:sp>
      <p:sp>
        <p:nvSpPr>
          <p:cNvPr id="5" name="Rechthoek 4">
            <a:extLst>
              <a:ext uri="{FF2B5EF4-FFF2-40B4-BE49-F238E27FC236}">
                <a16:creationId xmlns:a16="http://schemas.microsoft.com/office/drawing/2014/main" id="{3ED2AEAE-11E4-45EC-A116-46C6C691B61A}"/>
              </a:ext>
            </a:extLst>
          </p:cNvPr>
          <p:cNvSpPr>
            <a:spLocks noGrp="1"/>
          </p:cNvSpPr>
          <p:nvPr/>
        </p:nvSpPr>
        <p:spPr>
          <a:xfrm>
            <a:off x="1571625" y="2095500"/>
            <a:ext cx="9858375" cy="514350"/>
          </a:xfrm>
          <a:prstGeom prst="rect">
            <a:avLst/>
          </a:prstGeom>
          <a:noFill/>
          <a:ln w="0">
            <a:noFill/>
          </a:ln>
        </p:spPr>
        <p:txBody>
          <a:bodyPr wrap="square" lIns="0" tIns="0" rIns="0" bIns="0" anchor="t">
            <a:noAutofit/>
          </a:bodyPr>
          <a:lstStyle>
            <a:defPPr>
              <a:defRPr sz="1875" b="0">
                <a:solidFill>
                  <a:srgbClr val="AABBD0"/>
                </a:solidFill>
                <a:latin typeface="Arial"/>
                <a:ea typeface="Arial"/>
                <a:cs typeface="Arial"/>
              </a:defRPr>
            </a:defPPr>
          </a:lstStyle>
          <a:p>
            <a:pPr>
              <a:buNone/>
              <a:defRPr sz="1875" b="0">
                <a:solidFill>
                  <a:srgbClr val="AABBD0"/>
                </a:solidFill>
                <a:latin typeface="Arial"/>
                <a:ea typeface="Arial"/>
                <a:cs typeface="Arial"/>
              </a:defRPr>
            </a:pPr>
            <a:r>
              <a:rPr sz="1875" b="0">
                <a:solidFill>
                  <a:srgbClr val="AABBD0"/>
                </a:solidFill>
                <a:latin typeface="Arial"/>
                <a:ea typeface="Arial"/>
                <a:cs typeface="Arial"/>
              </a:rPr>
              <a:t>First 20 unique IDs from the saved video list.</a:t>
            </a:r>
          </a:p>
        </p:txBody>
      </p:sp>
      <p:sp>
        <p:nvSpPr>
          <p:cNvPr id="6" name="Rechthoek 5">
            <a:extLst>
              <a:ext uri="{FF2B5EF4-FFF2-40B4-BE49-F238E27FC236}">
                <a16:creationId xmlns:a16="http://schemas.microsoft.com/office/drawing/2014/main" id="{D0428B7C-097B-4A3A-9E6E-5045D82059D0}"/>
              </a:ext>
            </a:extLst>
          </p:cNvPr>
          <p:cNvSpPr>
            <a:spLocks noGrp="1"/>
          </p:cNvSpPr>
          <p:nvPr/>
        </p:nvSpPr>
        <p:spPr>
          <a:xfrm>
            <a:off x="609600" y="2733675"/>
            <a:ext cx="714375" cy="476250"/>
          </a:xfrm>
          <a:prstGeom prst="rect">
            <a:avLst/>
          </a:prstGeom>
          <a:noFill/>
          <a:ln w="0">
            <a:noFill/>
          </a:ln>
        </p:spPr>
        <p:txBody>
          <a:bodyPr wrap="square" lIns="0" tIns="0" rIns="0" bIns="0" anchor="t">
            <a:noAutofit/>
          </a:bodyPr>
          <a:lstStyle>
            <a:defPPr>
              <a:defRPr sz="2700" b="1">
                <a:solidFill>
                  <a:srgbClr val="68D7BA"/>
                </a:solidFill>
                <a:latin typeface="Arial"/>
                <a:ea typeface="Arial"/>
                <a:cs typeface="Arial"/>
              </a:defRPr>
            </a:defPPr>
          </a:lstStyle>
          <a:p>
            <a:pPr>
              <a:buNone/>
              <a:defRPr sz="2700" b="1">
                <a:solidFill>
                  <a:srgbClr val="68D7BA"/>
                </a:solidFill>
                <a:latin typeface="Arial"/>
                <a:ea typeface="Arial"/>
                <a:cs typeface="Arial"/>
              </a:defRPr>
            </a:pPr>
            <a:r>
              <a:rPr sz="2700" b="1">
                <a:solidFill>
                  <a:srgbClr val="68D7BA"/>
                </a:solidFill>
                <a:latin typeface="Arial"/>
                <a:ea typeface="Arial"/>
                <a:cs typeface="Arial"/>
              </a:rPr>
              <a:t>02</a:t>
            </a:r>
          </a:p>
        </p:txBody>
      </p:sp>
      <p:sp>
        <p:nvSpPr>
          <p:cNvPr id="7" name="Rechthoek 6">
            <a:extLst>
              <a:ext uri="{FF2B5EF4-FFF2-40B4-BE49-F238E27FC236}">
                <a16:creationId xmlns:a16="http://schemas.microsoft.com/office/drawing/2014/main" id="{B3A0A751-22B4-4C12-B755-EC8966FDA6B1}"/>
              </a:ext>
            </a:extLst>
          </p:cNvPr>
          <p:cNvSpPr>
            <a:spLocks noGrp="1"/>
          </p:cNvSpPr>
          <p:nvPr/>
        </p:nvSpPr>
        <p:spPr>
          <a:xfrm>
            <a:off x="1571625" y="2733675"/>
            <a:ext cx="3810000" cy="400050"/>
          </a:xfrm>
          <a:prstGeom prst="rect">
            <a:avLst/>
          </a:prstGeom>
          <a:noFill/>
          <a:ln w="0">
            <a:noFill/>
          </a:ln>
        </p:spPr>
        <p:txBody>
          <a:bodyPr wrap="square" lIns="0" tIns="0" rIns="0" bIns="0" anchor="t">
            <a:noAutofit/>
          </a:bodyPr>
          <a:lstStyle>
            <a:defPPr>
              <a:defRPr sz="2175" b="1">
                <a:solidFill>
                  <a:srgbClr val="F3F6FB"/>
                </a:solidFill>
                <a:latin typeface="Arial"/>
                <a:ea typeface="Arial"/>
                <a:cs typeface="Arial"/>
              </a:defRPr>
            </a:defPPr>
          </a:lstStyle>
          <a:p>
            <a:pPr>
              <a:buNone/>
              <a:defRPr sz="2175" b="1">
                <a:solidFill>
                  <a:srgbClr val="F3F6FB"/>
                </a:solidFill>
                <a:latin typeface="Arial"/>
                <a:ea typeface="Arial"/>
                <a:cs typeface="Arial"/>
              </a:defRPr>
            </a:pPr>
            <a:r>
              <a:rPr sz="2175" b="1">
                <a:solidFill>
                  <a:srgbClr val="F3F6FB"/>
                </a:solidFill>
                <a:latin typeface="Arial"/>
                <a:ea typeface="Arial"/>
                <a:cs typeface="Arial"/>
              </a:rPr>
              <a:t>Official YouTube API</a:t>
            </a:r>
          </a:p>
        </p:txBody>
      </p:sp>
      <p:sp>
        <p:nvSpPr>
          <p:cNvPr id="8" name="Rechthoek 7">
            <a:extLst>
              <a:ext uri="{FF2B5EF4-FFF2-40B4-BE49-F238E27FC236}">
                <a16:creationId xmlns:a16="http://schemas.microsoft.com/office/drawing/2014/main" id="{6ADA9B0C-EC79-4370-A3A6-A01615EE5FB0}"/>
              </a:ext>
            </a:extLst>
          </p:cNvPr>
          <p:cNvSpPr>
            <a:spLocks noGrp="1"/>
          </p:cNvSpPr>
          <p:nvPr/>
        </p:nvSpPr>
        <p:spPr>
          <a:xfrm>
            <a:off x="1571625" y="3143250"/>
            <a:ext cx="9858375" cy="514350"/>
          </a:xfrm>
          <a:prstGeom prst="rect">
            <a:avLst/>
          </a:prstGeom>
          <a:noFill/>
          <a:ln w="0">
            <a:noFill/>
          </a:ln>
        </p:spPr>
        <p:txBody>
          <a:bodyPr wrap="square" lIns="0" tIns="0" rIns="0" bIns="0" anchor="t">
            <a:noAutofit/>
          </a:bodyPr>
          <a:lstStyle>
            <a:defPPr>
              <a:defRPr sz="1875" b="0">
                <a:solidFill>
                  <a:srgbClr val="AABBD0"/>
                </a:solidFill>
                <a:latin typeface="Arial"/>
                <a:ea typeface="Arial"/>
                <a:cs typeface="Arial"/>
              </a:defRPr>
            </a:defPPr>
          </a:lstStyle>
          <a:p>
            <a:pPr>
              <a:buNone/>
              <a:defRPr sz="1875" b="0">
                <a:solidFill>
                  <a:srgbClr val="AABBD0"/>
                </a:solidFill>
                <a:latin typeface="Arial"/>
                <a:ea typeface="Arial"/>
                <a:cs typeface="Arial"/>
              </a:defRPr>
            </a:pPr>
            <a:r>
              <a:rPr sz="1875" b="0">
                <a:solidFill>
                  <a:srgbClr val="AABBD0"/>
                </a:solidFill>
                <a:latin typeface="Arial"/>
                <a:ea typeface="Arial"/>
                <a:cs typeface="Arial"/>
              </a:rPr>
              <a:t>Up to 300 recent top-level comments per video each run.</a:t>
            </a:r>
          </a:p>
        </p:txBody>
      </p:sp>
      <p:sp>
        <p:nvSpPr>
          <p:cNvPr id="9" name="Rechthoek 8">
            <a:extLst>
              <a:ext uri="{FF2B5EF4-FFF2-40B4-BE49-F238E27FC236}">
                <a16:creationId xmlns:a16="http://schemas.microsoft.com/office/drawing/2014/main" id="{88FE4A89-D650-42A1-8319-9C65A28EBE98}"/>
              </a:ext>
            </a:extLst>
          </p:cNvPr>
          <p:cNvSpPr>
            <a:spLocks noGrp="1"/>
          </p:cNvSpPr>
          <p:nvPr/>
        </p:nvSpPr>
        <p:spPr>
          <a:xfrm>
            <a:off x="609600" y="3781425"/>
            <a:ext cx="714375" cy="476250"/>
          </a:xfrm>
          <a:prstGeom prst="rect">
            <a:avLst/>
          </a:prstGeom>
          <a:noFill/>
          <a:ln w="0">
            <a:noFill/>
          </a:ln>
        </p:spPr>
        <p:txBody>
          <a:bodyPr wrap="square" lIns="0" tIns="0" rIns="0" bIns="0" anchor="t">
            <a:noAutofit/>
          </a:bodyPr>
          <a:lstStyle>
            <a:defPPr>
              <a:defRPr sz="2700" b="1">
                <a:solidFill>
                  <a:srgbClr val="68D7BA"/>
                </a:solidFill>
                <a:latin typeface="Arial"/>
                <a:ea typeface="Arial"/>
                <a:cs typeface="Arial"/>
              </a:defRPr>
            </a:defPPr>
          </a:lstStyle>
          <a:p>
            <a:pPr>
              <a:buNone/>
              <a:defRPr sz="2700" b="1">
                <a:solidFill>
                  <a:srgbClr val="68D7BA"/>
                </a:solidFill>
                <a:latin typeface="Arial"/>
                <a:ea typeface="Arial"/>
                <a:cs typeface="Arial"/>
              </a:defRPr>
            </a:pPr>
            <a:r>
              <a:rPr sz="2700" b="1">
                <a:solidFill>
                  <a:srgbClr val="68D7BA"/>
                </a:solidFill>
                <a:latin typeface="Arial"/>
                <a:ea typeface="Arial"/>
                <a:cs typeface="Arial"/>
              </a:rPr>
              <a:t>03</a:t>
            </a:r>
          </a:p>
        </p:txBody>
      </p:sp>
      <p:sp>
        <p:nvSpPr>
          <p:cNvPr id="10" name="Rechthoek 9">
            <a:extLst>
              <a:ext uri="{FF2B5EF4-FFF2-40B4-BE49-F238E27FC236}">
                <a16:creationId xmlns:a16="http://schemas.microsoft.com/office/drawing/2014/main" id="{EDADBF12-BD6A-4A42-AA0A-543AC359A59D}"/>
              </a:ext>
            </a:extLst>
          </p:cNvPr>
          <p:cNvSpPr>
            <a:spLocks noGrp="1"/>
          </p:cNvSpPr>
          <p:nvPr/>
        </p:nvSpPr>
        <p:spPr>
          <a:xfrm>
            <a:off x="1571625" y="3781425"/>
            <a:ext cx="3810000" cy="400050"/>
          </a:xfrm>
          <a:prstGeom prst="rect">
            <a:avLst/>
          </a:prstGeom>
          <a:noFill/>
          <a:ln w="0">
            <a:noFill/>
          </a:ln>
        </p:spPr>
        <p:txBody>
          <a:bodyPr wrap="square" lIns="0" tIns="0" rIns="0" bIns="0" anchor="t">
            <a:noAutofit/>
          </a:bodyPr>
          <a:lstStyle>
            <a:defPPr>
              <a:defRPr sz="2175" b="1">
                <a:solidFill>
                  <a:srgbClr val="F3F6FB"/>
                </a:solidFill>
                <a:latin typeface="Arial"/>
                <a:ea typeface="Arial"/>
                <a:cs typeface="Arial"/>
              </a:defRPr>
            </a:defPPr>
          </a:lstStyle>
          <a:p>
            <a:pPr>
              <a:buNone/>
              <a:defRPr sz="2175" b="1">
                <a:solidFill>
                  <a:srgbClr val="F3F6FB"/>
                </a:solidFill>
                <a:latin typeface="Arial"/>
                <a:ea typeface="Arial"/>
                <a:cs typeface="Arial"/>
              </a:defRPr>
            </a:pPr>
            <a:r>
              <a:rPr sz="2175" b="1">
                <a:solidFill>
                  <a:srgbClr val="F3F6FB"/>
                </a:solidFill>
                <a:latin typeface="Arial"/>
                <a:ea typeface="Arial"/>
                <a:cs typeface="Arial"/>
              </a:rPr>
              <a:t>Scheduled checks</a:t>
            </a:r>
          </a:p>
        </p:txBody>
      </p:sp>
      <p:sp>
        <p:nvSpPr>
          <p:cNvPr id="11" name="Rechthoek 10">
            <a:extLst>
              <a:ext uri="{FF2B5EF4-FFF2-40B4-BE49-F238E27FC236}">
                <a16:creationId xmlns:a16="http://schemas.microsoft.com/office/drawing/2014/main" id="{0CCF1F82-C521-4704-82D5-8C40408A7384}"/>
              </a:ext>
            </a:extLst>
          </p:cNvPr>
          <p:cNvSpPr>
            <a:spLocks noGrp="1"/>
          </p:cNvSpPr>
          <p:nvPr/>
        </p:nvSpPr>
        <p:spPr>
          <a:xfrm>
            <a:off x="1571625" y="4191000"/>
            <a:ext cx="9858375" cy="514350"/>
          </a:xfrm>
          <a:prstGeom prst="rect">
            <a:avLst/>
          </a:prstGeom>
          <a:noFill/>
          <a:ln w="0">
            <a:noFill/>
          </a:ln>
        </p:spPr>
        <p:txBody>
          <a:bodyPr wrap="square" lIns="0" tIns="0" rIns="0" bIns="0" anchor="t">
            <a:noAutofit/>
          </a:bodyPr>
          <a:lstStyle>
            <a:defPPr>
              <a:defRPr sz="1875" b="0">
                <a:solidFill>
                  <a:srgbClr val="AABBD0"/>
                </a:solidFill>
                <a:latin typeface="Arial"/>
                <a:ea typeface="Arial"/>
                <a:cs typeface="Arial"/>
              </a:defRPr>
            </a:defPPr>
          </a:lstStyle>
          <a:p>
            <a:pPr>
              <a:buNone/>
              <a:defRPr sz="1875" b="0">
                <a:solidFill>
                  <a:srgbClr val="AABBD0"/>
                </a:solidFill>
                <a:latin typeface="Arial"/>
                <a:ea typeface="Arial"/>
                <a:cs typeface="Arial"/>
              </a:defRPr>
            </a:pPr>
            <a:r>
              <a:rPr sz="1875" b="0">
                <a:solidFill>
                  <a:srgbClr val="AABBD0"/>
                </a:solidFill>
                <a:latin typeface="Arial"/>
                <a:ea typeface="Arial"/>
                <a:cs typeface="Arial"/>
              </a:rPr>
              <a:t>GitHub Actions and cron-job.org, approximately every 10 minutes.</a:t>
            </a:r>
          </a:p>
        </p:txBody>
      </p:sp>
      <p:sp>
        <p:nvSpPr>
          <p:cNvPr id="12" name="Rechthoek 11">
            <a:extLst>
              <a:ext uri="{FF2B5EF4-FFF2-40B4-BE49-F238E27FC236}">
                <a16:creationId xmlns:a16="http://schemas.microsoft.com/office/drawing/2014/main" id="{544A899C-74B2-4E24-848E-74CE2D6DAAF1}"/>
              </a:ext>
            </a:extLst>
          </p:cNvPr>
          <p:cNvSpPr>
            <a:spLocks noGrp="1"/>
          </p:cNvSpPr>
          <p:nvPr/>
        </p:nvSpPr>
        <p:spPr>
          <a:xfrm>
            <a:off x="609600" y="4829175"/>
            <a:ext cx="714375" cy="476250"/>
          </a:xfrm>
          <a:prstGeom prst="rect">
            <a:avLst/>
          </a:prstGeom>
          <a:noFill/>
          <a:ln w="0">
            <a:noFill/>
          </a:ln>
        </p:spPr>
        <p:txBody>
          <a:bodyPr wrap="square" lIns="0" tIns="0" rIns="0" bIns="0" anchor="t">
            <a:noAutofit/>
          </a:bodyPr>
          <a:lstStyle>
            <a:defPPr>
              <a:defRPr sz="2700" b="1">
                <a:solidFill>
                  <a:srgbClr val="68D7BA"/>
                </a:solidFill>
                <a:latin typeface="Arial"/>
                <a:ea typeface="Arial"/>
                <a:cs typeface="Arial"/>
              </a:defRPr>
            </a:defPPr>
          </a:lstStyle>
          <a:p>
            <a:pPr>
              <a:buNone/>
              <a:defRPr sz="2700" b="1">
                <a:solidFill>
                  <a:srgbClr val="68D7BA"/>
                </a:solidFill>
                <a:latin typeface="Arial"/>
                <a:ea typeface="Arial"/>
                <a:cs typeface="Arial"/>
              </a:defRPr>
            </a:pPr>
            <a:r>
              <a:rPr sz="2700" b="1">
                <a:solidFill>
                  <a:srgbClr val="68D7BA"/>
                </a:solidFill>
                <a:latin typeface="Arial"/>
                <a:ea typeface="Arial"/>
                <a:cs typeface="Arial"/>
              </a:rPr>
              <a:t>04</a:t>
            </a:r>
          </a:p>
        </p:txBody>
      </p:sp>
      <p:sp>
        <p:nvSpPr>
          <p:cNvPr id="13" name="Rechthoek 12">
            <a:extLst>
              <a:ext uri="{FF2B5EF4-FFF2-40B4-BE49-F238E27FC236}">
                <a16:creationId xmlns:a16="http://schemas.microsoft.com/office/drawing/2014/main" id="{02E64EBF-9ED2-4607-8C8D-FC1F9C1ECC4F}"/>
              </a:ext>
            </a:extLst>
          </p:cNvPr>
          <p:cNvSpPr>
            <a:spLocks noGrp="1"/>
          </p:cNvSpPr>
          <p:nvPr/>
        </p:nvSpPr>
        <p:spPr>
          <a:xfrm>
            <a:off x="1571625" y="4829175"/>
            <a:ext cx="3810000" cy="400050"/>
          </a:xfrm>
          <a:prstGeom prst="rect">
            <a:avLst/>
          </a:prstGeom>
          <a:noFill/>
          <a:ln w="0">
            <a:noFill/>
          </a:ln>
        </p:spPr>
        <p:txBody>
          <a:bodyPr wrap="square" lIns="0" tIns="0" rIns="0" bIns="0" anchor="t">
            <a:noAutofit/>
          </a:bodyPr>
          <a:lstStyle>
            <a:defPPr>
              <a:defRPr sz="2175" b="1">
                <a:solidFill>
                  <a:srgbClr val="F3F6FB"/>
                </a:solidFill>
                <a:latin typeface="Arial"/>
                <a:ea typeface="Arial"/>
                <a:cs typeface="Arial"/>
              </a:defRPr>
            </a:defPPr>
          </a:lstStyle>
          <a:p>
            <a:pPr>
              <a:buNone/>
              <a:defRPr sz="2175" b="1">
                <a:solidFill>
                  <a:srgbClr val="F3F6FB"/>
                </a:solidFill>
                <a:latin typeface="Arial"/>
                <a:ea typeface="Arial"/>
                <a:cs typeface="Arial"/>
              </a:defRPr>
            </a:pPr>
            <a:r>
              <a:rPr sz="2175" b="1">
                <a:solidFill>
                  <a:srgbClr val="F3F6FB"/>
                </a:solidFill>
                <a:latin typeface="Arial"/>
                <a:ea typeface="Arial"/>
                <a:cs typeface="Arial"/>
              </a:rPr>
              <a:t>Persistent dataset</a:t>
            </a:r>
          </a:p>
        </p:txBody>
      </p:sp>
      <p:sp>
        <p:nvSpPr>
          <p:cNvPr id="14" name="Rechthoek 13">
            <a:extLst>
              <a:ext uri="{FF2B5EF4-FFF2-40B4-BE49-F238E27FC236}">
                <a16:creationId xmlns:a16="http://schemas.microsoft.com/office/drawing/2014/main" id="{A1412D70-12D8-4709-BD48-4B821BEAF287}"/>
              </a:ext>
            </a:extLst>
          </p:cNvPr>
          <p:cNvSpPr>
            <a:spLocks noGrp="1"/>
          </p:cNvSpPr>
          <p:nvPr/>
        </p:nvSpPr>
        <p:spPr>
          <a:xfrm>
            <a:off x="1571625" y="5238750"/>
            <a:ext cx="9858375" cy="514350"/>
          </a:xfrm>
          <a:prstGeom prst="rect">
            <a:avLst/>
          </a:prstGeom>
          <a:noFill/>
          <a:ln w="0">
            <a:noFill/>
          </a:ln>
        </p:spPr>
        <p:txBody>
          <a:bodyPr wrap="square" lIns="0" tIns="0" rIns="0" bIns="0" anchor="t">
            <a:noAutofit/>
          </a:bodyPr>
          <a:lstStyle>
            <a:defPPr>
              <a:defRPr sz="1875" b="0">
                <a:solidFill>
                  <a:srgbClr val="AABBD0"/>
                </a:solidFill>
                <a:latin typeface="Arial"/>
                <a:ea typeface="Arial"/>
                <a:cs typeface="Arial"/>
              </a:defRPr>
            </a:defPPr>
          </a:lstStyle>
          <a:p>
            <a:pPr>
              <a:buNone/>
              <a:defRPr sz="1875" b="0">
                <a:solidFill>
                  <a:srgbClr val="AABBD0"/>
                </a:solidFill>
                <a:latin typeface="Arial"/>
                <a:ea typeface="Arial"/>
                <a:cs typeface="Arial"/>
              </a:defRPr>
            </a:pPr>
            <a:r>
              <a:rPr sz="1875" b="0">
                <a:solidFill>
                  <a:srgbClr val="AABBD0"/>
                </a:solidFill>
                <a:latin typeface="Arial"/>
                <a:ea typeface="Arial"/>
                <a:cs typeface="Arial"/>
              </a:rPr>
              <a:t>Unique comment IDs prevent repeated collection from adding duplicates.</a:t>
            </a:r>
          </a:p>
        </p:txBody>
      </p:sp>
      <p:sp>
        <p:nvSpPr>
          <p:cNvPr id="15" name="Rechthoek 14">
            <a:extLst>
              <a:ext uri="{FF2B5EF4-FFF2-40B4-BE49-F238E27FC236}">
                <a16:creationId xmlns:a16="http://schemas.microsoft.com/office/drawing/2014/main" id="{5725A447-D18C-40CB-B83E-57DDE7BF0350}"/>
              </a:ext>
            </a:extLst>
          </p:cNvPr>
          <p:cNvSpPr>
            <a:spLocks noGrp="1"/>
          </p:cNvSpPr>
          <p:nvPr/>
        </p:nvSpPr>
        <p:spPr>
          <a:xfrm>
            <a:off x="609600" y="6057900"/>
            <a:ext cx="10953750" cy="285750"/>
          </a:xfrm>
          <a:prstGeom prst="rect">
            <a:avLst/>
          </a:prstGeom>
          <a:noFill/>
          <a:ln w="0">
            <a:noFill/>
          </a:ln>
        </p:spPr>
        <p:txBody>
          <a:bodyPr wrap="square" lIns="0" tIns="0" rIns="0" bIns="0" anchor="t">
            <a:noAutofit/>
          </a:bodyPr>
          <a:lstStyle>
            <a:defPPr>
              <a:defRPr sz="1650" b="0">
                <a:solidFill>
                  <a:srgbClr val="AABBD0"/>
                </a:solidFill>
                <a:latin typeface="Arial"/>
                <a:ea typeface="Arial"/>
                <a:cs typeface="Arial"/>
              </a:defRPr>
            </a:defPPr>
          </a:lstStyle>
          <a:p>
            <a:pPr>
              <a:buNone/>
              <a:defRPr sz="1650" b="0">
                <a:solidFill>
                  <a:srgbClr val="AABBD0"/>
                </a:solidFill>
                <a:latin typeface="Arial"/>
                <a:ea typeface="Arial"/>
                <a:cs typeface="Arial"/>
              </a:defRPr>
            </a:pPr>
            <a:r>
              <a:rPr sz="1650" b="0">
                <a:solidFill>
                  <a:srgbClr val="AABBD0"/>
                </a:solidFill>
                <a:latin typeface="Arial"/>
                <a:ea typeface="Arial"/>
                <a:cs typeface="Arial"/>
              </a:rPr>
              <a:t>Stored fields: comment ID, video ID, text, publication time and collection time</a:t>
            </a:r>
          </a:p>
        </p:txBody>
      </p:sp>
    </p:spTree>
    <p:extLst>
      <p:ext uri="{BB962C8B-B14F-4D97-AF65-F5344CB8AC3E}">
        <p14:creationId xmlns:p14="http://schemas.microsoft.com/office/powerpoint/2010/main" val="1319668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55E2EFF2-1148-4412-9644-B4A0BD8DBDAA}"/>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Sentiment analysis and automation</a:t>
            </a:r>
          </a:p>
        </p:txBody>
      </p:sp>
      <p:sp>
        <p:nvSpPr>
          <p:cNvPr id="2" name="Rechthoek 1">
            <a:extLst>
              <a:ext uri="{FF2B5EF4-FFF2-40B4-BE49-F238E27FC236}">
                <a16:creationId xmlns:a16="http://schemas.microsoft.com/office/drawing/2014/main" id="{087388B3-CF8B-42F6-A29C-D507E29D5972}"/>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05</a:t>
            </a:r>
          </a:p>
        </p:txBody>
      </p:sp>
      <p:sp>
        <p:nvSpPr>
          <p:cNvPr id="3" name="Rechthoek 2">
            <a:extLst>
              <a:ext uri="{FF2B5EF4-FFF2-40B4-BE49-F238E27FC236}">
                <a16:creationId xmlns:a16="http://schemas.microsoft.com/office/drawing/2014/main" id="{F2EA2638-C555-4992-B33E-07320F7D8342}"/>
              </a:ext>
            </a:extLst>
          </p:cNvPr>
          <p:cNvSpPr>
            <a:spLocks noGrp="1"/>
          </p:cNvSpPr>
          <p:nvPr/>
        </p:nvSpPr>
        <p:spPr>
          <a:xfrm>
            <a:off x="609600" y="1638300"/>
            <a:ext cx="10668000" cy="666750"/>
          </a:xfrm>
          <a:prstGeom prst="rect">
            <a:avLst/>
          </a:prstGeom>
          <a:noFill/>
          <a:ln w="0">
            <a:noFill/>
          </a:ln>
        </p:spPr>
        <p:txBody>
          <a:bodyPr wrap="square" lIns="0" tIns="0" rIns="0" bIns="0" anchor="t">
            <a:noAutofit/>
          </a:bodyPr>
          <a:lstStyle>
            <a:defPPr>
              <a:defRPr sz="3300" b="1">
                <a:solidFill>
                  <a:srgbClr val="F3F6FB"/>
                </a:solidFill>
                <a:latin typeface="Arial"/>
                <a:ea typeface="Arial"/>
                <a:cs typeface="Arial"/>
              </a:defRPr>
            </a:defPPr>
          </a:lstStyle>
          <a:p>
            <a:pPr>
              <a:buNone/>
              <a:defRPr sz="3300" b="1">
                <a:solidFill>
                  <a:srgbClr val="F3F6FB"/>
                </a:solidFill>
                <a:latin typeface="Arial"/>
                <a:ea typeface="Arial"/>
                <a:cs typeface="Arial"/>
              </a:defRPr>
            </a:pPr>
            <a:r>
              <a:rPr sz="3300" b="1">
                <a:solidFill>
                  <a:srgbClr val="F3F6FB"/>
                </a:solidFill>
                <a:latin typeface="Arial"/>
                <a:ea typeface="Arial"/>
                <a:cs typeface="Arial"/>
              </a:rPr>
              <a:t>Hugging Face RoBERTa</a:t>
            </a:r>
          </a:p>
        </p:txBody>
      </p:sp>
      <p:sp>
        <p:nvSpPr>
          <p:cNvPr id="4" name="Rechthoek 3">
            <a:extLst>
              <a:ext uri="{FF2B5EF4-FFF2-40B4-BE49-F238E27FC236}">
                <a16:creationId xmlns:a16="http://schemas.microsoft.com/office/drawing/2014/main" id="{75FE5303-F03B-4DC8-A2C5-D399C7D891C3}"/>
              </a:ext>
            </a:extLst>
          </p:cNvPr>
          <p:cNvSpPr>
            <a:spLocks noGrp="1"/>
          </p:cNvSpPr>
          <p:nvPr/>
        </p:nvSpPr>
        <p:spPr>
          <a:xfrm>
            <a:off x="609600" y="2638425"/>
            <a:ext cx="2857500" cy="495300"/>
          </a:xfrm>
          <a:prstGeom prst="rect">
            <a:avLst/>
          </a:prstGeom>
          <a:noFill/>
          <a:ln w="0">
            <a:noFill/>
          </a:ln>
        </p:spPr>
        <p:txBody>
          <a:bodyPr wrap="square" lIns="0" tIns="0" rIns="0" bIns="0" anchor="t">
            <a:noAutofit/>
          </a:bodyPr>
          <a:lstStyle>
            <a:defPPr>
              <a:defRPr sz="2625" b="1">
                <a:solidFill>
                  <a:srgbClr val="68D7BA"/>
                </a:solidFill>
                <a:latin typeface="Arial"/>
                <a:ea typeface="Arial"/>
                <a:cs typeface="Arial"/>
              </a:defRPr>
            </a:defPPr>
          </a:lstStyle>
          <a:p>
            <a:pPr>
              <a:buNone/>
              <a:defRPr sz="2625" b="1">
                <a:solidFill>
                  <a:srgbClr val="68D7BA"/>
                </a:solidFill>
                <a:latin typeface="Arial"/>
                <a:ea typeface="Arial"/>
                <a:cs typeface="Arial"/>
              </a:defRPr>
            </a:pPr>
            <a:r>
              <a:rPr sz="2625" b="1">
                <a:solidFill>
                  <a:srgbClr val="68D7BA"/>
                </a:solidFill>
                <a:latin typeface="Arial"/>
                <a:ea typeface="Arial"/>
                <a:cs typeface="Arial"/>
              </a:rPr>
              <a:t>Positive</a:t>
            </a:r>
          </a:p>
        </p:txBody>
      </p:sp>
      <p:sp>
        <p:nvSpPr>
          <p:cNvPr id="5" name="Rechthoek 4">
            <a:extLst>
              <a:ext uri="{FF2B5EF4-FFF2-40B4-BE49-F238E27FC236}">
                <a16:creationId xmlns:a16="http://schemas.microsoft.com/office/drawing/2014/main" id="{16284790-5843-4105-8F30-68D7C6545273}"/>
              </a:ext>
            </a:extLst>
          </p:cNvPr>
          <p:cNvSpPr>
            <a:spLocks noGrp="1"/>
          </p:cNvSpPr>
          <p:nvPr/>
        </p:nvSpPr>
        <p:spPr>
          <a:xfrm>
            <a:off x="4333875" y="2638425"/>
            <a:ext cx="2857500" cy="495300"/>
          </a:xfrm>
          <a:prstGeom prst="rect">
            <a:avLst/>
          </a:prstGeom>
          <a:noFill/>
          <a:ln w="0">
            <a:noFill/>
          </a:ln>
        </p:spPr>
        <p:txBody>
          <a:bodyPr wrap="square" lIns="0" tIns="0" rIns="0" bIns="0" anchor="t">
            <a:noAutofit/>
          </a:bodyPr>
          <a:lstStyle>
            <a:defPPr>
              <a:defRPr sz="2625" b="1">
                <a:solidFill>
                  <a:srgbClr val="8DA1BD"/>
                </a:solidFill>
                <a:latin typeface="Arial"/>
                <a:ea typeface="Arial"/>
                <a:cs typeface="Arial"/>
              </a:defRPr>
            </a:defPPr>
          </a:lstStyle>
          <a:p>
            <a:pPr>
              <a:buNone/>
              <a:defRPr sz="2625" b="1">
                <a:solidFill>
                  <a:srgbClr val="8DA1BD"/>
                </a:solidFill>
                <a:latin typeface="Arial"/>
                <a:ea typeface="Arial"/>
                <a:cs typeface="Arial"/>
              </a:defRPr>
            </a:pPr>
            <a:r>
              <a:rPr sz="2625" b="1">
                <a:solidFill>
                  <a:srgbClr val="8DA1BD"/>
                </a:solidFill>
                <a:latin typeface="Arial"/>
                <a:ea typeface="Arial"/>
                <a:cs typeface="Arial"/>
              </a:rPr>
              <a:t>Neutral</a:t>
            </a:r>
          </a:p>
        </p:txBody>
      </p:sp>
      <p:sp>
        <p:nvSpPr>
          <p:cNvPr id="6" name="Rechthoek 5">
            <a:extLst>
              <a:ext uri="{FF2B5EF4-FFF2-40B4-BE49-F238E27FC236}">
                <a16:creationId xmlns:a16="http://schemas.microsoft.com/office/drawing/2014/main" id="{5EA56CF5-B8A3-4813-8DB9-773E03B30906}"/>
              </a:ext>
            </a:extLst>
          </p:cNvPr>
          <p:cNvSpPr>
            <a:spLocks noGrp="1"/>
          </p:cNvSpPr>
          <p:nvPr/>
        </p:nvSpPr>
        <p:spPr>
          <a:xfrm>
            <a:off x="8058150" y="2638425"/>
            <a:ext cx="3333750" cy="495300"/>
          </a:xfrm>
          <a:prstGeom prst="rect">
            <a:avLst/>
          </a:prstGeom>
          <a:noFill/>
          <a:ln w="0">
            <a:noFill/>
          </a:ln>
        </p:spPr>
        <p:txBody>
          <a:bodyPr wrap="square" lIns="0" tIns="0" rIns="0" bIns="0" anchor="t">
            <a:noAutofit/>
          </a:bodyPr>
          <a:lstStyle>
            <a:defPPr>
              <a:defRPr sz="2625" b="1">
                <a:solidFill>
                  <a:srgbClr val="F47E83"/>
                </a:solidFill>
                <a:latin typeface="Arial"/>
                <a:ea typeface="Arial"/>
                <a:cs typeface="Arial"/>
              </a:defRPr>
            </a:defPPr>
          </a:lstStyle>
          <a:p>
            <a:pPr>
              <a:buNone/>
              <a:defRPr sz="2625" b="1">
                <a:solidFill>
                  <a:srgbClr val="F47E83"/>
                </a:solidFill>
                <a:latin typeface="Arial"/>
                <a:ea typeface="Arial"/>
                <a:cs typeface="Arial"/>
              </a:defRPr>
            </a:pPr>
            <a:r>
              <a:rPr sz="2625" b="1">
                <a:solidFill>
                  <a:srgbClr val="F47E83"/>
                </a:solidFill>
                <a:latin typeface="Arial"/>
                <a:ea typeface="Arial"/>
                <a:cs typeface="Arial"/>
              </a:rPr>
              <a:t>Negative</a:t>
            </a:r>
          </a:p>
        </p:txBody>
      </p:sp>
      <p:sp>
        <p:nvSpPr>
          <p:cNvPr id="7" name="Rechthoek 6">
            <a:extLst>
              <a:ext uri="{FF2B5EF4-FFF2-40B4-BE49-F238E27FC236}">
                <a16:creationId xmlns:a16="http://schemas.microsoft.com/office/drawing/2014/main" id="{1B480BD6-A0D1-44E7-89CB-319B2FAD9857}"/>
              </a:ext>
            </a:extLst>
          </p:cNvPr>
          <p:cNvSpPr>
            <a:spLocks noGrp="1"/>
          </p:cNvSpPr>
          <p:nvPr/>
        </p:nvSpPr>
        <p:spPr>
          <a:xfrm>
            <a:off x="609600" y="3667125"/>
            <a:ext cx="10763250" cy="59055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buNone/>
              <a:defRPr sz="2100" b="0">
                <a:solidFill>
                  <a:srgbClr val="F3F6FB"/>
                </a:solidFill>
                <a:latin typeface="Arial"/>
                <a:ea typeface="Arial"/>
                <a:cs typeface="Arial"/>
              </a:defRPr>
            </a:pPr>
            <a:r>
              <a:rPr sz="2100" b="0">
                <a:solidFill>
                  <a:srgbClr val="F3F6FB"/>
                </a:solidFill>
                <a:latin typeface="Arial"/>
                <a:ea typeface="Arial"/>
                <a:cs typeface="Arial"/>
              </a:rPr>
              <a:t>Python inference runs separately from the browser.</a:t>
            </a:r>
          </a:p>
        </p:txBody>
      </p:sp>
      <p:sp>
        <p:nvSpPr>
          <p:cNvPr id="8" name="Rechthoek 7">
            <a:extLst>
              <a:ext uri="{FF2B5EF4-FFF2-40B4-BE49-F238E27FC236}">
                <a16:creationId xmlns:a16="http://schemas.microsoft.com/office/drawing/2014/main" id="{7EF7E25A-E79E-4B34-B56F-5CB0E38D632E}"/>
              </a:ext>
            </a:extLst>
          </p:cNvPr>
          <p:cNvSpPr>
            <a:spLocks noGrp="1"/>
          </p:cNvSpPr>
          <p:nvPr/>
        </p:nvSpPr>
        <p:spPr>
          <a:xfrm>
            <a:off x="609600" y="4371975"/>
            <a:ext cx="10763250" cy="59055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buNone/>
              <a:defRPr sz="2100" b="0">
                <a:solidFill>
                  <a:srgbClr val="F3F6FB"/>
                </a:solidFill>
                <a:latin typeface="Arial"/>
                <a:ea typeface="Arial"/>
                <a:cs typeface="Arial"/>
              </a:defRPr>
            </a:pPr>
            <a:r>
              <a:rPr sz="2100" b="0">
                <a:solidFill>
                  <a:srgbClr val="F3F6FB"/>
                </a:solidFill>
                <a:latin typeface="Arial"/>
                <a:ea typeface="Arial"/>
                <a:cs typeface="Arial"/>
              </a:rPr>
              <a:t>Each successful collection triggers a separate analysis workflow.</a:t>
            </a:r>
          </a:p>
        </p:txBody>
      </p:sp>
      <p:sp>
        <p:nvSpPr>
          <p:cNvPr id="9" name="Rechthoek 8">
            <a:extLst>
              <a:ext uri="{FF2B5EF4-FFF2-40B4-BE49-F238E27FC236}">
                <a16:creationId xmlns:a16="http://schemas.microsoft.com/office/drawing/2014/main" id="{FEB26F27-B85B-4A8D-B233-B3BFD7A37BE7}"/>
              </a:ext>
            </a:extLst>
          </p:cNvPr>
          <p:cNvSpPr>
            <a:spLocks noGrp="1"/>
          </p:cNvSpPr>
          <p:nvPr/>
        </p:nvSpPr>
        <p:spPr>
          <a:xfrm>
            <a:off x="609600" y="5076825"/>
            <a:ext cx="10763250" cy="59055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buNone/>
              <a:defRPr sz="2100" b="0">
                <a:solidFill>
                  <a:srgbClr val="F3F6FB"/>
                </a:solidFill>
                <a:latin typeface="Arial"/>
                <a:ea typeface="Arial"/>
                <a:cs typeface="Arial"/>
              </a:defRPr>
            </a:pPr>
            <a:r>
              <a:rPr sz="2100" b="0">
                <a:solidFill>
                  <a:srgbClr val="F3F6FB"/>
                </a:solidFill>
                <a:latin typeface="Arial"/>
                <a:ea typeface="Arial"/>
                <a:cs typeface="Arial"/>
              </a:rPr>
              <a:t>The local app retrieves completed results every 60 seconds.</a:t>
            </a:r>
          </a:p>
        </p:txBody>
      </p:sp>
      <p:sp>
        <p:nvSpPr>
          <p:cNvPr id="10" name="Rechthoek 9">
            <a:extLst>
              <a:ext uri="{FF2B5EF4-FFF2-40B4-BE49-F238E27FC236}">
                <a16:creationId xmlns:a16="http://schemas.microsoft.com/office/drawing/2014/main" id="{5F23FDF2-325D-47D3-B776-F3FCB25CBEF3}"/>
              </a:ext>
            </a:extLst>
          </p:cNvPr>
          <p:cNvSpPr>
            <a:spLocks noGrp="1"/>
          </p:cNvSpPr>
          <p:nvPr/>
        </p:nvSpPr>
        <p:spPr>
          <a:xfrm>
            <a:off x="609600" y="6029325"/>
            <a:ext cx="10763250" cy="333375"/>
          </a:xfrm>
          <a:prstGeom prst="rect">
            <a:avLst/>
          </a:prstGeom>
          <a:noFill/>
          <a:ln w="0">
            <a:noFill/>
          </a:ln>
        </p:spPr>
        <p:txBody>
          <a:bodyPr wrap="square" lIns="0" tIns="0" rIns="0" bIns="0" anchor="t">
            <a:noAutofit/>
          </a:bodyPr>
          <a:lstStyle>
            <a:defPPr>
              <a:defRPr sz="1725" b="0">
                <a:solidFill>
                  <a:srgbClr val="AABBD0"/>
                </a:solidFill>
                <a:latin typeface="Arial"/>
                <a:ea typeface="Arial"/>
                <a:cs typeface="Arial"/>
              </a:defRPr>
            </a:defPPr>
          </a:lstStyle>
          <a:p>
            <a:pPr>
              <a:buNone/>
              <a:defRPr sz="1725" b="0">
                <a:solidFill>
                  <a:srgbClr val="AABBD0"/>
                </a:solidFill>
                <a:latin typeface="Arial"/>
                <a:ea typeface="Arial"/>
                <a:cs typeface="Arial"/>
              </a:defRPr>
            </a:pPr>
            <a:r>
              <a:rPr sz="1725" b="0">
                <a:solidFill>
                  <a:srgbClr val="AABBD0"/>
                </a:solidFill>
                <a:latin typeface="Arial"/>
                <a:ea typeface="Arial"/>
                <a:cs typeface="Arial"/>
              </a:rPr>
              <a:t>Confidence is a model probability. Human labels measure sample accuracy.</a:t>
            </a:r>
          </a:p>
        </p:txBody>
      </p:sp>
    </p:spTree>
    <p:extLst>
      <p:ext uri="{BB962C8B-B14F-4D97-AF65-F5344CB8AC3E}">
        <p14:creationId xmlns:p14="http://schemas.microsoft.com/office/powerpoint/2010/main" val="1298674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CA929753-4D82-4C76-9F23-BB2C9A89C6D1}"/>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defRPr sz="3300" b="0">
                <a:solidFill>
                  <a:srgbClr val="F3F6FB"/>
                </a:solidFill>
                <a:latin typeface="Arial"/>
                <a:ea typeface="Arial"/>
                <a:cs typeface="Arial"/>
              </a:defRPr>
            </a:pPr>
            <a:r>
              <a:rPr sz="3300" b="0">
                <a:solidFill>
                  <a:srgbClr val="F3F6FB"/>
                </a:solidFill>
                <a:latin typeface="Arial"/>
                <a:ea typeface="Arial"/>
                <a:cs typeface="Arial"/>
              </a:rPr>
              <a:t>Why this approach fits the users</a:t>
            </a:r>
          </a:p>
        </p:txBody>
      </p:sp>
      <p:sp>
        <p:nvSpPr>
          <p:cNvPr id="2" name="Rechthoek 1">
            <a:extLst>
              <a:ext uri="{FF2B5EF4-FFF2-40B4-BE49-F238E27FC236}">
                <a16:creationId xmlns:a16="http://schemas.microsoft.com/office/drawing/2014/main" id="{9792250F-92B4-4033-B090-5D408B7D0DE4}"/>
              </a:ext>
            </a:extLst>
          </p:cNvPr>
          <p:cNvSpPr>
            <a:spLocks noGrp="1"/>
          </p:cNvSpPr>
          <p:nvPr/>
        </p:nvSpPr>
        <p:spPr>
          <a:xfrm>
            <a:off x="609600" y="1657350"/>
            <a:ext cx="3048000" cy="838200"/>
          </a:xfrm>
          <a:prstGeom prst="rect">
            <a:avLst/>
          </a:prstGeom>
          <a:noFill/>
          <a:ln w="0">
            <a:noFill/>
          </a:ln>
        </p:spPr>
        <p:txBody>
          <a:bodyPr wrap="square" lIns="0" tIns="0" rIns="0" bIns="0" anchor="t">
            <a:noAutofit/>
          </a:bodyPr>
          <a:lstStyle>
            <a:defPPr>
              <a:defRPr sz="2175" b="1">
                <a:solidFill>
                  <a:srgbClr val="68D7BA"/>
                </a:solidFill>
                <a:latin typeface="Arial"/>
                <a:ea typeface="Arial"/>
                <a:cs typeface="Arial"/>
              </a:defRPr>
            </a:defPPr>
          </a:lstStyle>
          <a:p>
            <a:pPr>
              <a:defRPr sz="2175" b="1">
                <a:solidFill>
                  <a:srgbClr val="68D7BA"/>
                </a:solidFill>
                <a:latin typeface="Arial"/>
                <a:ea typeface="Arial"/>
                <a:cs typeface="Arial"/>
              </a:defRPr>
            </a:pPr>
            <a:r>
              <a:rPr sz="2175" b="1">
                <a:solidFill>
                  <a:srgbClr val="68D7BA"/>
                </a:solidFill>
                <a:latin typeface="Arial"/>
                <a:ea typeface="Arial"/>
                <a:cs typeface="Arial"/>
              </a:rPr>
              <a:t>Manual reading</a:t>
            </a:r>
          </a:p>
        </p:txBody>
      </p:sp>
      <p:sp>
        <p:nvSpPr>
          <p:cNvPr id="3" name="Rechthoek 2">
            <a:extLst>
              <a:ext uri="{FF2B5EF4-FFF2-40B4-BE49-F238E27FC236}">
                <a16:creationId xmlns:a16="http://schemas.microsoft.com/office/drawing/2014/main" id="{CA9F54D2-D774-4210-B30D-9113DEDBC34E}"/>
              </a:ext>
            </a:extLst>
          </p:cNvPr>
          <p:cNvSpPr>
            <a:spLocks noGrp="1"/>
          </p:cNvSpPr>
          <p:nvPr/>
        </p:nvSpPr>
        <p:spPr>
          <a:xfrm>
            <a:off x="4019550" y="1657350"/>
            <a:ext cx="7562850" cy="89535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defRPr sz="2100" b="0">
                <a:solidFill>
                  <a:srgbClr val="F3F6FB"/>
                </a:solidFill>
                <a:latin typeface="Arial"/>
                <a:ea typeface="Arial"/>
                <a:cs typeface="Arial"/>
              </a:defRPr>
            </a:pPr>
            <a:r>
              <a:rPr sz="2100" b="0">
                <a:solidFill>
                  <a:srgbClr val="F3F6FB"/>
                </a:solidFill>
                <a:latin typeface="Arial"/>
                <a:ea typeface="Arial"/>
                <a:cs typeface="Arial"/>
              </a:rPr>
              <a:t>Provides context, but repeatedly reviewing thousands of comments is laborious.</a:t>
            </a:r>
          </a:p>
        </p:txBody>
      </p:sp>
      <p:sp>
        <p:nvSpPr>
          <p:cNvPr id="4" name="Rechthoek 3">
            <a:extLst>
              <a:ext uri="{FF2B5EF4-FFF2-40B4-BE49-F238E27FC236}">
                <a16:creationId xmlns:a16="http://schemas.microsoft.com/office/drawing/2014/main" id="{D44C2B2C-3248-441A-A3B8-C16C6619443D}"/>
              </a:ext>
            </a:extLst>
          </p:cNvPr>
          <p:cNvSpPr>
            <a:spLocks noGrp="1"/>
          </p:cNvSpPr>
          <p:nvPr/>
        </p:nvSpPr>
        <p:spPr>
          <a:xfrm>
            <a:off x="609600" y="2705100"/>
            <a:ext cx="3048000" cy="838200"/>
          </a:xfrm>
          <a:prstGeom prst="rect">
            <a:avLst/>
          </a:prstGeom>
          <a:noFill/>
          <a:ln w="0">
            <a:noFill/>
          </a:ln>
        </p:spPr>
        <p:txBody>
          <a:bodyPr wrap="square" lIns="0" tIns="0" rIns="0" bIns="0" anchor="t">
            <a:noAutofit/>
          </a:bodyPr>
          <a:lstStyle>
            <a:defPPr>
              <a:defRPr sz="2175" b="1">
                <a:solidFill>
                  <a:srgbClr val="68D7BA"/>
                </a:solidFill>
                <a:latin typeface="Arial"/>
                <a:ea typeface="Arial"/>
                <a:cs typeface="Arial"/>
              </a:defRPr>
            </a:defPPr>
          </a:lstStyle>
          <a:p>
            <a:pPr>
              <a:defRPr sz="2175" b="1">
                <a:solidFill>
                  <a:srgbClr val="68D7BA"/>
                </a:solidFill>
                <a:latin typeface="Arial"/>
                <a:ea typeface="Arial"/>
                <a:cs typeface="Arial"/>
              </a:defRPr>
            </a:pPr>
            <a:r>
              <a:rPr sz="2175" b="1">
                <a:solidFill>
                  <a:srgbClr val="68D7BA"/>
                </a:solidFill>
                <a:latin typeface="Arial"/>
                <a:ea typeface="Arial"/>
                <a:cs typeface="Arial"/>
              </a:rPr>
              <a:t>Keyword counts</a:t>
            </a:r>
          </a:p>
        </p:txBody>
      </p:sp>
      <p:sp>
        <p:nvSpPr>
          <p:cNvPr id="5" name="Rechthoek 4">
            <a:extLst>
              <a:ext uri="{FF2B5EF4-FFF2-40B4-BE49-F238E27FC236}">
                <a16:creationId xmlns:a16="http://schemas.microsoft.com/office/drawing/2014/main" id="{287349B8-07B5-4BB4-B43D-77AB02EA65D1}"/>
              </a:ext>
            </a:extLst>
          </p:cNvPr>
          <p:cNvSpPr>
            <a:spLocks noGrp="1"/>
          </p:cNvSpPr>
          <p:nvPr/>
        </p:nvSpPr>
        <p:spPr>
          <a:xfrm>
            <a:off x="4019550" y="2705100"/>
            <a:ext cx="7562850" cy="89535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defRPr sz="2100" b="0">
                <a:solidFill>
                  <a:srgbClr val="F3F6FB"/>
                </a:solidFill>
                <a:latin typeface="Arial"/>
                <a:ea typeface="Arial"/>
                <a:cs typeface="Arial"/>
              </a:defRPr>
            </a:pPr>
            <a:r>
              <a:rPr sz="2100" b="0">
                <a:solidFill>
                  <a:srgbClr val="F3F6FB"/>
                </a:solidFill>
                <a:latin typeface="Arial"/>
                <a:ea typeface="Arial"/>
                <a:cs typeface="Arial"/>
              </a:rPr>
              <a:t>Find terms, but do not reliably distinguish praise, criticism and sarcasm.</a:t>
            </a:r>
          </a:p>
        </p:txBody>
      </p:sp>
      <p:sp>
        <p:nvSpPr>
          <p:cNvPr id="6" name="Rechthoek 5">
            <a:extLst>
              <a:ext uri="{FF2B5EF4-FFF2-40B4-BE49-F238E27FC236}">
                <a16:creationId xmlns:a16="http://schemas.microsoft.com/office/drawing/2014/main" id="{2DCE4AF0-2280-4A72-972A-E260E9F02FC3}"/>
              </a:ext>
            </a:extLst>
          </p:cNvPr>
          <p:cNvSpPr>
            <a:spLocks noGrp="1"/>
          </p:cNvSpPr>
          <p:nvPr/>
        </p:nvSpPr>
        <p:spPr>
          <a:xfrm>
            <a:off x="609600" y="3752850"/>
            <a:ext cx="3048000" cy="838200"/>
          </a:xfrm>
          <a:prstGeom prst="rect">
            <a:avLst/>
          </a:prstGeom>
          <a:noFill/>
          <a:ln w="0">
            <a:noFill/>
          </a:ln>
        </p:spPr>
        <p:txBody>
          <a:bodyPr wrap="square" lIns="0" tIns="0" rIns="0" bIns="0" anchor="t">
            <a:noAutofit/>
          </a:bodyPr>
          <a:lstStyle>
            <a:defPPr>
              <a:defRPr sz="2175" b="1">
                <a:solidFill>
                  <a:srgbClr val="68D7BA"/>
                </a:solidFill>
                <a:latin typeface="Arial"/>
                <a:ea typeface="Arial"/>
                <a:cs typeface="Arial"/>
              </a:defRPr>
            </a:defPPr>
          </a:lstStyle>
          <a:p>
            <a:pPr>
              <a:defRPr sz="2175" b="1">
                <a:solidFill>
                  <a:srgbClr val="68D7BA"/>
                </a:solidFill>
                <a:latin typeface="Arial"/>
                <a:ea typeface="Arial"/>
                <a:cs typeface="Arial"/>
              </a:defRPr>
            </a:pPr>
            <a:r>
              <a:rPr sz="2175" b="1">
                <a:solidFill>
                  <a:srgbClr val="68D7BA"/>
                </a:solidFill>
                <a:latin typeface="Arial"/>
                <a:ea typeface="Arial"/>
                <a:cs typeface="Arial"/>
              </a:rPr>
              <a:t>Model + inspection</a:t>
            </a:r>
          </a:p>
        </p:txBody>
      </p:sp>
      <p:sp>
        <p:nvSpPr>
          <p:cNvPr id="7" name="Rechthoek 6">
            <a:extLst>
              <a:ext uri="{FF2B5EF4-FFF2-40B4-BE49-F238E27FC236}">
                <a16:creationId xmlns:a16="http://schemas.microsoft.com/office/drawing/2014/main" id="{E9E0207C-DB27-4D26-81BA-DCEFD40D15FD}"/>
              </a:ext>
            </a:extLst>
          </p:cNvPr>
          <p:cNvSpPr>
            <a:spLocks noGrp="1"/>
          </p:cNvSpPr>
          <p:nvPr/>
        </p:nvSpPr>
        <p:spPr>
          <a:xfrm>
            <a:off x="4019550" y="3752850"/>
            <a:ext cx="7562850" cy="89535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defRPr sz="2100" b="0">
                <a:solidFill>
                  <a:srgbClr val="F3F6FB"/>
                </a:solidFill>
                <a:latin typeface="Arial"/>
                <a:ea typeface="Arial"/>
                <a:cs typeface="Arial"/>
              </a:defRPr>
            </a:pPr>
            <a:r>
              <a:rPr sz="2100" b="0">
                <a:solidFill>
                  <a:srgbClr val="F3F6FB"/>
                </a:solidFill>
                <a:latin typeface="Arial"/>
                <a:ea typeface="Arial"/>
                <a:cs typeface="Arial"/>
              </a:rPr>
              <a:t>RoBERTa provides initial labels. Filters and source comments let researchers challenge the result.</a:t>
            </a:r>
          </a:p>
        </p:txBody>
      </p:sp>
      <p:sp>
        <p:nvSpPr>
          <p:cNvPr id="8" name="Rechthoek 7">
            <a:extLst>
              <a:ext uri="{FF2B5EF4-FFF2-40B4-BE49-F238E27FC236}">
                <a16:creationId xmlns:a16="http://schemas.microsoft.com/office/drawing/2014/main" id="{B4B24FED-5FF6-459B-BF22-46FFAFBF93E4}"/>
              </a:ext>
            </a:extLst>
          </p:cNvPr>
          <p:cNvSpPr>
            <a:spLocks noGrp="1"/>
          </p:cNvSpPr>
          <p:nvPr/>
        </p:nvSpPr>
        <p:spPr>
          <a:xfrm>
            <a:off x="609600" y="4800600"/>
            <a:ext cx="3048000" cy="838200"/>
          </a:xfrm>
          <a:prstGeom prst="rect">
            <a:avLst/>
          </a:prstGeom>
          <a:noFill/>
          <a:ln w="0">
            <a:noFill/>
          </a:ln>
        </p:spPr>
        <p:txBody>
          <a:bodyPr wrap="square" lIns="0" tIns="0" rIns="0" bIns="0" anchor="t">
            <a:noAutofit/>
          </a:bodyPr>
          <a:lstStyle>
            <a:defPPr>
              <a:defRPr sz="2175" b="1">
                <a:solidFill>
                  <a:srgbClr val="68D7BA"/>
                </a:solidFill>
                <a:latin typeface="Arial"/>
                <a:ea typeface="Arial"/>
                <a:cs typeface="Arial"/>
              </a:defRPr>
            </a:defPPr>
          </a:lstStyle>
          <a:p>
            <a:pPr>
              <a:defRPr sz="2175" b="1">
                <a:solidFill>
                  <a:srgbClr val="68D7BA"/>
                </a:solidFill>
                <a:latin typeface="Arial"/>
                <a:ea typeface="Arial"/>
                <a:cs typeface="Arial"/>
              </a:defRPr>
            </a:pPr>
            <a:r>
              <a:rPr sz="2175" b="1">
                <a:solidFill>
                  <a:srgbClr val="68D7BA"/>
                </a:solidFill>
                <a:latin typeface="Arial"/>
                <a:ea typeface="Arial"/>
                <a:cs typeface="Arial"/>
              </a:rPr>
              <a:t>Tested alternative</a:t>
            </a:r>
          </a:p>
        </p:txBody>
      </p:sp>
      <p:sp>
        <p:nvSpPr>
          <p:cNvPr id="9" name="Rechthoek 8">
            <a:extLst>
              <a:ext uri="{FF2B5EF4-FFF2-40B4-BE49-F238E27FC236}">
                <a16:creationId xmlns:a16="http://schemas.microsoft.com/office/drawing/2014/main" id="{A50D8821-5257-4FB8-B6B3-453CB7F68984}"/>
              </a:ext>
            </a:extLst>
          </p:cNvPr>
          <p:cNvSpPr>
            <a:spLocks noGrp="1"/>
          </p:cNvSpPr>
          <p:nvPr/>
        </p:nvSpPr>
        <p:spPr>
          <a:xfrm>
            <a:off x="4019550" y="4800600"/>
            <a:ext cx="7562850" cy="89535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defRPr sz="2100" b="0">
                <a:solidFill>
                  <a:srgbClr val="F3F6FB"/>
                </a:solidFill>
                <a:latin typeface="Arial"/>
                <a:ea typeface="Arial"/>
                <a:cs typeface="Arial"/>
              </a:defRPr>
            </a:pPr>
            <a:r>
              <a:rPr sz="2100" b="0">
                <a:solidFill>
                  <a:srgbClr val="F3F6FB"/>
                </a:solidFill>
                <a:latin typeface="Arial"/>
                <a:ea typeface="Arial"/>
                <a:cs typeface="Arial"/>
              </a:rPr>
              <a:t>RoBERTa matched 32 of 51 human labels; VADER matched 17. Human review remains necessary.</a:t>
            </a:r>
          </a:p>
        </p:txBody>
      </p:sp>
      <p:sp>
        <p:nvSpPr>
          <p:cNvPr id="10" name="Rechthoek 9">
            <a:extLst>
              <a:ext uri="{FF2B5EF4-FFF2-40B4-BE49-F238E27FC236}">
                <a16:creationId xmlns:a16="http://schemas.microsoft.com/office/drawing/2014/main" id="{89B29FCE-B0AE-4F64-9719-0DDB697429C9}"/>
              </a:ext>
            </a:extLst>
          </p:cNvPr>
          <p:cNvSpPr>
            <a:spLocks noGrp="1"/>
          </p:cNvSpPr>
          <p:nvPr/>
        </p:nvSpPr>
        <p:spPr>
          <a:xfrm>
            <a:off x="609600" y="6115050"/>
            <a:ext cx="10972800" cy="323850"/>
          </a:xfrm>
          <a:prstGeom prst="rect">
            <a:avLst/>
          </a:prstGeom>
          <a:noFill/>
          <a:ln w="0">
            <a:noFill/>
          </a:ln>
        </p:spPr>
        <p:txBody>
          <a:bodyPr wrap="square" lIns="0" tIns="0" rIns="0" bIns="0" anchor="t">
            <a:noAutofit/>
          </a:bodyPr>
          <a:lstStyle>
            <a:defPPr>
              <a:defRPr sz="1725" b="0">
                <a:solidFill>
                  <a:srgbClr val="AABBD0"/>
                </a:solidFill>
                <a:latin typeface="Arial"/>
                <a:ea typeface="Arial"/>
                <a:cs typeface="Arial"/>
              </a:defRPr>
            </a:defPPr>
          </a:lstStyle>
          <a:p>
            <a:pPr>
              <a:defRPr sz="1725" b="0">
                <a:solidFill>
                  <a:srgbClr val="AABBD0"/>
                </a:solidFill>
                <a:latin typeface="Arial"/>
                <a:ea typeface="Arial"/>
                <a:cs typeface="Arial"/>
              </a:defRPr>
            </a:pPr>
            <a:r>
              <a:rPr sz="1725" b="0">
                <a:solidFill>
                  <a:srgbClr val="AABBD0"/>
                </a:solidFill>
                <a:latin typeface="Arial"/>
                <a:ea typeface="Arial"/>
                <a:cs typeface="Arial"/>
              </a:rPr>
              <a:t>Designed for exploratory research. Stakeholder time savings have not been measured.</a:t>
            </a:r>
          </a:p>
        </p:txBody>
      </p:sp>
      <p:sp>
        <p:nvSpPr>
          <p:cNvPr id="11" name="Rechthoek 10">
            <a:extLst>
              <a:ext uri="{FF2B5EF4-FFF2-40B4-BE49-F238E27FC236}">
                <a16:creationId xmlns:a16="http://schemas.microsoft.com/office/drawing/2014/main" id="{DD4BCE7C-489D-4F90-8592-B9E325040F23}"/>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defRPr sz="1350" b="0">
                <a:solidFill>
                  <a:srgbClr val="AABBD0"/>
                </a:solidFill>
                <a:latin typeface="Arial"/>
                <a:ea typeface="Arial"/>
                <a:cs typeface="Arial"/>
              </a:defRPr>
            </a:pPr>
            <a:r>
              <a:rPr sz="1350" b="0">
                <a:solidFill>
                  <a:srgbClr val="AABBD0"/>
                </a:solidFill>
                <a:latin typeface="Arial"/>
                <a:ea typeface="Arial"/>
                <a:cs typeface="Arial"/>
              </a:rPr>
              <a:t>06</a:t>
            </a:r>
          </a:p>
        </p:txBody>
      </p:sp>
    </p:spTree>
    <p:extLst>
      <p:ext uri="{BB962C8B-B14F-4D97-AF65-F5344CB8AC3E}">
        <p14:creationId xmlns:p14="http://schemas.microsoft.com/office/powerpoint/2010/main" val="1342167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E0D9D96-B654-4293-96C7-75948CC9AB4B}"/>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The working dashboard</a:t>
            </a:r>
          </a:p>
        </p:txBody>
      </p:sp>
      <p:sp>
        <p:nvSpPr>
          <p:cNvPr id="2" name="Rechthoek 1">
            <a:extLst>
              <a:ext uri="{FF2B5EF4-FFF2-40B4-BE49-F238E27FC236}">
                <a16:creationId xmlns:a16="http://schemas.microsoft.com/office/drawing/2014/main" id="{45368C3B-D2E1-4256-9697-0241D6FA5A87}"/>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07</a:t>
            </a:r>
          </a:p>
        </p:txBody>
      </p:sp>
      <p:pic>
        <p:nvPicPr>
          <p:cNvPr id="3" name="Afbeelding 2">
            <a:extLst>
              <a:ext uri="{FF2B5EF4-FFF2-40B4-BE49-F238E27FC236}">
                <a16:creationId xmlns:a16="http://schemas.microsoft.com/office/drawing/2014/main" id="{FFE708D6-45EB-4688-BA4C-8B779919D85A}"/>
              </a:ext>
            </a:extLst>
          </p:cNvPr>
          <p:cNvPicPr>
            <a:picLocks noChangeAspect="1"/>
          </p:cNvPicPr>
          <p:nvPr/>
        </p:nvPicPr>
        <p:blipFill>
          <a:blip r:embed="rId3"/>
          <a:stretch/>
        </p:blipFill>
        <p:spPr>
          <a:xfrm>
            <a:off x="853267" y="1714500"/>
            <a:ext cx="10485466" cy="1915478"/>
          </a:xfrm>
          <a:prstGeom prst="rect">
            <a:avLst/>
          </a:prstGeom>
        </p:spPr>
      </p:pic>
      <p:sp>
        <p:nvSpPr>
          <p:cNvPr id="4" name="Rechthoek 3">
            <a:extLst>
              <a:ext uri="{FF2B5EF4-FFF2-40B4-BE49-F238E27FC236}">
                <a16:creationId xmlns:a16="http://schemas.microsoft.com/office/drawing/2014/main" id="{8E83AC76-ED6B-4ABD-B1B7-9DB5EC954991}"/>
              </a:ext>
            </a:extLst>
          </p:cNvPr>
          <p:cNvSpPr>
            <a:spLocks noGrp="1"/>
          </p:cNvSpPr>
          <p:nvPr/>
        </p:nvSpPr>
        <p:spPr>
          <a:xfrm>
            <a:off x="609600" y="4162425"/>
            <a:ext cx="10763250" cy="619125"/>
          </a:xfrm>
          <a:prstGeom prst="rect">
            <a:avLst/>
          </a:prstGeom>
          <a:noFill/>
          <a:ln w="0">
            <a:noFill/>
          </a:ln>
        </p:spPr>
        <p:txBody>
          <a:bodyPr wrap="square" lIns="0" tIns="0" rIns="0" bIns="0" anchor="t">
            <a:noAutofit/>
          </a:bodyPr>
          <a:lstStyle>
            <a:defPPr>
              <a:defRPr sz="3450" b="1">
                <a:solidFill>
                  <a:srgbClr val="68D7BA"/>
                </a:solidFill>
                <a:latin typeface="Arial"/>
                <a:ea typeface="Arial"/>
                <a:cs typeface="Arial"/>
              </a:defRPr>
            </a:defPPr>
          </a:lstStyle>
          <a:p>
            <a:pPr>
              <a:buNone/>
              <a:defRPr sz="3450" b="1">
                <a:solidFill>
                  <a:srgbClr val="68D7BA"/>
                </a:solidFill>
                <a:latin typeface="Arial"/>
                <a:ea typeface="Arial"/>
                <a:cs typeface="Arial"/>
              </a:defRPr>
            </a:pPr>
            <a:r>
              <a:rPr sz="3450" b="1">
                <a:solidFill>
                  <a:srgbClr val="68D7BA"/>
                </a:solidFill>
                <a:latin typeface="Arial"/>
                <a:ea typeface="Arial"/>
                <a:cs typeface="Arial"/>
              </a:rPr>
              <a:t>2,533 unique comments</a:t>
            </a:r>
          </a:p>
        </p:txBody>
      </p:sp>
      <p:sp>
        <p:nvSpPr>
          <p:cNvPr id="5" name="Rechthoek 4">
            <a:extLst>
              <a:ext uri="{FF2B5EF4-FFF2-40B4-BE49-F238E27FC236}">
                <a16:creationId xmlns:a16="http://schemas.microsoft.com/office/drawing/2014/main" id="{5FABB50A-1FE1-40D7-97B0-EA7AD20A9D0F}"/>
              </a:ext>
            </a:extLst>
          </p:cNvPr>
          <p:cNvSpPr>
            <a:spLocks noGrp="1"/>
          </p:cNvSpPr>
          <p:nvPr/>
        </p:nvSpPr>
        <p:spPr>
          <a:xfrm>
            <a:off x="609600" y="4933950"/>
            <a:ext cx="10763250" cy="857250"/>
          </a:xfrm>
          <a:prstGeom prst="rect">
            <a:avLst/>
          </a:prstGeom>
          <a:noFill/>
          <a:ln w="0">
            <a:noFill/>
          </a:ln>
        </p:spPr>
        <p:txBody>
          <a:bodyPr wrap="square" lIns="0" tIns="0" rIns="0" bIns="0" anchor="t">
            <a:noAutofit/>
          </a:bodyPr>
          <a:lstStyle>
            <a:defPPr>
              <a:defRPr sz="2250" b="0">
                <a:solidFill>
                  <a:srgbClr val="F3F6FB"/>
                </a:solidFill>
                <a:latin typeface="Arial"/>
                <a:ea typeface="Arial"/>
                <a:cs typeface="Arial"/>
              </a:defRPr>
            </a:defPPr>
          </a:lstStyle>
          <a:p>
            <a:pPr>
              <a:buNone/>
              <a:defRPr sz="2250" b="0">
                <a:solidFill>
                  <a:srgbClr val="F3F6FB"/>
                </a:solidFill>
                <a:latin typeface="Arial"/>
                <a:ea typeface="Arial"/>
                <a:cs typeface="Arial"/>
              </a:defRPr>
            </a:pPr>
            <a:r>
              <a:rPr sz="2250" b="0">
                <a:solidFill>
                  <a:srgbClr val="F3F6FB"/>
                </a:solidFill>
                <a:latin typeface="Arial"/>
                <a:ea typeface="Arial"/>
                <a:cs typeface="Arial"/>
              </a:rPr>
              <a:t>2,530 genuine model predictions</a:t>
            </a:r>
          </a:p>
          <a:p>
            <a:pPr>
              <a:buNone/>
              <a:defRPr sz="2250" b="0">
                <a:solidFill>
                  <a:srgbClr val="F3F6FB"/>
                </a:solidFill>
                <a:latin typeface="Arial"/>
                <a:ea typeface="Arial"/>
                <a:cs typeface="Arial"/>
              </a:defRPr>
            </a:pPr>
            <a:r>
              <a:rPr sz="2250" b="0">
                <a:solidFill>
                  <a:srgbClr val="F3F6FB"/>
                </a:solidFill>
                <a:latin typeface="Arial"/>
                <a:ea typeface="Arial"/>
                <a:cs typeface="Arial"/>
              </a:rPr>
              <a:t>3 records remain explicitly unclassified</a:t>
            </a:r>
          </a:p>
        </p:txBody>
      </p:sp>
      <p:sp>
        <p:nvSpPr>
          <p:cNvPr id="6" name="Rechthoek 5">
            <a:extLst>
              <a:ext uri="{FF2B5EF4-FFF2-40B4-BE49-F238E27FC236}">
                <a16:creationId xmlns:a16="http://schemas.microsoft.com/office/drawing/2014/main" id="{CC8675A5-4CD3-4107-8819-4B2EF0E0BFA1}"/>
              </a:ext>
            </a:extLst>
          </p:cNvPr>
          <p:cNvSpPr>
            <a:spLocks noGrp="1"/>
          </p:cNvSpPr>
          <p:nvPr/>
        </p:nvSpPr>
        <p:spPr>
          <a:xfrm>
            <a:off x="609600" y="6076950"/>
            <a:ext cx="10763250" cy="285750"/>
          </a:xfrm>
          <a:prstGeom prst="rect">
            <a:avLst/>
          </a:prstGeom>
          <a:noFill/>
          <a:ln w="0">
            <a:noFill/>
          </a:ln>
        </p:spPr>
        <p:txBody>
          <a:bodyPr wrap="square" lIns="0" tIns="0" rIns="0" bIns="0" anchor="t">
            <a:noAutofit/>
          </a:bodyPr>
          <a:lstStyle>
            <a:defPPr>
              <a:defRPr sz="1575" b="0">
                <a:solidFill>
                  <a:srgbClr val="AABBD0"/>
                </a:solidFill>
                <a:latin typeface="Arial"/>
                <a:ea typeface="Arial"/>
                <a:cs typeface="Arial"/>
              </a:defRPr>
            </a:defPPr>
          </a:lstStyle>
          <a:p>
            <a:pPr>
              <a:buNone/>
              <a:defRPr sz="1575" b="0">
                <a:solidFill>
                  <a:srgbClr val="AABBD0"/>
                </a:solidFill>
                <a:latin typeface="Arial"/>
                <a:ea typeface="Arial"/>
                <a:cs typeface="Arial"/>
              </a:defRPr>
            </a:pPr>
            <a:r>
              <a:rPr sz="1575" b="0">
                <a:solidFill>
                  <a:srgbClr val="AABBD0"/>
                </a:solidFill>
                <a:latin typeface="Arial"/>
                <a:ea typeface="Arial"/>
                <a:cs typeface="Arial"/>
              </a:rPr>
              <a:t>Accumulated dataset, including comments already available at collection start</a:t>
            </a:r>
          </a:p>
        </p:txBody>
      </p:sp>
    </p:spTree>
    <p:extLst>
      <p:ext uri="{BB962C8B-B14F-4D97-AF65-F5344CB8AC3E}">
        <p14:creationId xmlns:p14="http://schemas.microsoft.com/office/powerpoint/2010/main" val="810689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0EDF37CF-5AF7-4FFC-9576-5F93B8F3BECD}"/>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Interactive sentiment trends</a:t>
            </a:r>
          </a:p>
        </p:txBody>
      </p:sp>
      <p:sp>
        <p:nvSpPr>
          <p:cNvPr id="2" name="Rechthoek 1">
            <a:extLst>
              <a:ext uri="{FF2B5EF4-FFF2-40B4-BE49-F238E27FC236}">
                <a16:creationId xmlns:a16="http://schemas.microsoft.com/office/drawing/2014/main" id="{C1A74A20-8FE6-49B7-9EBE-E316CEB46898}"/>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08</a:t>
            </a:r>
          </a:p>
        </p:txBody>
      </p:sp>
      <p:pic>
        <p:nvPicPr>
          <p:cNvPr id="3" name="Afbeelding 2">
            <a:extLst>
              <a:ext uri="{FF2B5EF4-FFF2-40B4-BE49-F238E27FC236}">
                <a16:creationId xmlns:a16="http://schemas.microsoft.com/office/drawing/2014/main" id="{0E3AE286-03E7-4843-9298-F95BE5168BC4}"/>
              </a:ext>
            </a:extLst>
          </p:cNvPr>
          <p:cNvPicPr>
            <a:picLocks noChangeAspect="1"/>
          </p:cNvPicPr>
          <p:nvPr/>
        </p:nvPicPr>
        <p:blipFill>
          <a:blip r:embed="rId3"/>
          <a:srcRect t="26022"/>
          <a:stretch/>
        </p:blipFill>
        <p:spPr>
          <a:xfrm>
            <a:off x="609600" y="2095500"/>
            <a:ext cx="10972800" cy="2946811"/>
          </a:xfrm>
          <a:prstGeom prst="rect">
            <a:avLst/>
          </a:prstGeom>
        </p:spPr>
      </p:pic>
      <p:sp>
        <p:nvSpPr>
          <p:cNvPr id="4" name="Rechthoek 3">
            <a:extLst>
              <a:ext uri="{FF2B5EF4-FFF2-40B4-BE49-F238E27FC236}">
                <a16:creationId xmlns:a16="http://schemas.microsoft.com/office/drawing/2014/main" id="{AFF8EEA3-B332-4CC6-B1F7-1D9C02AAB2E0}"/>
              </a:ext>
            </a:extLst>
          </p:cNvPr>
          <p:cNvSpPr>
            <a:spLocks noGrp="1"/>
          </p:cNvSpPr>
          <p:nvPr/>
        </p:nvSpPr>
        <p:spPr>
          <a:xfrm>
            <a:off x="609600" y="5657850"/>
            <a:ext cx="10763250" cy="352425"/>
          </a:xfrm>
          <a:prstGeom prst="rect">
            <a:avLst/>
          </a:prstGeom>
          <a:noFill/>
          <a:ln w="0">
            <a:noFill/>
          </a:ln>
        </p:spPr>
        <p:txBody>
          <a:bodyPr wrap="square" lIns="0" tIns="0" rIns="0" bIns="0" anchor="t">
            <a:noAutofit/>
          </a:bodyPr>
          <a:lstStyle>
            <a:defPPr>
              <a:defRPr sz="2100" b="1">
                <a:solidFill>
                  <a:srgbClr val="68D7BA"/>
                </a:solidFill>
                <a:latin typeface="Arial"/>
                <a:ea typeface="Arial"/>
                <a:cs typeface="Arial"/>
              </a:defRPr>
            </a:defPPr>
          </a:lstStyle>
          <a:p>
            <a:pPr>
              <a:buNone/>
              <a:defRPr sz="2100" b="1">
                <a:solidFill>
                  <a:srgbClr val="68D7BA"/>
                </a:solidFill>
                <a:latin typeface="Arial"/>
                <a:ea typeface="Arial"/>
                <a:cs typeface="Arial"/>
              </a:defRPr>
            </a:pPr>
            <a:r>
              <a:rPr sz="2100" b="1">
                <a:solidFill>
                  <a:srgbClr val="68D7BA"/>
                </a:solidFill>
                <a:latin typeface="Arial"/>
                <a:ea typeface="Arial"/>
                <a:cs typeface="Arial"/>
              </a:rPr>
              <a:t>Filtered dashboard view</a:t>
            </a:r>
          </a:p>
        </p:txBody>
      </p:sp>
      <p:sp>
        <p:nvSpPr>
          <p:cNvPr id="5" name="Rechthoek 4">
            <a:extLst>
              <a:ext uri="{FF2B5EF4-FFF2-40B4-BE49-F238E27FC236}">
                <a16:creationId xmlns:a16="http://schemas.microsoft.com/office/drawing/2014/main" id="{E0BA384B-F34D-483D-B62C-C15B52D0D81E}"/>
              </a:ext>
            </a:extLst>
          </p:cNvPr>
          <p:cNvSpPr>
            <a:spLocks noGrp="1"/>
          </p:cNvSpPr>
          <p:nvPr/>
        </p:nvSpPr>
        <p:spPr>
          <a:xfrm>
            <a:off x="609600" y="6096000"/>
            <a:ext cx="10763250" cy="304800"/>
          </a:xfrm>
          <a:prstGeom prst="rect">
            <a:avLst/>
          </a:prstGeom>
          <a:noFill/>
          <a:ln w="0">
            <a:noFill/>
          </a:ln>
        </p:spPr>
        <p:txBody>
          <a:bodyPr wrap="square" lIns="0" tIns="0" rIns="0" bIns="0" anchor="t">
            <a:noAutofit/>
          </a:bodyPr>
          <a:lstStyle>
            <a:defPPr>
              <a:defRPr sz="1725" b="0">
                <a:solidFill>
                  <a:srgbClr val="AABBD0"/>
                </a:solidFill>
                <a:latin typeface="Arial"/>
                <a:ea typeface="Arial"/>
                <a:cs typeface="Arial"/>
              </a:defRPr>
            </a:defPPr>
          </a:lstStyle>
          <a:p>
            <a:pPr>
              <a:buNone/>
              <a:defRPr sz="1725" b="0">
                <a:solidFill>
                  <a:srgbClr val="AABBD0"/>
                </a:solidFill>
                <a:latin typeface="Arial"/>
                <a:ea typeface="Arial"/>
                <a:cs typeface="Arial"/>
              </a:defRPr>
            </a:pPr>
            <a:r>
              <a:rPr sz="1725" b="0">
                <a:solidFill>
                  <a:srgbClr val="AABBD0"/>
                </a:solidFill>
                <a:latin typeface="Arial"/>
                <a:ea typeface="Arial"/>
                <a:cs typeface="Arial"/>
              </a:rPr>
              <a:t>Date and sentiment filters determine which comments appear in the charts.</a:t>
            </a:r>
          </a:p>
        </p:txBody>
      </p:sp>
      <p:sp>
        <p:nvSpPr>
          <p:cNvPr id="7" name="Rechthoek 6">
            <a:extLst>
              <a:ext uri="{FF2B5EF4-FFF2-40B4-BE49-F238E27FC236}">
                <a16:creationId xmlns:a16="http://schemas.microsoft.com/office/drawing/2014/main" id="{0E741915-7AD5-49AB-8E5C-3884ED23FEF4}"/>
              </a:ext>
            </a:extLst>
          </p:cNvPr>
          <p:cNvSpPr>
            <a:spLocks noGrp="1"/>
          </p:cNvSpPr>
          <p:nvPr/>
        </p:nvSpPr>
        <p:spPr>
          <a:xfrm>
            <a:off x="609600" y="1590675"/>
            <a:ext cx="6667500" cy="400050"/>
          </a:xfrm>
          <a:prstGeom prst="rect">
            <a:avLst/>
          </a:prstGeom>
          <a:noFill/>
          <a:ln w="0">
            <a:noFill/>
          </a:ln>
        </p:spPr>
        <p:txBody>
          <a:bodyPr wrap="square" lIns="0" tIns="0" rIns="0" bIns="0" anchor="t">
            <a:noAutofit/>
          </a:bodyPr>
          <a:lstStyle>
            <a:defPPr>
              <a:defRPr sz="2100" b="1">
                <a:solidFill>
                  <a:srgbClr val="68D7BA"/>
                </a:solidFill>
                <a:latin typeface="Arial"/>
                <a:ea typeface="Arial"/>
                <a:cs typeface="Arial"/>
              </a:defRPr>
            </a:defPPr>
          </a:lstStyle>
          <a:p>
            <a:pPr>
              <a:buNone/>
              <a:defRPr sz="2100" b="1">
                <a:solidFill>
                  <a:srgbClr val="68D7BA"/>
                </a:solidFill>
                <a:latin typeface="Arial"/>
                <a:ea typeface="Arial"/>
                <a:cs typeface="Arial"/>
              </a:defRPr>
            </a:pPr>
            <a:r>
              <a:rPr sz="2100" b="1">
                <a:solidFill>
                  <a:srgbClr val="68D7BA"/>
                </a:solidFill>
                <a:latin typeface="Arial"/>
                <a:ea typeface="Arial"/>
                <a:cs typeface="Arial"/>
              </a:rPr>
              <a:t>Hourly sentiment</a:t>
            </a:r>
          </a:p>
        </p:txBody>
      </p:sp>
      <p:sp>
        <p:nvSpPr>
          <p:cNvPr id="8" name="Rechthoek 7">
            <a:extLst>
              <a:ext uri="{FF2B5EF4-FFF2-40B4-BE49-F238E27FC236}">
                <a16:creationId xmlns:a16="http://schemas.microsoft.com/office/drawing/2014/main" id="{1600101C-8342-4207-A413-79D9A68002CF}"/>
              </a:ext>
            </a:extLst>
          </p:cNvPr>
          <p:cNvSpPr>
            <a:spLocks noGrp="1"/>
          </p:cNvSpPr>
          <p:nvPr/>
        </p:nvSpPr>
        <p:spPr>
          <a:xfrm>
            <a:off x="8286750" y="1590675"/>
            <a:ext cx="3295650" cy="400050"/>
          </a:xfrm>
          <a:prstGeom prst="rect">
            <a:avLst/>
          </a:prstGeom>
          <a:noFill/>
          <a:ln w="0">
            <a:noFill/>
          </a:ln>
        </p:spPr>
        <p:txBody>
          <a:bodyPr wrap="square" lIns="0" tIns="0" rIns="0" bIns="0" anchor="t">
            <a:noAutofit/>
          </a:bodyPr>
          <a:lstStyle>
            <a:defPPr>
              <a:defRPr sz="1950" b="1">
                <a:solidFill>
                  <a:srgbClr val="68D7BA"/>
                </a:solidFill>
                <a:latin typeface="Arial"/>
                <a:ea typeface="Arial"/>
                <a:cs typeface="Arial"/>
              </a:defRPr>
            </a:defPPr>
          </a:lstStyle>
          <a:p>
            <a:pPr>
              <a:buNone/>
              <a:defRPr sz="1950" b="1">
                <a:solidFill>
                  <a:srgbClr val="68D7BA"/>
                </a:solidFill>
                <a:latin typeface="Arial"/>
                <a:ea typeface="Arial"/>
                <a:cs typeface="Arial"/>
              </a:defRPr>
            </a:pPr>
            <a:r>
              <a:rPr sz="1950" b="1">
                <a:solidFill>
                  <a:srgbClr val="68D7BA"/>
                </a:solidFill>
                <a:latin typeface="Arial"/>
                <a:ea typeface="Arial"/>
                <a:cs typeface="Arial"/>
              </a:rPr>
              <a:t>Distribution in selection</a:t>
            </a:r>
          </a:p>
        </p:txBody>
      </p:sp>
    </p:spTree>
    <p:extLst>
      <p:ext uri="{BB962C8B-B14F-4D97-AF65-F5344CB8AC3E}">
        <p14:creationId xmlns:p14="http://schemas.microsoft.com/office/powerpoint/2010/main" val="31895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4B01296B-7339-4967-809F-82F278A3625E}"/>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Model evaluation against human labels</a:t>
            </a:r>
          </a:p>
        </p:txBody>
      </p:sp>
      <p:sp>
        <p:nvSpPr>
          <p:cNvPr id="2" name="Rechthoek 1">
            <a:extLst>
              <a:ext uri="{FF2B5EF4-FFF2-40B4-BE49-F238E27FC236}">
                <a16:creationId xmlns:a16="http://schemas.microsoft.com/office/drawing/2014/main" id="{9A64753B-1A5C-4830-8073-1B298E881CB5}"/>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09</a:t>
            </a:r>
          </a:p>
        </p:txBody>
      </p:sp>
      <p:sp>
        <p:nvSpPr>
          <p:cNvPr id="3" name="Rechthoek 2">
            <a:extLst>
              <a:ext uri="{FF2B5EF4-FFF2-40B4-BE49-F238E27FC236}">
                <a16:creationId xmlns:a16="http://schemas.microsoft.com/office/drawing/2014/main" id="{6B9E667B-12A1-4CD7-B52F-A1BFEA6D8FD5}"/>
              </a:ext>
            </a:extLst>
          </p:cNvPr>
          <p:cNvSpPr>
            <a:spLocks noGrp="1"/>
          </p:cNvSpPr>
          <p:nvPr/>
        </p:nvSpPr>
        <p:spPr>
          <a:xfrm>
            <a:off x="609600" y="1571625"/>
            <a:ext cx="10668000" cy="476250"/>
          </a:xfrm>
          <a:prstGeom prst="rect">
            <a:avLst/>
          </a:prstGeom>
          <a:noFill/>
          <a:ln w="0">
            <a:noFill/>
          </a:ln>
        </p:spPr>
        <p:txBody>
          <a:bodyPr wrap="square" lIns="0" tIns="0" rIns="0" bIns="0" anchor="t">
            <a:noAutofit/>
          </a:bodyPr>
          <a:lstStyle>
            <a:defPPr>
              <a:defRPr sz="2475" b="1">
                <a:solidFill>
                  <a:srgbClr val="68D7BA"/>
                </a:solidFill>
                <a:latin typeface="Arial"/>
                <a:ea typeface="Arial"/>
                <a:cs typeface="Arial"/>
              </a:defRPr>
            </a:defPPr>
          </a:lstStyle>
          <a:p>
            <a:pPr>
              <a:buNone/>
              <a:defRPr sz="2475" b="1">
                <a:solidFill>
                  <a:srgbClr val="68D7BA"/>
                </a:solidFill>
                <a:latin typeface="Arial"/>
                <a:ea typeface="Arial"/>
                <a:cs typeface="Arial"/>
              </a:defRPr>
            </a:pPr>
            <a:r>
              <a:rPr sz="2475" b="1">
                <a:solidFill>
                  <a:srgbClr val="68D7BA"/>
                </a:solidFill>
                <a:latin typeface="Arial"/>
                <a:ea typeface="Arial"/>
                <a:cs typeface="Arial"/>
              </a:rPr>
              <a:t>51 relevant human labels</a:t>
            </a:r>
          </a:p>
        </p:txBody>
      </p:sp>
      <p:graphicFrame>
        <p:nvGraphicFramePr>
          <p:cNvPr id="4" name="Chart">
            <a:extLst>
              <a:ext uri="{FF2B5EF4-FFF2-40B4-BE49-F238E27FC236}">
                <a16:creationId xmlns:a16="http://schemas.microsoft.com/office/drawing/2014/main" id="{0390C616-F2FF-425E-BCD9-0D6601A0517B}"/>
              </a:ext>
            </a:extLst>
          </p:cNvPr>
          <p:cNvGraphicFramePr/>
          <p:nvPr/>
        </p:nvGraphicFramePr>
        <p:xfrm>
          <a:off x="609600" y="2333625"/>
          <a:ext cx="7048500" cy="328612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hthoek 4">
            <a:extLst>
              <a:ext uri="{FF2B5EF4-FFF2-40B4-BE49-F238E27FC236}">
                <a16:creationId xmlns:a16="http://schemas.microsoft.com/office/drawing/2014/main" id="{651D2EFE-FEF7-4F69-B4F0-48F3F6AB58B8}"/>
              </a:ext>
            </a:extLst>
          </p:cNvPr>
          <p:cNvSpPr>
            <a:spLocks noGrp="1"/>
          </p:cNvSpPr>
          <p:nvPr/>
        </p:nvSpPr>
        <p:spPr>
          <a:xfrm>
            <a:off x="8572500" y="2743200"/>
            <a:ext cx="2952750" cy="647700"/>
          </a:xfrm>
          <a:prstGeom prst="rect">
            <a:avLst/>
          </a:prstGeom>
          <a:noFill/>
          <a:ln w="0">
            <a:noFill/>
          </a:ln>
        </p:spPr>
        <p:txBody>
          <a:bodyPr wrap="square" lIns="0" tIns="0" rIns="0" bIns="0" anchor="t">
            <a:noAutofit/>
          </a:bodyPr>
          <a:lstStyle>
            <a:defPPr>
              <a:defRPr sz="3675" b="1">
                <a:solidFill>
                  <a:srgbClr val="68D7BA"/>
                </a:solidFill>
                <a:latin typeface="Arial"/>
                <a:ea typeface="Arial"/>
                <a:cs typeface="Arial"/>
              </a:defRPr>
            </a:defPPr>
          </a:lstStyle>
          <a:p>
            <a:pPr>
              <a:buNone/>
              <a:defRPr sz="3675" b="1">
                <a:solidFill>
                  <a:srgbClr val="68D7BA"/>
                </a:solidFill>
                <a:latin typeface="Arial"/>
                <a:ea typeface="Arial"/>
                <a:cs typeface="Arial"/>
              </a:defRPr>
            </a:pPr>
            <a:r>
              <a:rPr sz="3675" b="1">
                <a:solidFill>
                  <a:srgbClr val="68D7BA"/>
                </a:solidFill>
                <a:latin typeface="Arial"/>
                <a:ea typeface="Arial"/>
                <a:cs typeface="Arial"/>
              </a:rPr>
              <a:t>32 / 51</a:t>
            </a:r>
          </a:p>
        </p:txBody>
      </p:sp>
      <p:sp>
        <p:nvSpPr>
          <p:cNvPr id="6" name="Rechthoek 5">
            <a:extLst>
              <a:ext uri="{FF2B5EF4-FFF2-40B4-BE49-F238E27FC236}">
                <a16:creationId xmlns:a16="http://schemas.microsoft.com/office/drawing/2014/main" id="{D815649F-60E5-4AD5-86DD-9CB3AEA76E1D}"/>
              </a:ext>
            </a:extLst>
          </p:cNvPr>
          <p:cNvSpPr>
            <a:spLocks noGrp="1"/>
          </p:cNvSpPr>
          <p:nvPr/>
        </p:nvSpPr>
        <p:spPr>
          <a:xfrm>
            <a:off x="8572500" y="3476625"/>
            <a:ext cx="2952750" cy="476250"/>
          </a:xfrm>
          <a:prstGeom prst="rect">
            <a:avLst/>
          </a:prstGeom>
          <a:noFill/>
          <a:ln w="0">
            <a:noFill/>
          </a:ln>
        </p:spPr>
        <p:txBody>
          <a:bodyPr wrap="square" lIns="0" tIns="0" rIns="0" bIns="0" anchor="t">
            <a:noAutofit/>
          </a:bodyPr>
          <a:lstStyle>
            <a:defPPr>
              <a:defRPr sz="1875" b="0">
                <a:solidFill>
                  <a:srgbClr val="AABBD0"/>
                </a:solidFill>
                <a:latin typeface="Arial"/>
                <a:ea typeface="Arial"/>
                <a:cs typeface="Arial"/>
              </a:defRPr>
            </a:defPPr>
          </a:lstStyle>
          <a:p>
            <a:pPr>
              <a:buNone/>
              <a:defRPr sz="1875" b="0">
                <a:solidFill>
                  <a:srgbClr val="AABBD0"/>
                </a:solidFill>
                <a:latin typeface="Arial"/>
                <a:ea typeface="Arial"/>
                <a:cs typeface="Arial"/>
              </a:defRPr>
            </a:pPr>
            <a:r>
              <a:rPr sz="1875" b="0">
                <a:solidFill>
                  <a:srgbClr val="AABBD0"/>
                </a:solidFill>
                <a:latin typeface="Arial"/>
                <a:ea typeface="Arial"/>
                <a:cs typeface="Arial"/>
              </a:rPr>
              <a:t>RoBERTa matches</a:t>
            </a:r>
          </a:p>
        </p:txBody>
      </p:sp>
      <p:sp>
        <p:nvSpPr>
          <p:cNvPr id="7" name="Rechthoek 6">
            <a:extLst>
              <a:ext uri="{FF2B5EF4-FFF2-40B4-BE49-F238E27FC236}">
                <a16:creationId xmlns:a16="http://schemas.microsoft.com/office/drawing/2014/main" id="{90F219C9-6E51-495F-A5C0-E48B9B4C3773}"/>
              </a:ext>
            </a:extLst>
          </p:cNvPr>
          <p:cNvSpPr>
            <a:spLocks noGrp="1"/>
          </p:cNvSpPr>
          <p:nvPr/>
        </p:nvSpPr>
        <p:spPr>
          <a:xfrm>
            <a:off x="8572500" y="4219575"/>
            <a:ext cx="2952750" cy="647700"/>
          </a:xfrm>
          <a:prstGeom prst="rect">
            <a:avLst/>
          </a:prstGeom>
          <a:noFill/>
          <a:ln w="0">
            <a:noFill/>
          </a:ln>
        </p:spPr>
        <p:txBody>
          <a:bodyPr wrap="square" lIns="0" tIns="0" rIns="0" bIns="0" anchor="t">
            <a:noAutofit/>
          </a:bodyPr>
          <a:lstStyle>
            <a:defPPr>
              <a:defRPr sz="3675" b="1">
                <a:solidFill>
                  <a:srgbClr val="8DA1BD"/>
                </a:solidFill>
                <a:latin typeface="Arial"/>
                <a:ea typeface="Arial"/>
                <a:cs typeface="Arial"/>
              </a:defRPr>
            </a:defPPr>
          </a:lstStyle>
          <a:p>
            <a:pPr>
              <a:buNone/>
              <a:defRPr sz="3675" b="1">
                <a:solidFill>
                  <a:srgbClr val="8DA1BD"/>
                </a:solidFill>
                <a:latin typeface="Arial"/>
                <a:ea typeface="Arial"/>
                <a:cs typeface="Arial"/>
              </a:defRPr>
            </a:pPr>
            <a:r>
              <a:rPr sz="3675" b="1">
                <a:solidFill>
                  <a:srgbClr val="8DA1BD"/>
                </a:solidFill>
                <a:latin typeface="Arial"/>
                <a:ea typeface="Arial"/>
                <a:cs typeface="Arial"/>
              </a:rPr>
              <a:t>17 / 51</a:t>
            </a:r>
          </a:p>
        </p:txBody>
      </p:sp>
      <p:sp>
        <p:nvSpPr>
          <p:cNvPr id="8" name="Rechthoek 7">
            <a:extLst>
              <a:ext uri="{FF2B5EF4-FFF2-40B4-BE49-F238E27FC236}">
                <a16:creationId xmlns:a16="http://schemas.microsoft.com/office/drawing/2014/main" id="{8FB0921D-9528-4C8D-A5B4-18EC4489CE97}"/>
              </a:ext>
            </a:extLst>
          </p:cNvPr>
          <p:cNvSpPr>
            <a:spLocks noGrp="1"/>
          </p:cNvSpPr>
          <p:nvPr/>
        </p:nvSpPr>
        <p:spPr>
          <a:xfrm>
            <a:off x="8572500" y="4953000"/>
            <a:ext cx="2952750" cy="476250"/>
          </a:xfrm>
          <a:prstGeom prst="rect">
            <a:avLst/>
          </a:prstGeom>
          <a:noFill/>
          <a:ln w="0">
            <a:noFill/>
          </a:ln>
        </p:spPr>
        <p:txBody>
          <a:bodyPr wrap="square" lIns="0" tIns="0" rIns="0" bIns="0" anchor="t">
            <a:noAutofit/>
          </a:bodyPr>
          <a:lstStyle>
            <a:defPPr>
              <a:defRPr sz="1875" b="0">
                <a:solidFill>
                  <a:srgbClr val="AABBD0"/>
                </a:solidFill>
                <a:latin typeface="Arial"/>
                <a:ea typeface="Arial"/>
                <a:cs typeface="Arial"/>
              </a:defRPr>
            </a:defPPr>
          </a:lstStyle>
          <a:p>
            <a:pPr>
              <a:buNone/>
              <a:defRPr sz="1875" b="0">
                <a:solidFill>
                  <a:srgbClr val="AABBD0"/>
                </a:solidFill>
                <a:latin typeface="Arial"/>
                <a:ea typeface="Arial"/>
                <a:cs typeface="Arial"/>
              </a:defRPr>
            </a:pPr>
            <a:r>
              <a:rPr sz="1875" b="0">
                <a:solidFill>
                  <a:srgbClr val="AABBD0"/>
                </a:solidFill>
                <a:latin typeface="Arial"/>
                <a:ea typeface="Arial"/>
                <a:cs typeface="Arial"/>
              </a:rPr>
              <a:t>VADER matches</a:t>
            </a:r>
          </a:p>
        </p:txBody>
      </p:sp>
      <p:sp>
        <p:nvSpPr>
          <p:cNvPr id="9" name="Rechthoek 8">
            <a:extLst>
              <a:ext uri="{FF2B5EF4-FFF2-40B4-BE49-F238E27FC236}">
                <a16:creationId xmlns:a16="http://schemas.microsoft.com/office/drawing/2014/main" id="{FCCAE3E8-C139-4E46-B842-1B4FB69358C6}"/>
              </a:ext>
            </a:extLst>
          </p:cNvPr>
          <p:cNvSpPr>
            <a:spLocks noGrp="1"/>
          </p:cNvSpPr>
          <p:nvPr/>
        </p:nvSpPr>
        <p:spPr>
          <a:xfrm>
            <a:off x="609600" y="6076950"/>
            <a:ext cx="10763250" cy="323850"/>
          </a:xfrm>
          <a:prstGeom prst="rect">
            <a:avLst/>
          </a:prstGeom>
          <a:noFill/>
          <a:ln w="0">
            <a:noFill/>
          </a:ln>
        </p:spPr>
        <p:txBody>
          <a:bodyPr wrap="square" lIns="0" tIns="0" rIns="0" bIns="0" anchor="t">
            <a:noAutofit/>
          </a:bodyPr>
          <a:lstStyle>
            <a:defPPr>
              <a:defRPr sz="1650" b="0">
                <a:solidFill>
                  <a:srgbClr val="AABBD0"/>
                </a:solidFill>
                <a:latin typeface="Arial"/>
                <a:ea typeface="Arial"/>
                <a:cs typeface="Arial"/>
              </a:defRPr>
            </a:defPPr>
          </a:lstStyle>
          <a:p>
            <a:pPr>
              <a:buNone/>
              <a:defRPr sz="1650" b="0">
                <a:solidFill>
                  <a:srgbClr val="AABBD0"/>
                </a:solidFill>
                <a:latin typeface="Arial"/>
                <a:ea typeface="Arial"/>
                <a:cs typeface="Arial"/>
              </a:defRPr>
            </a:pPr>
            <a:r>
              <a:rPr sz="1650" b="0">
                <a:solidFill>
                  <a:srgbClr val="AABBD0"/>
                </a:solidFill>
                <a:latin typeface="Arial"/>
                <a:ea typeface="Arial"/>
                <a:cs typeface="Arial"/>
              </a:rPr>
              <a:t>60 annotations in total. Nine off-topic comments excluded. One annotator.</a:t>
            </a:r>
          </a:p>
        </p:txBody>
      </p:sp>
    </p:spTree>
    <p:extLst>
      <p:ext uri="{BB962C8B-B14F-4D97-AF65-F5344CB8AC3E}">
        <p14:creationId xmlns:p14="http://schemas.microsoft.com/office/powerpoint/2010/main" val="1094782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5" name="Rechthoek 4">
            <a:extLst>
              <a:ext uri="{FF2B5EF4-FFF2-40B4-BE49-F238E27FC236}">
                <a16:creationId xmlns:a16="http://schemas.microsoft.com/office/drawing/2014/main" id="{FFC79DDD-D3CC-402E-94D9-C5EB37A4D01F}"/>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Where the model misinterprets meaning</a:t>
            </a:r>
          </a:p>
        </p:txBody>
      </p:sp>
      <p:sp>
        <p:nvSpPr>
          <p:cNvPr id="2" name="Rechthoek 1">
            <a:extLst>
              <a:ext uri="{FF2B5EF4-FFF2-40B4-BE49-F238E27FC236}">
                <a16:creationId xmlns:a16="http://schemas.microsoft.com/office/drawing/2014/main" id="{C28383AB-27D6-4348-B8D7-EBD8108007CB}"/>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10</a:t>
            </a:r>
          </a:p>
        </p:txBody>
      </p:sp>
      <p:graphicFrame>
        <p:nvGraphicFramePr>
          <p:cNvPr id="3" name="Tabel 2">
            <a:extLst>
              <a:ext uri="{FF2B5EF4-FFF2-40B4-BE49-F238E27FC236}">
                <a16:creationId xmlns:a16="http://schemas.microsoft.com/office/drawing/2014/main" id="{6804DCDF-35E0-4911-B77F-3668F24870C7}"/>
              </a:ext>
            </a:extLst>
          </p:cNvPr>
          <p:cNvGraphicFramePr/>
          <p:nvPr/>
        </p:nvGraphicFramePr>
        <p:xfrm>
          <a:off x="609600" y="1685925"/>
          <a:ext cx="10972800" cy="3857625"/>
        </p:xfrm>
        <a:graphic>
          <a:graphicData uri="http://schemas.openxmlformats.org/drawingml/2006/table">
            <a:tbl>
              <a:tblPr firstRow="1"/>
              <a:tblGrid>
                <a:gridCol w="3905250">
                  <a:extLst>
                    <a:ext uri="{9D8B030D-6E8A-4147-A177-3AD203B41FA5}">
                      <a16:colId xmlns:a16="http://schemas.microsoft.com/office/drawing/2014/main" val="20000"/>
                    </a:ext>
                  </a:extLst>
                </a:gridCol>
                <a:gridCol w="1285875">
                  <a:extLst>
                    <a:ext uri="{9D8B030D-6E8A-4147-A177-3AD203B41FA5}">
                      <a16:colId xmlns:a16="http://schemas.microsoft.com/office/drawing/2014/main" val="20001"/>
                    </a:ext>
                  </a:extLst>
                </a:gridCol>
                <a:gridCol w="1285875">
                  <a:extLst>
                    <a:ext uri="{9D8B030D-6E8A-4147-A177-3AD203B41FA5}">
                      <a16:colId xmlns:a16="http://schemas.microsoft.com/office/drawing/2014/main" val="20002"/>
                    </a:ext>
                  </a:extLst>
                </a:gridCol>
                <a:gridCol w="4495800">
                  <a:extLst>
                    <a:ext uri="{9D8B030D-6E8A-4147-A177-3AD203B41FA5}">
                      <a16:colId xmlns:a16="http://schemas.microsoft.com/office/drawing/2014/main" val="20003"/>
                    </a:ext>
                  </a:extLst>
                </a:gridCol>
              </a:tblGrid>
              <a:tr h="964406">
                <a:tc>
                  <a:txBody>
                    <a:bodyPr/>
                    <a:lstStyle/>
                    <a:p>
                      <a:r>
                        <a:rPr sz="1875" b="1">
                          <a:solidFill>
                            <a:srgbClr val="68D7BA"/>
                          </a:solidFill>
                          <a:latin typeface="Arial"/>
                          <a:ea typeface="Arial"/>
                          <a:cs typeface="Arial"/>
                        </a:rPr>
                        <a:t>Comment excerpt</a:t>
                      </a:r>
                    </a:p>
                  </a:txBody>
                  <a:tcPr>
                    <a:lnL w="9525">
                      <a:solidFill>
                        <a:srgbClr val="35445A"/>
                      </a:solidFill>
                      <a:prstDash val="soli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tc>
                  <a:txBody>
                    <a:bodyPr/>
                    <a:lstStyle/>
                    <a:p>
                      <a:r>
                        <a:rPr sz="1875" b="1">
                          <a:solidFill>
                            <a:srgbClr val="68D7BA"/>
                          </a:solidFill>
                          <a:latin typeface="Arial"/>
                          <a:ea typeface="Arial"/>
                          <a:cs typeface="Arial"/>
                        </a:rPr>
                        <a:t>Human</a:t>
                      </a:r>
                    </a:p>
                  </a:txBody>
                  <a:tcPr>
                    <a:lnL w="9525" cap="flat" cmpd="sng" algn="ctr">
                      <a:solidFill>
                        <a:srgbClr val="35445A"/>
                      </a:solidFill>
                      <a:prstDash val="solid"/>
                      <a:round/>
                      <a:headEnd type="none" w="med" len="med"/>
                      <a:tailEnd type="none" w="med" len="me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tc>
                  <a:txBody>
                    <a:bodyPr/>
                    <a:lstStyle/>
                    <a:p>
                      <a:r>
                        <a:rPr sz="1875" b="1">
                          <a:solidFill>
                            <a:srgbClr val="68D7BA"/>
                          </a:solidFill>
                          <a:latin typeface="Arial"/>
                          <a:ea typeface="Arial"/>
                          <a:cs typeface="Arial"/>
                        </a:rPr>
                        <a:t>Model</a:t>
                      </a:r>
                    </a:p>
                  </a:txBody>
                  <a:tcPr>
                    <a:lnL w="9525" cap="flat" cmpd="sng" algn="ctr">
                      <a:solidFill>
                        <a:srgbClr val="35445A"/>
                      </a:solidFill>
                      <a:prstDash val="solid"/>
                      <a:round/>
                      <a:headEnd type="none" w="med" len="med"/>
                      <a:tailEnd type="none" w="med" len="me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tc>
                  <a:txBody>
                    <a:bodyPr/>
                    <a:lstStyle/>
                    <a:p>
                      <a:r>
                        <a:rPr sz="1875" b="1">
                          <a:solidFill>
                            <a:srgbClr val="68D7BA"/>
                          </a:solidFill>
                          <a:latin typeface="Arial"/>
                          <a:ea typeface="Arial"/>
                          <a:cs typeface="Arial"/>
                        </a:rPr>
                        <a:t>Interpretation</a:t>
                      </a:r>
                    </a:p>
                  </a:txBody>
                  <a:tcPr>
                    <a:lnL w="9525" cap="flat" cmpd="sng" algn="ctr">
                      <a:solidFill>
                        <a:srgbClr val="35445A"/>
                      </a:solidFill>
                      <a:prstDash val="solid"/>
                      <a:round/>
                      <a:headEnd type="none" w="med" len="med"/>
                      <a:tailEnd type="none" w="med" len="me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extLst>
                  <a:ext uri="{0D108BD9-81ED-4DB2-BD59-A6C34878D82A}">
                    <a16:rowId xmlns:a16="http://schemas.microsoft.com/office/drawing/2014/main" val="10000"/>
                  </a:ext>
                </a:extLst>
              </a:tr>
              <a:tr h="964406">
                <a:tc>
                  <a:txBody>
                    <a:bodyPr/>
                    <a:lstStyle/>
                    <a:p>
                      <a:r>
                        <a:rPr sz="1875" b="0">
                          <a:solidFill>
                            <a:srgbClr val="F3F6FB"/>
                          </a:solidFill>
                          <a:latin typeface="Arial"/>
                          <a:ea typeface="Arial"/>
                          <a:cs typeface="Arial"/>
                        </a:rPr>
                        <a:t>“Technology gonna save us!!”</a:t>
                      </a:r>
                    </a:p>
                  </a:txBody>
                  <a:tcPr>
                    <a:lnL w="9525">
                      <a:solidFill>
                        <a:srgbClr val="35445A"/>
                      </a:solidFill>
                      <a:prstDash val="soli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Neutral</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Positive</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Sarcasm changes the apparent praise.</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extLst>
                  <a:ext uri="{0D108BD9-81ED-4DB2-BD59-A6C34878D82A}">
                    <a16:rowId xmlns:a16="http://schemas.microsoft.com/office/drawing/2014/main" val="10001"/>
                  </a:ext>
                </a:extLst>
              </a:tr>
              <a:tr h="964406">
                <a:tc>
                  <a:txBody>
                    <a:bodyPr/>
                    <a:lstStyle/>
                    <a:p>
                      <a:r>
                        <a:rPr sz="1875" b="0">
                          <a:solidFill>
                            <a:srgbClr val="F3F6FB"/>
                          </a:solidFill>
                          <a:latin typeface="Arial"/>
                          <a:ea typeface="Arial"/>
                          <a:cs typeface="Arial"/>
                        </a:rPr>
                        <a:t>“Hit it with your high intensity water hose”</a:t>
                      </a:r>
                    </a:p>
                  </a:txBody>
                  <a:tcPr>
                    <a:lnL w="9525">
                      <a:solidFill>
                        <a:srgbClr val="35445A"/>
                      </a:solidFill>
                      <a:prstDash val="soli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Negative</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Positive</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Approval of damage targets the vehicle.</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extLst>
                  <a:ext uri="{0D108BD9-81ED-4DB2-BD59-A6C34878D82A}">
                    <a16:rowId xmlns:a16="http://schemas.microsoft.com/office/drawing/2014/main" val="10002"/>
                  </a:ext>
                </a:extLst>
              </a:tr>
              <a:tr h="964406">
                <a:tc>
                  <a:txBody>
                    <a:bodyPr/>
                    <a:lstStyle/>
                    <a:p>
                      <a:r>
                        <a:rPr sz="1875" b="0">
                          <a:solidFill>
                            <a:srgbClr val="F3F6FB"/>
                          </a:solidFill>
                          <a:latin typeface="Arial"/>
                          <a:ea typeface="Arial"/>
                          <a:cs typeface="Arial"/>
                        </a:rPr>
                        <a:t>“Talk about a smart car...”</a:t>
                      </a:r>
                    </a:p>
                  </a:txBody>
                  <a:tcPr>
                    <a:lnL w="9525">
                      <a:solidFill>
                        <a:srgbClr val="35445A"/>
                      </a:solidFill>
                      <a:prstDash val="soli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Negative</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Positive</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“Smart” mocks the vehicle’s behaviour.</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extLst>
                  <a:ext uri="{0D108BD9-81ED-4DB2-BD59-A6C34878D82A}">
                    <a16:rowId xmlns:a16="http://schemas.microsoft.com/office/drawing/2014/main" val="10003"/>
                  </a:ext>
                </a:extLst>
              </a:tr>
            </a:tbl>
          </a:graphicData>
        </a:graphic>
      </p:graphicFrame>
      <p:sp>
        <p:nvSpPr>
          <p:cNvPr id="4" name="Rechthoek 3">
            <a:extLst>
              <a:ext uri="{FF2B5EF4-FFF2-40B4-BE49-F238E27FC236}">
                <a16:creationId xmlns:a16="http://schemas.microsoft.com/office/drawing/2014/main" id="{39B092EC-0E2C-43F6-8A36-BC3DFE41F2D5}"/>
              </a:ext>
            </a:extLst>
          </p:cNvPr>
          <p:cNvSpPr>
            <a:spLocks noGrp="1"/>
          </p:cNvSpPr>
          <p:nvPr/>
        </p:nvSpPr>
        <p:spPr>
          <a:xfrm>
            <a:off x="609600" y="5895975"/>
            <a:ext cx="10763250" cy="600075"/>
          </a:xfrm>
          <a:prstGeom prst="rect">
            <a:avLst/>
          </a:prstGeom>
          <a:noFill/>
          <a:ln w="0">
            <a:noFill/>
          </a:ln>
        </p:spPr>
        <p:txBody>
          <a:bodyPr wrap="square" lIns="0" tIns="0" rIns="0" bIns="0" anchor="t">
            <a:noAutofit/>
          </a:bodyPr>
          <a:lstStyle>
            <a:defPPr>
              <a:defRPr sz="2025" b="0">
                <a:solidFill>
                  <a:srgbClr val="AABBD0"/>
                </a:solidFill>
                <a:latin typeface="Arial"/>
                <a:ea typeface="Arial"/>
                <a:cs typeface="Arial"/>
              </a:defRPr>
            </a:defPPr>
          </a:lstStyle>
          <a:p>
            <a:pPr>
              <a:buNone/>
              <a:defRPr sz="2025" b="0">
                <a:solidFill>
                  <a:srgbClr val="AABBD0"/>
                </a:solidFill>
                <a:latin typeface="Arial"/>
                <a:ea typeface="Arial"/>
                <a:cs typeface="Arial"/>
              </a:defRPr>
            </a:pPr>
            <a:r>
              <a:rPr sz="2025" b="0">
                <a:solidFill>
                  <a:srgbClr val="AABBD0"/>
                </a:solidFill>
                <a:latin typeface="Arial"/>
                <a:ea typeface="Arial"/>
                <a:cs typeface="Arial"/>
              </a:rPr>
              <a:t>General positive language can express a negative attitude toward the technology.</a:t>
            </a:r>
          </a:p>
        </p:txBody>
      </p:sp>
    </p:spTree>
    <p:extLst>
      <p:ext uri="{BB962C8B-B14F-4D97-AF65-F5344CB8AC3E}">
        <p14:creationId xmlns:p14="http://schemas.microsoft.com/office/powerpoint/2010/main" val="1654238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53D092DE-B786-4FCA-911E-A7A6D5CB4377}"/>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Research limits and responsible use</a:t>
            </a:r>
          </a:p>
        </p:txBody>
      </p:sp>
      <p:sp>
        <p:nvSpPr>
          <p:cNvPr id="2" name="Rechthoek 1">
            <a:extLst>
              <a:ext uri="{FF2B5EF4-FFF2-40B4-BE49-F238E27FC236}">
                <a16:creationId xmlns:a16="http://schemas.microsoft.com/office/drawing/2014/main" id="{FBE0FE77-FBB5-41F3-8B5C-2A5A01EBC2C4}"/>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11</a:t>
            </a:r>
          </a:p>
        </p:txBody>
      </p:sp>
      <p:sp>
        <p:nvSpPr>
          <p:cNvPr id="3" name="Rechthoek 2">
            <a:extLst>
              <a:ext uri="{FF2B5EF4-FFF2-40B4-BE49-F238E27FC236}">
                <a16:creationId xmlns:a16="http://schemas.microsoft.com/office/drawing/2014/main" id="{637E3DD0-F3A9-4AD9-8A9A-AC8A5EA4657F}"/>
              </a:ext>
            </a:extLst>
          </p:cNvPr>
          <p:cNvSpPr>
            <a:spLocks noGrp="1"/>
          </p:cNvSpPr>
          <p:nvPr/>
        </p:nvSpPr>
        <p:spPr>
          <a:xfrm>
            <a:off x="609600" y="1666875"/>
            <a:ext cx="5048250" cy="419100"/>
          </a:xfrm>
          <a:prstGeom prst="rect">
            <a:avLst/>
          </a:prstGeom>
          <a:noFill/>
          <a:ln w="0">
            <a:noFill/>
          </a:ln>
        </p:spPr>
        <p:txBody>
          <a:bodyPr wrap="square" lIns="0" tIns="0" rIns="0" bIns="0" anchor="t">
            <a:noAutofit/>
          </a:bodyPr>
          <a:lstStyle>
            <a:defPPr>
              <a:defRPr sz="2325" b="1">
                <a:solidFill>
                  <a:srgbClr val="68D7BA"/>
                </a:solidFill>
                <a:latin typeface="Arial"/>
                <a:ea typeface="Arial"/>
                <a:cs typeface="Arial"/>
              </a:defRPr>
            </a:defPPr>
          </a:lstStyle>
          <a:p>
            <a:pPr>
              <a:buNone/>
              <a:defRPr sz="2325" b="1">
                <a:solidFill>
                  <a:srgbClr val="68D7BA"/>
                </a:solidFill>
                <a:latin typeface="Arial"/>
                <a:ea typeface="Arial"/>
                <a:cs typeface="Arial"/>
              </a:defRPr>
            </a:pPr>
            <a:r>
              <a:rPr sz="2325" b="1">
                <a:solidFill>
                  <a:srgbClr val="68D7BA"/>
                </a:solidFill>
                <a:latin typeface="Arial"/>
                <a:ea typeface="Arial"/>
                <a:cs typeface="Arial"/>
              </a:rPr>
              <a:t>Interpretation</a:t>
            </a:r>
          </a:p>
        </p:txBody>
      </p:sp>
      <p:sp>
        <p:nvSpPr>
          <p:cNvPr id="4" name="Rechthoek 3">
            <a:extLst>
              <a:ext uri="{FF2B5EF4-FFF2-40B4-BE49-F238E27FC236}">
                <a16:creationId xmlns:a16="http://schemas.microsoft.com/office/drawing/2014/main" id="{661AE1E1-7ABB-4E00-8522-92C318291FB2}"/>
              </a:ext>
            </a:extLst>
          </p:cNvPr>
          <p:cNvSpPr>
            <a:spLocks noGrp="1"/>
          </p:cNvSpPr>
          <p:nvPr/>
        </p:nvSpPr>
        <p:spPr>
          <a:xfrm>
            <a:off x="609600" y="2381250"/>
            <a:ext cx="5048250" cy="95250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buNone/>
              <a:defRPr sz="2100" b="0">
                <a:solidFill>
                  <a:srgbClr val="F3F6FB"/>
                </a:solidFill>
                <a:latin typeface="Arial"/>
                <a:ea typeface="Arial"/>
                <a:cs typeface="Arial"/>
              </a:defRPr>
            </a:pPr>
            <a:r>
              <a:rPr sz="2100" b="0">
                <a:solidFill>
                  <a:srgbClr val="F3F6FB"/>
                </a:solidFill>
                <a:latin typeface="Arial"/>
                <a:ea typeface="Arial"/>
                <a:cs typeface="Arial"/>
              </a:rPr>
              <a:t>Selected videos and commenters</a:t>
            </a:r>
          </a:p>
          <a:p>
            <a:pPr>
              <a:buNone/>
              <a:defRPr sz="2100" b="0">
                <a:solidFill>
                  <a:srgbClr val="F3F6FB"/>
                </a:solidFill>
                <a:latin typeface="Arial"/>
                <a:ea typeface="Arial"/>
                <a:cs typeface="Arial"/>
              </a:defRPr>
            </a:pPr>
            <a:r>
              <a:rPr sz="2100" b="0">
                <a:solidFill>
                  <a:srgbClr val="F3F6FB"/>
                </a:solidFill>
                <a:latin typeface="Arial"/>
                <a:ea typeface="Arial"/>
                <a:cs typeface="Arial"/>
              </a:rPr>
              <a:t>limit generalisation.</a:t>
            </a:r>
          </a:p>
        </p:txBody>
      </p:sp>
      <p:sp>
        <p:nvSpPr>
          <p:cNvPr id="5" name="Rechthoek 4">
            <a:extLst>
              <a:ext uri="{FF2B5EF4-FFF2-40B4-BE49-F238E27FC236}">
                <a16:creationId xmlns:a16="http://schemas.microsoft.com/office/drawing/2014/main" id="{CD582C8F-1E91-4690-8483-E03A018885F7}"/>
              </a:ext>
            </a:extLst>
          </p:cNvPr>
          <p:cNvSpPr>
            <a:spLocks noGrp="1"/>
          </p:cNvSpPr>
          <p:nvPr/>
        </p:nvSpPr>
        <p:spPr>
          <a:xfrm>
            <a:off x="609600" y="3448050"/>
            <a:ext cx="5048250" cy="95250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buNone/>
              <a:defRPr sz="2100" b="0">
                <a:solidFill>
                  <a:srgbClr val="F3F6FB"/>
                </a:solidFill>
                <a:latin typeface="Arial"/>
                <a:ea typeface="Arial"/>
                <a:cs typeface="Arial"/>
              </a:defRPr>
            </a:pPr>
            <a:r>
              <a:rPr sz="2100" b="0">
                <a:solidFill>
                  <a:srgbClr val="F3F6FB"/>
                </a:solidFill>
                <a:latin typeface="Arial"/>
                <a:ea typeface="Arial"/>
                <a:cs typeface="Arial"/>
              </a:rPr>
              <a:t>Small hourly groups amplify</a:t>
            </a:r>
          </a:p>
          <a:p>
            <a:pPr>
              <a:buNone/>
              <a:defRPr sz="2100" b="0">
                <a:solidFill>
                  <a:srgbClr val="F3F6FB"/>
                </a:solidFill>
                <a:latin typeface="Arial"/>
                <a:ea typeface="Arial"/>
                <a:cs typeface="Arial"/>
              </a:defRPr>
            </a:pPr>
            <a:r>
              <a:rPr sz="2100" b="0">
                <a:solidFill>
                  <a:srgbClr val="F3F6FB"/>
                </a:solidFill>
                <a:latin typeface="Arial"/>
                <a:ea typeface="Arial"/>
                <a:cs typeface="Arial"/>
              </a:rPr>
              <a:t>changes in percentages.</a:t>
            </a:r>
          </a:p>
        </p:txBody>
      </p:sp>
      <p:sp>
        <p:nvSpPr>
          <p:cNvPr id="6" name="Rechthoek 5">
            <a:extLst>
              <a:ext uri="{FF2B5EF4-FFF2-40B4-BE49-F238E27FC236}">
                <a16:creationId xmlns:a16="http://schemas.microsoft.com/office/drawing/2014/main" id="{C065FE88-D8FE-4F45-B31C-8498A86A4682}"/>
              </a:ext>
            </a:extLst>
          </p:cNvPr>
          <p:cNvSpPr>
            <a:spLocks noGrp="1"/>
          </p:cNvSpPr>
          <p:nvPr/>
        </p:nvSpPr>
        <p:spPr>
          <a:xfrm>
            <a:off x="609600" y="4514850"/>
            <a:ext cx="5048250" cy="95250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buNone/>
              <a:defRPr sz="2100" b="0">
                <a:solidFill>
                  <a:srgbClr val="F3F6FB"/>
                </a:solidFill>
                <a:latin typeface="Arial"/>
                <a:ea typeface="Arial"/>
                <a:cs typeface="Arial"/>
              </a:defRPr>
            </a:pPr>
            <a:r>
              <a:rPr sz="2100" b="0">
                <a:solidFill>
                  <a:srgbClr val="F3F6FB"/>
                </a:solidFill>
                <a:latin typeface="Arial"/>
                <a:ea typeface="Arial"/>
                <a:cs typeface="Arial"/>
              </a:rPr>
              <a:t>Sarcasm, language and topic</a:t>
            </a:r>
          </a:p>
          <a:p>
            <a:pPr>
              <a:buNone/>
              <a:defRPr sz="2100" b="0">
                <a:solidFill>
                  <a:srgbClr val="F3F6FB"/>
                </a:solidFill>
                <a:latin typeface="Arial"/>
                <a:ea typeface="Arial"/>
                <a:cs typeface="Arial"/>
              </a:defRPr>
            </a:pPr>
            <a:r>
              <a:rPr sz="2100" b="0">
                <a:solidFill>
                  <a:srgbClr val="F3F6FB"/>
                </a:solidFill>
                <a:latin typeface="Arial"/>
                <a:ea typeface="Arial"/>
                <a:cs typeface="Arial"/>
              </a:rPr>
              <a:t>relevance can change the meaning.</a:t>
            </a:r>
          </a:p>
        </p:txBody>
      </p:sp>
      <p:sp>
        <p:nvSpPr>
          <p:cNvPr id="7" name="Rechthoek 6">
            <a:extLst>
              <a:ext uri="{FF2B5EF4-FFF2-40B4-BE49-F238E27FC236}">
                <a16:creationId xmlns:a16="http://schemas.microsoft.com/office/drawing/2014/main" id="{37AD0F20-0A0C-4810-B14C-17D0B6985E69}"/>
              </a:ext>
            </a:extLst>
          </p:cNvPr>
          <p:cNvSpPr>
            <a:spLocks noGrp="1"/>
          </p:cNvSpPr>
          <p:nvPr/>
        </p:nvSpPr>
        <p:spPr>
          <a:xfrm>
            <a:off x="6572250" y="1666875"/>
            <a:ext cx="5010150" cy="419100"/>
          </a:xfrm>
          <a:prstGeom prst="rect">
            <a:avLst/>
          </a:prstGeom>
          <a:noFill/>
          <a:ln w="0">
            <a:noFill/>
          </a:ln>
        </p:spPr>
        <p:txBody>
          <a:bodyPr wrap="square" lIns="0" tIns="0" rIns="0" bIns="0" anchor="t">
            <a:noAutofit/>
          </a:bodyPr>
          <a:lstStyle>
            <a:defPPr>
              <a:defRPr sz="2325" b="1">
                <a:solidFill>
                  <a:srgbClr val="68D7BA"/>
                </a:solidFill>
                <a:latin typeface="Arial"/>
                <a:ea typeface="Arial"/>
                <a:cs typeface="Arial"/>
              </a:defRPr>
            </a:defPPr>
          </a:lstStyle>
          <a:p>
            <a:pPr>
              <a:buNone/>
              <a:defRPr sz="2325" b="1">
                <a:solidFill>
                  <a:srgbClr val="68D7BA"/>
                </a:solidFill>
                <a:latin typeface="Arial"/>
                <a:ea typeface="Arial"/>
                <a:cs typeface="Arial"/>
              </a:defRPr>
            </a:pPr>
            <a:r>
              <a:rPr sz="2325" b="1">
                <a:solidFill>
                  <a:srgbClr val="68D7BA"/>
                </a:solidFill>
                <a:latin typeface="Arial"/>
                <a:ea typeface="Arial"/>
                <a:cs typeface="Arial"/>
              </a:rPr>
              <a:t>Responsible operation</a:t>
            </a:r>
          </a:p>
        </p:txBody>
      </p:sp>
      <p:sp>
        <p:nvSpPr>
          <p:cNvPr id="8" name="Rechthoek 7">
            <a:extLst>
              <a:ext uri="{FF2B5EF4-FFF2-40B4-BE49-F238E27FC236}">
                <a16:creationId xmlns:a16="http://schemas.microsoft.com/office/drawing/2014/main" id="{02E4F9DB-0566-4C07-89D6-6FC7018329BB}"/>
              </a:ext>
            </a:extLst>
          </p:cNvPr>
          <p:cNvSpPr>
            <a:spLocks noGrp="1"/>
          </p:cNvSpPr>
          <p:nvPr/>
        </p:nvSpPr>
        <p:spPr>
          <a:xfrm>
            <a:off x="6572250" y="2381250"/>
            <a:ext cx="5010150" cy="95250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buNone/>
              <a:defRPr sz="2100" b="0">
                <a:solidFill>
                  <a:srgbClr val="F3F6FB"/>
                </a:solidFill>
                <a:latin typeface="Arial"/>
                <a:ea typeface="Arial"/>
                <a:cs typeface="Arial"/>
              </a:defRPr>
            </a:pPr>
            <a:r>
              <a:rPr sz="2100" b="0">
                <a:solidFill>
                  <a:srgbClr val="F3F6FB"/>
                </a:solidFill>
                <a:latin typeface="Arial"/>
                <a:ea typeface="Arial"/>
                <a:cs typeface="Arial"/>
              </a:rPr>
              <a:t>Traceable comment text requires</a:t>
            </a:r>
          </a:p>
          <a:p>
            <a:pPr>
              <a:buNone/>
              <a:defRPr sz="2100" b="0">
                <a:solidFill>
                  <a:srgbClr val="F3F6FB"/>
                </a:solidFill>
                <a:latin typeface="Arial"/>
                <a:ea typeface="Arial"/>
                <a:cs typeface="Arial"/>
              </a:defRPr>
            </a:pPr>
            <a:r>
              <a:rPr sz="2100" b="0">
                <a:solidFill>
                  <a:srgbClr val="F3F6FB"/>
                </a:solidFill>
                <a:latin typeface="Arial"/>
                <a:ea typeface="Arial"/>
                <a:cs typeface="Arial"/>
              </a:rPr>
              <a:t>careful handling of personal details.</a:t>
            </a:r>
          </a:p>
        </p:txBody>
      </p:sp>
      <p:sp>
        <p:nvSpPr>
          <p:cNvPr id="9" name="Rechthoek 8">
            <a:extLst>
              <a:ext uri="{FF2B5EF4-FFF2-40B4-BE49-F238E27FC236}">
                <a16:creationId xmlns:a16="http://schemas.microsoft.com/office/drawing/2014/main" id="{0CC4B20F-BB04-4E89-B262-8A6E7921DEB7}"/>
              </a:ext>
            </a:extLst>
          </p:cNvPr>
          <p:cNvSpPr>
            <a:spLocks noGrp="1"/>
          </p:cNvSpPr>
          <p:nvPr/>
        </p:nvSpPr>
        <p:spPr>
          <a:xfrm>
            <a:off x="6572250" y="3448050"/>
            <a:ext cx="5010150" cy="95250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buNone/>
              <a:defRPr sz="2100" b="0">
                <a:solidFill>
                  <a:srgbClr val="F3F6FB"/>
                </a:solidFill>
                <a:latin typeface="Arial"/>
                <a:ea typeface="Arial"/>
                <a:cs typeface="Arial"/>
              </a:defRPr>
            </a:pPr>
            <a:r>
              <a:rPr sz="2100" b="0">
                <a:solidFill>
                  <a:srgbClr val="F3F6FB"/>
                </a:solidFill>
                <a:latin typeface="Arial"/>
                <a:ea typeface="Arial"/>
                <a:cs typeface="Arial"/>
              </a:rPr>
              <a:t>Stored predictions remain separate</a:t>
            </a:r>
          </a:p>
          <a:p>
            <a:pPr>
              <a:buNone/>
              <a:defRPr sz="2100" b="0">
                <a:solidFill>
                  <a:srgbClr val="F3F6FB"/>
                </a:solidFill>
                <a:latin typeface="Arial"/>
                <a:ea typeface="Arial"/>
                <a:cs typeface="Arial"/>
              </a:defRPr>
            </a:pPr>
            <a:r>
              <a:rPr sz="2100" b="0">
                <a:solidFill>
                  <a:srgbClr val="F3F6FB"/>
                </a:solidFill>
                <a:latin typeface="Arial"/>
                <a:ea typeface="Arial"/>
                <a:cs typeface="Arial"/>
              </a:rPr>
              <a:t>from original collected comments.</a:t>
            </a:r>
          </a:p>
        </p:txBody>
      </p:sp>
      <p:sp>
        <p:nvSpPr>
          <p:cNvPr id="10" name="Rechthoek 9">
            <a:extLst>
              <a:ext uri="{FF2B5EF4-FFF2-40B4-BE49-F238E27FC236}">
                <a16:creationId xmlns:a16="http://schemas.microsoft.com/office/drawing/2014/main" id="{0D548C18-27C9-4843-A21D-40FD01FEA5DF}"/>
              </a:ext>
            </a:extLst>
          </p:cNvPr>
          <p:cNvSpPr>
            <a:spLocks noGrp="1"/>
          </p:cNvSpPr>
          <p:nvPr/>
        </p:nvSpPr>
        <p:spPr>
          <a:xfrm>
            <a:off x="6572250" y="4514850"/>
            <a:ext cx="5010150" cy="952500"/>
          </a:xfrm>
          <a:prstGeom prst="rect">
            <a:avLst/>
          </a:prstGeom>
          <a:noFill/>
          <a:ln w="0">
            <a:noFill/>
          </a:ln>
        </p:spPr>
        <p:txBody>
          <a:bodyPr wrap="square" lIns="0" tIns="0" rIns="0" bIns="0" anchor="t">
            <a:noAutofit/>
          </a:bodyPr>
          <a:lstStyle>
            <a:defPPr>
              <a:defRPr sz="2100" b="0">
                <a:solidFill>
                  <a:srgbClr val="F3F6FB"/>
                </a:solidFill>
                <a:latin typeface="Arial"/>
                <a:ea typeface="Arial"/>
                <a:cs typeface="Arial"/>
              </a:defRPr>
            </a:defPPr>
          </a:lstStyle>
          <a:p>
            <a:pPr>
              <a:buNone/>
              <a:defRPr sz="2100" b="0">
                <a:solidFill>
                  <a:srgbClr val="F3F6FB"/>
                </a:solidFill>
                <a:latin typeface="Arial"/>
                <a:ea typeface="Arial"/>
                <a:cs typeface="Arial"/>
              </a:defRPr>
            </a:pPr>
            <a:r>
              <a:rPr sz="2100" b="0">
                <a:solidFill>
                  <a:srgbClr val="F3F6FB"/>
                </a:solidFill>
                <a:latin typeface="Arial"/>
                <a:ea typeface="Arial"/>
                <a:cs typeface="Arial"/>
              </a:rPr>
              <a:t>Model caching reduces downloads.</a:t>
            </a:r>
          </a:p>
          <a:p>
            <a:pPr>
              <a:buNone/>
              <a:defRPr sz="2100" b="0">
                <a:solidFill>
                  <a:srgbClr val="F3F6FB"/>
                </a:solidFill>
                <a:latin typeface="Arial"/>
                <a:ea typeface="Arial"/>
                <a:cs typeface="Arial"/>
              </a:defRPr>
            </a:pPr>
            <a:r>
              <a:rPr sz="2100" b="0">
                <a:solidFill>
                  <a:srgbClr val="F3F6FB"/>
                </a:solidFill>
                <a:latin typeface="Arial"/>
                <a:ea typeface="Arial"/>
                <a:cs typeface="Arial"/>
              </a:rPr>
              <a:t>Repeated full inference still uses compute.</a:t>
            </a:r>
          </a:p>
        </p:txBody>
      </p:sp>
      <p:sp>
        <p:nvSpPr>
          <p:cNvPr id="11" name="Rechthoek 10">
            <a:extLst>
              <a:ext uri="{FF2B5EF4-FFF2-40B4-BE49-F238E27FC236}">
                <a16:creationId xmlns:a16="http://schemas.microsoft.com/office/drawing/2014/main" id="{B439C4F6-3259-463D-BFD2-C03155D57398}"/>
              </a:ext>
            </a:extLst>
          </p:cNvPr>
          <p:cNvSpPr>
            <a:spLocks noGrp="1"/>
          </p:cNvSpPr>
          <p:nvPr/>
        </p:nvSpPr>
        <p:spPr>
          <a:xfrm>
            <a:off x="609600" y="6057900"/>
            <a:ext cx="10763250" cy="323850"/>
          </a:xfrm>
          <a:prstGeom prst="rect">
            <a:avLst/>
          </a:prstGeom>
          <a:noFill/>
          <a:ln w="0">
            <a:noFill/>
          </a:ln>
        </p:spPr>
        <p:txBody>
          <a:bodyPr wrap="square" lIns="0" tIns="0" rIns="0" bIns="0" anchor="t">
            <a:noAutofit/>
          </a:bodyPr>
          <a:lstStyle>
            <a:defPPr>
              <a:defRPr sz="1725" b="0">
                <a:solidFill>
                  <a:srgbClr val="AABBD0"/>
                </a:solidFill>
                <a:latin typeface="Arial"/>
                <a:ea typeface="Arial"/>
                <a:cs typeface="Arial"/>
              </a:defRPr>
            </a:defPPr>
          </a:lstStyle>
          <a:p>
            <a:pPr>
              <a:buNone/>
              <a:defRPr sz="1725" b="0">
                <a:solidFill>
                  <a:srgbClr val="AABBD0"/>
                </a:solidFill>
                <a:latin typeface="Arial"/>
                <a:ea typeface="Arial"/>
                <a:cs typeface="Arial"/>
              </a:defRPr>
            </a:pPr>
            <a:r>
              <a:rPr sz="1725" b="0">
                <a:solidFill>
                  <a:srgbClr val="AABBD0"/>
                </a:solidFill>
                <a:latin typeface="Arial"/>
                <a:ea typeface="Arial"/>
                <a:cs typeface="Arial"/>
              </a:rPr>
              <a:t>The dashboard supports inspection. It cannot establish vehicle safety or public consensus.</a:t>
            </a:r>
          </a:p>
        </p:txBody>
      </p:sp>
    </p:spTree>
    <p:extLst>
      <p:ext uri="{BB962C8B-B14F-4D97-AF65-F5344CB8AC3E}">
        <p14:creationId xmlns:p14="http://schemas.microsoft.com/office/powerpoint/2010/main" val="1062445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6E3EADA-B090-4EF5-923C-70CAEA5BC4F9}"/>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Ethical reflection</a:t>
            </a:r>
          </a:p>
        </p:txBody>
      </p:sp>
      <p:sp>
        <p:nvSpPr>
          <p:cNvPr id="2" name="Rechthoek 1">
            <a:extLst>
              <a:ext uri="{FF2B5EF4-FFF2-40B4-BE49-F238E27FC236}">
                <a16:creationId xmlns:a16="http://schemas.microsoft.com/office/drawing/2014/main" id="{8EF8D08B-DAF4-4304-9B3D-63BBEE36A7D8}"/>
              </a:ext>
            </a:extLst>
          </p:cNvPr>
          <p:cNvSpPr>
            <a:spLocks noGrp="1"/>
          </p:cNvSpPr>
          <p:nvPr/>
        </p:nvSpPr>
        <p:spPr>
          <a:xfrm>
            <a:off x="609600" y="1676400"/>
            <a:ext cx="3190875" cy="838200"/>
          </a:xfrm>
          <a:prstGeom prst="rect">
            <a:avLst/>
          </a:prstGeom>
          <a:noFill/>
          <a:ln w="0">
            <a:noFill/>
          </a:ln>
        </p:spPr>
        <p:txBody>
          <a:bodyPr wrap="square" lIns="0" tIns="0" rIns="0" bIns="0" anchor="t">
            <a:noAutofit/>
          </a:bodyPr>
          <a:lstStyle>
            <a:defPPr>
              <a:defRPr sz="2175" b="1">
                <a:solidFill>
                  <a:srgbClr val="68D7BA"/>
                </a:solidFill>
                <a:latin typeface="Arial"/>
                <a:ea typeface="Arial"/>
                <a:cs typeface="Arial"/>
              </a:defRPr>
            </a:defPPr>
          </a:lstStyle>
          <a:p>
            <a:pPr>
              <a:buNone/>
              <a:defRPr sz="2175" b="1">
                <a:solidFill>
                  <a:srgbClr val="68D7BA"/>
                </a:solidFill>
                <a:latin typeface="Arial"/>
                <a:ea typeface="Arial"/>
                <a:cs typeface="Arial"/>
              </a:defRPr>
            </a:pPr>
            <a:r>
              <a:rPr sz="2175" b="1">
                <a:solidFill>
                  <a:srgbClr val="68D7BA"/>
                </a:solidFill>
                <a:latin typeface="Arial"/>
                <a:ea typeface="Arial"/>
                <a:cs typeface="Arial"/>
              </a:rPr>
              <a:t>Privacy</a:t>
            </a:r>
          </a:p>
        </p:txBody>
      </p:sp>
      <p:sp>
        <p:nvSpPr>
          <p:cNvPr id="3" name="Rechthoek 2">
            <a:extLst>
              <a:ext uri="{FF2B5EF4-FFF2-40B4-BE49-F238E27FC236}">
                <a16:creationId xmlns:a16="http://schemas.microsoft.com/office/drawing/2014/main" id="{F6F27B4E-6383-434A-B001-6D628B46859E}"/>
              </a:ext>
            </a:extLst>
          </p:cNvPr>
          <p:cNvSpPr>
            <a:spLocks noGrp="1"/>
          </p:cNvSpPr>
          <p:nvPr/>
        </p:nvSpPr>
        <p:spPr>
          <a:xfrm>
            <a:off x="4191000" y="1676400"/>
            <a:ext cx="7391400" cy="971550"/>
          </a:xfrm>
          <a:prstGeom prst="rect">
            <a:avLst/>
          </a:prstGeom>
          <a:noFill/>
          <a:ln w="0">
            <a:noFill/>
          </a:ln>
        </p:spPr>
        <p:txBody>
          <a:bodyPr wrap="square" lIns="0" tIns="0" rIns="0" bIns="0" anchor="t">
            <a:noAutofit/>
          </a:bodyPr>
          <a:lstStyle>
            <a:defPPr>
              <a:defRPr sz="1950" b="0">
                <a:solidFill>
                  <a:srgbClr val="F3F6FB"/>
                </a:solidFill>
                <a:latin typeface="Arial"/>
                <a:ea typeface="Arial"/>
                <a:cs typeface="Arial"/>
              </a:defRPr>
            </a:defPPr>
          </a:lstStyle>
          <a:p>
            <a:pPr>
              <a:buNone/>
              <a:defRPr sz="1950" b="0">
                <a:solidFill>
                  <a:srgbClr val="F3F6FB"/>
                </a:solidFill>
                <a:latin typeface="Arial"/>
                <a:ea typeface="Arial"/>
                <a:cs typeface="Arial"/>
              </a:defRPr>
            </a:pPr>
            <a:r>
              <a:rPr sz="1950" b="0">
                <a:solidFill>
                  <a:srgbClr val="F3F6FB"/>
                </a:solidFill>
                <a:latin typeface="Arial"/>
                <a:ea typeface="Arial"/>
                <a:cs typeface="Arial"/>
              </a:rPr>
              <a:t>Traceable text may expose commenters to unwanted attention. I omit author profiles, keep data private and limit shared excerpts.</a:t>
            </a:r>
          </a:p>
        </p:txBody>
      </p:sp>
      <p:sp>
        <p:nvSpPr>
          <p:cNvPr id="4" name="Rechthoek 3">
            <a:extLst>
              <a:ext uri="{FF2B5EF4-FFF2-40B4-BE49-F238E27FC236}">
                <a16:creationId xmlns:a16="http://schemas.microsoft.com/office/drawing/2014/main" id="{177C8C8D-334A-417D-AA45-B14CA66D1E93}"/>
              </a:ext>
            </a:extLst>
          </p:cNvPr>
          <p:cNvSpPr>
            <a:spLocks noGrp="1"/>
          </p:cNvSpPr>
          <p:nvPr/>
        </p:nvSpPr>
        <p:spPr>
          <a:xfrm>
            <a:off x="609600" y="2733675"/>
            <a:ext cx="3190875" cy="838200"/>
          </a:xfrm>
          <a:prstGeom prst="rect">
            <a:avLst/>
          </a:prstGeom>
          <a:noFill/>
          <a:ln w="0">
            <a:noFill/>
          </a:ln>
        </p:spPr>
        <p:txBody>
          <a:bodyPr wrap="square" lIns="0" tIns="0" rIns="0" bIns="0" anchor="t">
            <a:noAutofit/>
          </a:bodyPr>
          <a:lstStyle>
            <a:defPPr>
              <a:defRPr sz="2175" b="1">
                <a:solidFill>
                  <a:srgbClr val="68D7BA"/>
                </a:solidFill>
                <a:latin typeface="Arial"/>
                <a:ea typeface="Arial"/>
                <a:cs typeface="Arial"/>
              </a:defRPr>
            </a:defPPr>
          </a:lstStyle>
          <a:p>
            <a:pPr>
              <a:buNone/>
              <a:defRPr sz="2175" b="1">
                <a:solidFill>
                  <a:srgbClr val="68D7BA"/>
                </a:solidFill>
                <a:latin typeface="Arial"/>
                <a:ea typeface="Arial"/>
                <a:cs typeface="Arial"/>
              </a:defRPr>
            </a:pPr>
            <a:r>
              <a:rPr sz="2175" b="1">
                <a:solidFill>
                  <a:srgbClr val="68D7BA"/>
                </a:solidFill>
                <a:latin typeface="Arial"/>
                <a:ea typeface="Arial"/>
                <a:cs typeface="Arial"/>
              </a:rPr>
              <a:t>Bias and exclusion</a:t>
            </a:r>
          </a:p>
        </p:txBody>
      </p:sp>
      <p:sp>
        <p:nvSpPr>
          <p:cNvPr id="5" name="Rechthoek 4">
            <a:extLst>
              <a:ext uri="{FF2B5EF4-FFF2-40B4-BE49-F238E27FC236}">
                <a16:creationId xmlns:a16="http://schemas.microsoft.com/office/drawing/2014/main" id="{CDED63B4-8FA9-477C-99D7-7FDCA41473AD}"/>
              </a:ext>
            </a:extLst>
          </p:cNvPr>
          <p:cNvSpPr>
            <a:spLocks noGrp="1"/>
          </p:cNvSpPr>
          <p:nvPr/>
        </p:nvSpPr>
        <p:spPr>
          <a:xfrm>
            <a:off x="4191000" y="2733675"/>
            <a:ext cx="7391400" cy="971550"/>
          </a:xfrm>
          <a:prstGeom prst="rect">
            <a:avLst/>
          </a:prstGeom>
          <a:noFill/>
          <a:ln w="0">
            <a:noFill/>
          </a:ln>
        </p:spPr>
        <p:txBody>
          <a:bodyPr wrap="square" lIns="0" tIns="0" rIns="0" bIns="0" anchor="t">
            <a:noAutofit/>
          </a:bodyPr>
          <a:lstStyle>
            <a:defPPr>
              <a:defRPr sz="1950" b="0">
                <a:solidFill>
                  <a:srgbClr val="F3F6FB"/>
                </a:solidFill>
                <a:latin typeface="Arial"/>
                <a:ea typeface="Arial"/>
                <a:cs typeface="Arial"/>
              </a:defRPr>
            </a:defPPr>
          </a:lstStyle>
          <a:p>
            <a:pPr>
              <a:buNone/>
              <a:defRPr sz="1950" b="0">
                <a:solidFill>
                  <a:srgbClr val="F3F6FB"/>
                </a:solidFill>
                <a:latin typeface="Arial"/>
                <a:ea typeface="Arial"/>
                <a:cs typeface="Arial"/>
              </a:defRPr>
            </a:pPr>
            <a:r>
              <a:rPr sz="1950" b="0">
                <a:solidFill>
                  <a:srgbClr val="F3F6FB"/>
                </a:solidFill>
                <a:latin typeface="Arial"/>
                <a:ea typeface="Arial"/>
                <a:cs typeface="Arial"/>
              </a:rPr>
              <a:t>A selected English sample may overstate opposition. I disclose sampling limits; broader sampling is a next step.</a:t>
            </a:r>
          </a:p>
        </p:txBody>
      </p:sp>
      <p:sp>
        <p:nvSpPr>
          <p:cNvPr id="6" name="Rechthoek 5">
            <a:extLst>
              <a:ext uri="{FF2B5EF4-FFF2-40B4-BE49-F238E27FC236}">
                <a16:creationId xmlns:a16="http://schemas.microsoft.com/office/drawing/2014/main" id="{C38791C0-FF82-464E-88B8-4A71B1E82353}"/>
              </a:ext>
            </a:extLst>
          </p:cNvPr>
          <p:cNvSpPr>
            <a:spLocks noGrp="1"/>
          </p:cNvSpPr>
          <p:nvPr/>
        </p:nvSpPr>
        <p:spPr>
          <a:xfrm>
            <a:off x="609600" y="3790950"/>
            <a:ext cx="3190875" cy="838200"/>
          </a:xfrm>
          <a:prstGeom prst="rect">
            <a:avLst/>
          </a:prstGeom>
          <a:noFill/>
          <a:ln w="0">
            <a:noFill/>
          </a:ln>
        </p:spPr>
        <p:txBody>
          <a:bodyPr wrap="square" lIns="0" tIns="0" rIns="0" bIns="0" anchor="t">
            <a:noAutofit/>
          </a:bodyPr>
          <a:lstStyle>
            <a:defPPr>
              <a:defRPr sz="2175" b="1">
                <a:solidFill>
                  <a:srgbClr val="68D7BA"/>
                </a:solidFill>
                <a:latin typeface="Arial"/>
                <a:ea typeface="Arial"/>
                <a:cs typeface="Arial"/>
              </a:defRPr>
            </a:defPPr>
          </a:lstStyle>
          <a:p>
            <a:pPr>
              <a:buNone/>
              <a:defRPr sz="2175" b="1">
                <a:solidFill>
                  <a:srgbClr val="68D7BA"/>
                </a:solidFill>
                <a:latin typeface="Arial"/>
                <a:ea typeface="Arial"/>
                <a:cs typeface="Arial"/>
              </a:defRPr>
            </a:pPr>
            <a:r>
              <a:rPr sz="2175" b="1">
                <a:solidFill>
                  <a:srgbClr val="68D7BA"/>
                </a:solidFill>
                <a:latin typeface="Arial"/>
                <a:ea typeface="Arial"/>
                <a:cs typeface="Arial"/>
              </a:rPr>
              <a:t>Responsibility for errors</a:t>
            </a:r>
          </a:p>
        </p:txBody>
      </p:sp>
      <p:sp>
        <p:nvSpPr>
          <p:cNvPr id="7" name="Rechthoek 6">
            <a:extLst>
              <a:ext uri="{FF2B5EF4-FFF2-40B4-BE49-F238E27FC236}">
                <a16:creationId xmlns:a16="http://schemas.microsoft.com/office/drawing/2014/main" id="{5BAB723C-13B8-414C-875C-A83F3E4DDBD4}"/>
              </a:ext>
            </a:extLst>
          </p:cNvPr>
          <p:cNvSpPr>
            <a:spLocks noGrp="1"/>
          </p:cNvSpPr>
          <p:nvPr/>
        </p:nvSpPr>
        <p:spPr>
          <a:xfrm>
            <a:off x="4191000" y="3790950"/>
            <a:ext cx="7391400" cy="971550"/>
          </a:xfrm>
          <a:prstGeom prst="rect">
            <a:avLst/>
          </a:prstGeom>
          <a:noFill/>
          <a:ln w="0">
            <a:noFill/>
          </a:ln>
        </p:spPr>
        <p:txBody>
          <a:bodyPr wrap="square" lIns="0" tIns="0" rIns="0" bIns="0" anchor="t">
            <a:noAutofit/>
          </a:bodyPr>
          <a:lstStyle>
            <a:defPPr>
              <a:defRPr sz="1950" b="0">
                <a:solidFill>
                  <a:srgbClr val="F3F6FB"/>
                </a:solidFill>
                <a:latin typeface="Arial"/>
                <a:ea typeface="Arial"/>
                <a:cs typeface="Arial"/>
              </a:defRPr>
            </a:defPPr>
          </a:lstStyle>
          <a:p>
            <a:pPr>
              <a:buNone/>
              <a:defRPr sz="1950" b="0">
                <a:solidFill>
                  <a:srgbClr val="F3F6FB"/>
                </a:solidFill>
                <a:latin typeface="Arial"/>
                <a:ea typeface="Arial"/>
                <a:cs typeface="Arial"/>
              </a:defRPr>
            </a:pPr>
            <a:r>
              <a:rPr sz="1950" b="0">
                <a:solidFill>
                  <a:srgbClr val="F3F6FB"/>
                </a:solidFill>
                <a:latin typeface="Arial"/>
                <a:ea typeface="Arial"/>
                <a:cs typeface="Arial"/>
              </a:rPr>
              <a:t>Wrong labels can mislead transport research. Source comments and human evaluation support review; a second annotator is needed.</a:t>
            </a:r>
          </a:p>
        </p:txBody>
      </p:sp>
      <p:sp>
        <p:nvSpPr>
          <p:cNvPr id="8" name="Rechthoek 7">
            <a:extLst>
              <a:ext uri="{FF2B5EF4-FFF2-40B4-BE49-F238E27FC236}">
                <a16:creationId xmlns:a16="http://schemas.microsoft.com/office/drawing/2014/main" id="{07848BB5-A1ED-497A-BD35-19C4DCF40B20}"/>
              </a:ext>
            </a:extLst>
          </p:cNvPr>
          <p:cNvSpPr>
            <a:spLocks noGrp="1"/>
          </p:cNvSpPr>
          <p:nvPr/>
        </p:nvSpPr>
        <p:spPr>
          <a:xfrm>
            <a:off x="609600" y="4848225"/>
            <a:ext cx="3190875" cy="838200"/>
          </a:xfrm>
          <a:prstGeom prst="rect">
            <a:avLst/>
          </a:prstGeom>
          <a:noFill/>
          <a:ln w="0">
            <a:noFill/>
          </a:ln>
        </p:spPr>
        <p:txBody>
          <a:bodyPr wrap="square" lIns="0" tIns="0" rIns="0" bIns="0" anchor="t">
            <a:noAutofit/>
          </a:bodyPr>
          <a:lstStyle>
            <a:defPPr>
              <a:defRPr sz="2175" b="1">
                <a:solidFill>
                  <a:srgbClr val="68D7BA"/>
                </a:solidFill>
                <a:latin typeface="Arial"/>
                <a:ea typeface="Arial"/>
                <a:cs typeface="Arial"/>
              </a:defRPr>
            </a:defPPr>
          </a:lstStyle>
          <a:p>
            <a:pPr>
              <a:buNone/>
              <a:defRPr sz="2175" b="1">
                <a:solidFill>
                  <a:srgbClr val="68D7BA"/>
                </a:solidFill>
                <a:latin typeface="Arial"/>
                <a:ea typeface="Arial"/>
                <a:cs typeface="Arial"/>
              </a:defRPr>
            </a:pPr>
            <a:r>
              <a:rPr sz="2175" b="1">
                <a:solidFill>
                  <a:srgbClr val="68D7BA"/>
                </a:solidFill>
                <a:latin typeface="Arial"/>
                <a:ea typeface="Arial"/>
                <a:cs typeface="Arial"/>
              </a:rPr>
              <a:t>Computational cost</a:t>
            </a:r>
          </a:p>
        </p:txBody>
      </p:sp>
      <p:sp>
        <p:nvSpPr>
          <p:cNvPr id="9" name="Rechthoek 8">
            <a:extLst>
              <a:ext uri="{FF2B5EF4-FFF2-40B4-BE49-F238E27FC236}">
                <a16:creationId xmlns:a16="http://schemas.microsoft.com/office/drawing/2014/main" id="{8731E5E6-B51A-43F4-A956-F5084647D3C2}"/>
              </a:ext>
            </a:extLst>
          </p:cNvPr>
          <p:cNvSpPr>
            <a:spLocks noGrp="1"/>
          </p:cNvSpPr>
          <p:nvPr/>
        </p:nvSpPr>
        <p:spPr>
          <a:xfrm>
            <a:off x="4191000" y="4848225"/>
            <a:ext cx="7391400" cy="971550"/>
          </a:xfrm>
          <a:prstGeom prst="rect">
            <a:avLst/>
          </a:prstGeom>
          <a:noFill/>
          <a:ln w="0">
            <a:noFill/>
          </a:ln>
        </p:spPr>
        <p:txBody>
          <a:bodyPr wrap="square" lIns="0" tIns="0" rIns="0" bIns="0" anchor="t">
            <a:noAutofit/>
          </a:bodyPr>
          <a:lstStyle>
            <a:defPPr>
              <a:defRPr sz="1950" b="0">
                <a:solidFill>
                  <a:srgbClr val="F3F6FB"/>
                </a:solidFill>
                <a:latin typeface="Arial"/>
                <a:ea typeface="Arial"/>
                <a:cs typeface="Arial"/>
              </a:defRPr>
            </a:defPPr>
          </a:lstStyle>
          <a:p>
            <a:pPr>
              <a:buNone/>
              <a:defRPr sz="1950" b="0">
                <a:solidFill>
                  <a:srgbClr val="F3F6FB"/>
                </a:solidFill>
                <a:latin typeface="Arial"/>
                <a:ea typeface="Arial"/>
                <a:cs typeface="Arial"/>
              </a:defRPr>
            </a:pPr>
            <a:r>
              <a:rPr sz="1950" b="0">
                <a:solidFill>
                  <a:srgbClr val="F3F6FB"/>
                </a:solidFill>
                <a:latin typeface="Arial"/>
                <a:ea typeface="Arial"/>
                <a:cs typeface="Arial"/>
              </a:rPr>
              <a:t>Full reanalysis repeats computation. Weight caching reduces downloads; reusing validated predictions is a next step.</a:t>
            </a:r>
          </a:p>
        </p:txBody>
      </p:sp>
      <p:sp>
        <p:nvSpPr>
          <p:cNvPr id="10" name="Rechthoek 9">
            <a:extLst>
              <a:ext uri="{FF2B5EF4-FFF2-40B4-BE49-F238E27FC236}">
                <a16:creationId xmlns:a16="http://schemas.microsoft.com/office/drawing/2014/main" id="{DC130623-FDD4-49BE-B96A-824786BAEE84}"/>
              </a:ext>
            </a:extLst>
          </p:cNvPr>
          <p:cNvSpPr>
            <a:spLocks noGrp="1"/>
          </p:cNvSpPr>
          <p:nvPr/>
        </p:nvSpPr>
        <p:spPr>
          <a:xfrm>
            <a:off x="609600" y="6115050"/>
            <a:ext cx="10763250" cy="323850"/>
          </a:xfrm>
          <a:prstGeom prst="rect">
            <a:avLst/>
          </a:prstGeom>
          <a:noFill/>
          <a:ln w="0">
            <a:noFill/>
          </a:ln>
        </p:spPr>
        <p:txBody>
          <a:bodyPr wrap="square" lIns="0" tIns="0" rIns="0" bIns="0" anchor="t">
            <a:noAutofit/>
          </a:bodyPr>
          <a:lstStyle>
            <a:defPPr>
              <a:defRPr sz="1725" b="0">
                <a:solidFill>
                  <a:srgbClr val="AABBD0"/>
                </a:solidFill>
                <a:latin typeface="Arial"/>
                <a:ea typeface="Arial"/>
                <a:cs typeface="Arial"/>
              </a:defRPr>
            </a:defPPr>
          </a:lstStyle>
          <a:p>
            <a:pPr>
              <a:buNone/>
              <a:defRPr sz="1725" b="0">
                <a:solidFill>
                  <a:srgbClr val="AABBD0"/>
                </a:solidFill>
                <a:latin typeface="Arial"/>
                <a:ea typeface="Arial"/>
                <a:cs typeface="Arial"/>
              </a:defRPr>
            </a:pPr>
            <a:r>
              <a:rPr sz="1725" b="0">
                <a:solidFill>
                  <a:srgbClr val="AABBD0"/>
                </a:solidFill>
                <a:latin typeface="Arial"/>
                <a:ea typeface="Arial"/>
                <a:cs typeface="Arial"/>
              </a:rPr>
              <a:t>Automated labels support research. People remain responsible for their interpretation.</a:t>
            </a:r>
          </a:p>
        </p:txBody>
      </p:sp>
      <p:sp>
        <p:nvSpPr>
          <p:cNvPr id="11" name="Rechthoek 10">
            <a:extLst>
              <a:ext uri="{FF2B5EF4-FFF2-40B4-BE49-F238E27FC236}">
                <a16:creationId xmlns:a16="http://schemas.microsoft.com/office/drawing/2014/main" id="{7257385F-5439-4439-9C57-DB771A20CF8E}"/>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12</a:t>
            </a:r>
          </a:p>
        </p:txBody>
      </p:sp>
    </p:spTree>
    <p:extLst>
      <p:ext uri="{BB962C8B-B14F-4D97-AF65-F5344CB8AC3E}">
        <p14:creationId xmlns:p14="http://schemas.microsoft.com/office/powerpoint/2010/main" val="1539808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8" name="Rechthoek 7">
            <a:extLst>
              <a:ext uri="{FF2B5EF4-FFF2-40B4-BE49-F238E27FC236}">
                <a16:creationId xmlns:a16="http://schemas.microsoft.com/office/drawing/2014/main" id="{FC84753D-E84F-4547-8234-2ACC2310C378}"/>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Conclusions and next steps</a:t>
            </a:r>
          </a:p>
        </p:txBody>
      </p:sp>
      <p:sp>
        <p:nvSpPr>
          <p:cNvPr id="2" name="Rechthoek 1">
            <a:extLst>
              <a:ext uri="{FF2B5EF4-FFF2-40B4-BE49-F238E27FC236}">
                <a16:creationId xmlns:a16="http://schemas.microsoft.com/office/drawing/2014/main" id="{F0D2ACB2-B2E2-4B65-AB8E-AF73A7D47F43}"/>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13</a:t>
            </a:r>
          </a:p>
        </p:txBody>
      </p:sp>
      <p:sp>
        <p:nvSpPr>
          <p:cNvPr id="3" name="Rechthoek 2">
            <a:extLst>
              <a:ext uri="{FF2B5EF4-FFF2-40B4-BE49-F238E27FC236}">
                <a16:creationId xmlns:a16="http://schemas.microsoft.com/office/drawing/2014/main" id="{C6CF8F00-5D4F-42D4-85E6-2A19203831D8}"/>
              </a:ext>
            </a:extLst>
          </p:cNvPr>
          <p:cNvSpPr>
            <a:spLocks noGrp="1"/>
          </p:cNvSpPr>
          <p:nvPr/>
        </p:nvSpPr>
        <p:spPr>
          <a:xfrm>
            <a:off x="609600" y="1638300"/>
            <a:ext cx="10763250" cy="1285875"/>
          </a:xfrm>
          <a:prstGeom prst="rect">
            <a:avLst/>
          </a:prstGeom>
          <a:noFill/>
          <a:ln w="0">
            <a:noFill/>
          </a:ln>
        </p:spPr>
        <p:txBody>
          <a:bodyPr wrap="square" lIns="0" tIns="0" rIns="0" bIns="0" anchor="t">
            <a:noAutofit/>
          </a:bodyPr>
          <a:lstStyle>
            <a:defPPr>
              <a:defRPr sz="3600" b="1">
                <a:solidFill>
                  <a:srgbClr val="68D7BA"/>
                </a:solidFill>
                <a:latin typeface="Arial"/>
                <a:ea typeface="Arial"/>
                <a:cs typeface="Arial"/>
              </a:defRPr>
            </a:defPPr>
          </a:lstStyle>
          <a:p>
            <a:pPr>
              <a:buNone/>
              <a:defRPr sz="3600" b="1">
                <a:solidFill>
                  <a:srgbClr val="68D7BA"/>
                </a:solidFill>
                <a:latin typeface="Arial"/>
                <a:ea typeface="Arial"/>
                <a:cs typeface="Arial"/>
              </a:defRPr>
            </a:pPr>
            <a:r>
              <a:rPr sz="3600" b="1">
                <a:solidFill>
                  <a:srgbClr val="68D7BA"/>
                </a:solidFill>
                <a:latin typeface="Arial"/>
                <a:ea typeface="Arial"/>
                <a:cs typeface="Arial"/>
              </a:rPr>
              <a:t>A working pipeline makes</a:t>
            </a:r>
          </a:p>
          <a:p>
            <a:pPr>
              <a:buNone/>
              <a:defRPr sz="3600" b="1">
                <a:solidFill>
                  <a:srgbClr val="68D7BA"/>
                </a:solidFill>
                <a:latin typeface="Arial"/>
                <a:ea typeface="Arial"/>
                <a:cs typeface="Arial"/>
              </a:defRPr>
            </a:pPr>
            <a:r>
              <a:rPr sz="3600" b="1">
                <a:solidFill>
                  <a:srgbClr val="68D7BA"/>
                </a:solidFill>
                <a:latin typeface="Arial"/>
                <a:ea typeface="Arial"/>
                <a:cs typeface="Arial"/>
              </a:rPr>
              <a:t>comments easier to explore</a:t>
            </a:r>
          </a:p>
        </p:txBody>
      </p:sp>
      <p:sp>
        <p:nvSpPr>
          <p:cNvPr id="4" name="Rechthoek 3">
            <a:extLst>
              <a:ext uri="{FF2B5EF4-FFF2-40B4-BE49-F238E27FC236}">
                <a16:creationId xmlns:a16="http://schemas.microsoft.com/office/drawing/2014/main" id="{72C8E497-0315-4D1D-B324-63BBF2A9080E}"/>
              </a:ext>
            </a:extLst>
          </p:cNvPr>
          <p:cNvSpPr>
            <a:spLocks noGrp="1"/>
          </p:cNvSpPr>
          <p:nvPr/>
        </p:nvSpPr>
        <p:spPr>
          <a:xfrm>
            <a:off x="609600" y="3333750"/>
            <a:ext cx="10763250" cy="1028700"/>
          </a:xfrm>
          <a:prstGeom prst="rect">
            <a:avLst/>
          </a:prstGeom>
          <a:noFill/>
          <a:ln w="0">
            <a:noFill/>
          </a:ln>
        </p:spPr>
        <p:txBody>
          <a:bodyPr wrap="square" lIns="0" tIns="0" rIns="0" bIns="0" anchor="t">
            <a:noAutofit/>
          </a:bodyPr>
          <a:lstStyle>
            <a:defPPr>
              <a:defRPr sz="2250" b="0">
                <a:solidFill>
                  <a:srgbClr val="F3F6FB"/>
                </a:solidFill>
                <a:latin typeface="Arial"/>
                <a:ea typeface="Arial"/>
                <a:cs typeface="Arial"/>
              </a:defRPr>
            </a:defPPr>
          </a:lstStyle>
          <a:p>
            <a:pPr>
              <a:buNone/>
              <a:defRPr sz="2250" b="0">
                <a:solidFill>
                  <a:srgbClr val="F3F6FB"/>
                </a:solidFill>
                <a:latin typeface="Arial"/>
                <a:ea typeface="Arial"/>
                <a:cs typeface="Arial"/>
              </a:defRPr>
            </a:pPr>
            <a:r>
              <a:rPr sz="2250" b="0">
                <a:solidFill>
                  <a:srgbClr val="F3F6FB"/>
                </a:solidFill>
                <a:latin typeface="Arial"/>
                <a:ea typeface="Arial"/>
                <a:cs typeface="Arial"/>
              </a:rPr>
              <a:t>RoBERTa performs better than VADER on the labelled sample.</a:t>
            </a:r>
          </a:p>
          <a:p>
            <a:pPr>
              <a:buNone/>
              <a:defRPr sz="2250" b="0">
                <a:solidFill>
                  <a:srgbClr val="F3F6FB"/>
                </a:solidFill>
                <a:latin typeface="Arial"/>
                <a:ea typeface="Arial"/>
                <a:cs typeface="Arial"/>
              </a:defRPr>
            </a:pPr>
            <a:r>
              <a:rPr sz="2250" b="0">
                <a:solidFill>
                  <a:srgbClr val="F3F6FB"/>
                </a:solidFill>
                <a:latin typeface="Arial"/>
                <a:ea typeface="Arial"/>
                <a:cs typeface="Arial"/>
              </a:rPr>
              <a:t>Its errors still make human inspection necessary.</a:t>
            </a:r>
          </a:p>
        </p:txBody>
      </p:sp>
      <p:sp>
        <p:nvSpPr>
          <p:cNvPr id="5" name="Rechthoek 4">
            <a:extLst>
              <a:ext uri="{FF2B5EF4-FFF2-40B4-BE49-F238E27FC236}">
                <a16:creationId xmlns:a16="http://schemas.microsoft.com/office/drawing/2014/main" id="{E6AEA7FC-3F48-487A-8ADB-B0A645C8527E}"/>
              </a:ext>
            </a:extLst>
          </p:cNvPr>
          <p:cNvSpPr>
            <a:spLocks noGrp="1"/>
          </p:cNvSpPr>
          <p:nvPr/>
        </p:nvSpPr>
        <p:spPr>
          <a:xfrm>
            <a:off x="609600" y="4762500"/>
            <a:ext cx="10763250" cy="419100"/>
          </a:xfrm>
          <a:prstGeom prst="rect">
            <a:avLst/>
          </a:prstGeom>
          <a:noFill/>
          <a:ln w="0">
            <a:noFill/>
          </a:ln>
        </p:spPr>
        <p:txBody>
          <a:bodyPr wrap="square" lIns="0" tIns="0" rIns="0" bIns="0" anchor="t">
            <a:noAutofit/>
          </a:bodyPr>
          <a:lstStyle>
            <a:defPPr>
              <a:defRPr sz="2250" b="1">
                <a:solidFill>
                  <a:srgbClr val="F3F6FB"/>
                </a:solidFill>
                <a:latin typeface="Arial"/>
                <a:ea typeface="Arial"/>
                <a:cs typeface="Arial"/>
              </a:defRPr>
            </a:defPPr>
          </a:lstStyle>
          <a:p>
            <a:pPr>
              <a:buNone/>
              <a:defRPr sz="2250" b="1">
                <a:solidFill>
                  <a:srgbClr val="F3F6FB"/>
                </a:solidFill>
                <a:latin typeface="Arial"/>
                <a:ea typeface="Arial"/>
                <a:cs typeface="Arial"/>
              </a:defRPr>
            </a:pPr>
            <a:r>
              <a:rPr sz="2250" b="1">
                <a:solidFill>
                  <a:srgbClr val="F3F6FB"/>
                </a:solidFill>
                <a:latin typeface="Arial"/>
                <a:ea typeface="Arial"/>
                <a:cs typeface="Arial"/>
              </a:rPr>
              <a:t>Next steps</a:t>
            </a:r>
          </a:p>
        </p:txBody>
      </p:sp>
      <p:sp>
        <p:nvSpPr>
          <p:cNvPr id="6" name="Rechthoek 5">
            <a:extLst>
              <a:ext uri="{FF2B5EF4-FFF2-40B4-BE49-F238E27FC236}">
                <a16:creationId xmlns:a16="http://schemas.microsoft.com/office/drawing/2014/main" id="{5835FFA7-999D-42ED-B59B-D2F5B0859736}"/>
              </a:ext>
            </a:extLst>
          </p:cNvPr>
          <p:cNvSpPr>
            <a:spLocks noGrp="1"/>
          </p:cNvSpPr>
          <p:nvPr/>
        </p:nvSpPr>
        <p:spPr>
          <a:xfrm>
            <a:off x="609600" y="5295900"/>
            <a:ext cx="10763250" cy="552450"/>
          </a:xfrm>
          <a:prstGeom prst="rect">
            <a:avLst/>
          </a:prstGeom>
          <a:noFill/>
          <a:ln w="0">
            <a:noFill/>
          </a:ln>
        </p:spPr>
        <p:txBody>
          <a:bodyPr wrap="square" lIns="0" tIns="0" rIns="0" bIns="0" anchor="t">
            <a:noAutofit/>
          </a:bodyPr>
          <a:lstStyle>
            <a:defPPr>
              <a:defRPr sz="2100" b="0">
                <a:solidFill>
                  <a:srgbClr val="AABBD0"/>
                </a:solidFill>
                <a:latin typeface="Arial"/>
                <a:ea typeface="Arial"/>
                <a:cs typeface="Arial"/>
              </a:defRPr>
            </a:defPPr>
          </a:lstStyle>
          <a:p>
            <a:pPr>
              <a:buNone/>
              <a:defRPr sz="2100" b="0">
                <a:solidFill>
                  <a:srgbClr val="AABBD0"/>
                </a:solidFill>
                <a:latin typeface="Arial"/>
                <a:ea typeface="Arial"/>
                <a:cs typeface="Arial"/>
              </a:defRPr>
            </a:pPr>
            <a:r>
              <a:rPr sz="2100" b="0">
                <a:solidFill>
                  <a:srgbClr val="AABBD0"/>
                </a:solidFill>
                <a:latin typeface="Arial"/>
                <a:ea typeface="Arial"/>
                <a:cs typeface="Arial"/>
              </a:rPr>
              <a:t>Broader sampling, independent annotators and relevance classification</a:t>
            </a:r>
          </a:p>
        </p:txBody>
      </p:sp>
      <p:sp>
        <p:nvSpPr>
          <p:cNvPr id="7" name="Rechthoek 6">
            <a:extLst>
              <a:ext uri="{FF2B5EF4-FFF2-40B4-BE49-F238E27FC236}">
                <a16:creationId xmlns:a16="http://schemas.microsoft.com/office/drawing/2014/main" id="{AA2936C7-91F7-44A8-8264-FA455E2960E2}"/>
              </a:ext>
            </a:extLst>
          </p:cNvPr>
          <p:cNvSpPr>
            <a:spLocks noGrp="1"/>
          </p:cNvSpPr>
          <p:nvPr/>
        </p:nvSpPr>
        <p:spPr>
          <a:xfrm>
            <a:off x="609600" y="6096000"/>
            <a:ext cx="10763250" cy="323850"/>
          </a:xfrm>
          <a:prstGeom prst="rect">
            <a:avLst/>
          </a:prstGeom>
          <a:noFill/>
          <a:ln w="0">
            <a:noFill/>
          </a:ln>
        </p:spPr>
        <p:txBody>
          <a:bodyPr wrap="square" lIns="0" tIns="0" rIns="0" bIns="0" anchor="t">
            <a:noAutofit/>
          </a:bodyPr>
          <a:lstStyle>
            <a:defPPr>
              <a:defRPr sz="1875" b="0">
                <a:solidFill>
                  <a:srgbClr val="68D7BA"/>
                </a:solidFill>
                <a:latin typeface="Arial"/>
                <a:ea typeface="Arial"/>
                <a:cs typeface="Arial"/>
              </a:defRPr>
            </a:defPPr>
          </a:lstStyle>
          <a:p>
            <a:pPr>
              <a:buNone/>
              <a:defRPr sz="1875" b="0">
                <a:solidFill>
                  <a:srgbClr val="68D7BA"/>
                </a:solidFill>
                <a:latin typeface="Arial"/>
                <a:ea typeface="Arial"/>
                <a:cs typeface="Arial"/>
              </a:defRPr>
            </a:pPr>
            <a:r>
              <a:rPr sz="1875" b="0">
                <a:solidFill>
                  <a:srgbClr val="68D7BA"/>
                </a:solidFill>
                <a:latin typeface="Arial"/>
                <a:ea typeface="Arial"/>
                <a:cs typeface="Arial"/>
              </a:rPr>
              <a:t>Live demonstration: </a:t>
            </a:r>
            <a:r>
              <a:rPr sz="1875" b="0">
                <a:solidFill>
                  <a:srgbClr val="68D7BA"/>
                </a:solidFill>
                <a:latin typeface="Arial"/>
                <a:ea typeface="Arial"/>
                <a:cs typeface="Arial"/>
                <a:hlinkClick r:id="rId3"/>
              </a:rPr>
              <a:t>localhost:3101</a:t>
            </a:r>
          </a:p>
        </p:txBody>
      </p:sp>
    </p:spTree>
    <p:extLst>
      <p:ext uri="{BB962C8B-B14F-4D97-AF65-F5344CB8AC3E}">
        <p14:creationId xmlns:p14="http://schemas.microsoft.com/office/powerpoint/2010/main" val="2075610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422"/>
        </a:solidFill>
        <a:effectLst/>
      </p:bgPr>
    </p:bg>
    <p:spTree>
      <p:nvGrpSpPr>
        <p:cNvPr id="1" name=""/>
        <p:cNvGrpSpPr/>
        <p:nvPr/>
      </p:nvGrpSpPr>
      <p:grpSpPr>
        <a:xfrm>
          <a:off x="0" y="0"/>
          <a:ext cx="0" cy="0"/>
          <a:chOff x="0" y="0"/>
          <a:chExt cx="0" cy="0"/>
        </a:xfrm>
      </p:grpSpPr>
      <p:sp>
        <p:nvSpPr>
          <p:cNvPr id="8" name="Rechthoek 7">
            <a:extLst>
              <a:ext uri="{FF2B5EF4-FFF2-40B4-BE49-F238E27FC236}">
                <a16:creationId xmlns:a16="http://schemas.microsoft.com/office/drawing/2014/main" id="{8DA1F910-78D8-4E24-9164-B8BB0CBD3D5E}"/>
              </a:ext>
            </a:extLst>
          </p:cNvPr>
          <p:cNvSpPr>
            <a:spLocks noGrp="1"/>
          </p:cNvSpPr>
          <p:nvPr/>
        </p:nvSpPr>
        <p:spPr>
          <a:xfrm>
            <a:off x="609600" y="457200"/>
            <a:ext cx="10972800" cy="857250"/>
          </a:xfrm>
          <a:prstGeom prst="rect">
            <a:avLst/>
          </a:prstGeom>
          <a:noFill/>
          <a:ln w="0">
            <a:noFill/>
          </a:ln>
        </p:spPr>
        <p:txBody>
          <a:bodyPr wrap="square" lIns="0" tIns="0" rIns="0" bIns="0" anchor="t">
            <a:noAutofit/>
          </a:bodyPr>
          <a:lstStyle>
            <a:defPPr>
              <a:defRPr sz="3300" b="0">
                <a:solidFill>
                  <a:srgbClr val="F3F6FB"/>
                </a:solidFill>
                <a:latin typeface="Arial"/>
                <a:ea typeface="Arial"/>
                <a:cs typeface="Arial"/>
              </a:defRPr>
            </a:defPPr>
          </a:lstStyle>
          <a:p>
            <a:pPr>
              <a:buNone/>
              <a:defRPr sz="3300" b="0">
                <a:solidFill>
                  <a:srgbClr val="F3F6FB"/>
                </a:solidFill>
                <a:latin typeface="Arial"/>
                <a:ea typeface="Arial"/>
                <a:cs typeface="Arial"/>
              </a:defRPr>
            </a:pPr>
            <a:r>
              <a:rPr sz="3300" b="0">
                <a:solidFill>
                  <a:srgbClr val="F3F6FB"/>
                </a:solidFill>
                <a:latin typeface="Arial"/>
                <a:ea typeface="Arial"/>
                <a:cs typeface="Arial"/>
              </a:rPr>
              <a:t>Appendix: confusion matrices</a:t>
            </a:r>
          </a:p>
        </p:txBody>
      </p:sp>
      <p:sp>
        <p:nvSpPr>
          <p:cNvPr id="2" name="Rechthoek 1">
            <a:extLst>
              <a:ext uri="{FF2B5EF4-FFF2-40B4-BE49-F238E27FC236}">
                <a16:creationId xmlns:a16="http://schemas.microsoft.com/office/drawing/2014/main" id="{C08450CA-1EA3-4814-8849-AED60922E4F2}"/>
              </a:ext>
            </a:extLst>
          </p:cNvPr>
          <p:cNvSpPr>
            <a:spLocks noGrp="1"/>
          </p:cNvSpPr>
          <p:nvPr/>
        </p:nvSpPr>
        <p:spPr>
          <a:xfrm>
            <a:off x="11049000" y="6400800"/>
            <a:ext cx="533400" cy="238125"/>
          </a:xfrm>
          <a:prstGeom prst="rect">
            <a:avLst/>
          </a:prstGeom>
          <a:noFill/>
          <a:ln w="0">
            <a:noFill/>
          </a:ln>
        </p:spPr>
        <p:txBody>
          <a:bodyPr wrap="square" lIns="0" tIns="0" rIns="0" bIns="0" anchor="t">
            <a:noAutofit/>
          </a:bodyPr>
          <a:lstStyle>
            <a:defPPr>
              <a:defRPr sz="1350" b="0">
                <a:solidFill>
                  <a:srgbClr val="AABBD0"/>
                </a:solidFill>
                <a:latin typeface="Arial"/>
                <a:ea typeface="Arial"/>
                <a:cs typeface="Arial"/>
              </a:defRPr>
            </a:defPPr>
          </a:lstStyle>
          <a:p>
            <a:pPr>
              <a:buNone/>
              <a:defRPr sz="1350" b="0">
                <a:solidFill>
                  <a:srgbClr val="AABBD0"/>
                </a:solidFill>
                <a:latin typeface="Arial"/>
                <a:ea typeface="Arial"/>
                <a:cs typeface="Arial"/>
              </a:defRPr>
            </a:pPr>
            <a:r>
              <a:rPr sz="1350" b="0">
                <a:solidFill>
                  <a:srgbClr val="AABBD0"/>
                </a:solidFill>
                <a:latin typeface="Arial"/>
                <a:ea typeface="Arial"/>
                <a:cs typeface="Arial"/>
              </a:rPr>
              <a:t>14</a:t>
            </a:r>
          </a:p>
        </p:txBody>
      </p:sp>
      <p:sp>
        <p:nvSpPr>
          <p:cNvPr id="3" name="Rechthoek 2">
            <a:extLst>
              <a:ext uri="{FF2B5EF4-FFF2-40B4-BE49-F238E27FC236}">
                <a16:creationId xmlns:a16="http://schemas.microsoft.com/office/drawing/2014/main" id="{06E6A4A7-B0BA-40A1-9846-90561CBB0A80}"/>
              </a:ext>
            </a:extLst>
          </p:cNvPr>
          <p:cNvSpPr>
            <a:spLocks noGrp="1"/>
          </p:cNvSpPr>
          <p:nvPr/>
        </p:nvSpPr>
        <p:spPr>
          <a:xfrm>
            <a:off x="609600" y="1685925"/>
            <a:ext cx="5143500" cy="419100"/>
          </a:xfrm>
          <a:prstGeom prst="rect">
            <a:avLst/>
          </a:prstGeom>
          <a:noFill/>
          <a:ln w="0">
            <a:noFill/>
          </a:ln>
        </p:spPr>
        <p:txBody>
          <a:bodyPr wrap="square" lIns="0" tIns="0" rIns="0" bIns="0" anchor="t">
            <a:noAutofit/>
          </a:bodyPr>
          <a:lstStyle>
            <a:defPPr>
              <a:defRPr sz="2400" b="1">
                <a:solidFill>
                  <a:srgbClr val="68D7BA"/>
                </a:solidFill>
                <a:latin typeface="Arial"/>
                <a:ea typeface="Arial"/>
                <a:cs typeface="Arial"/>
              </a:defRPr>
            </a:defPPr>
          </a:lstStyle>
          <a:p>
            <a:pPr>
              <a:buNone/>
              <a:defRPr sz="2400" b="1">
                <a:solidFill>
                  <a:srgbClr val="68D7BA"/>
                </a:solidFill>
                <a:latin typeface="Arial"/>
                <a:ea typeface="Arial"/>
                <a:cs typeface="Arial"/>
              </a:defRPr>
            </a:pPr>
            <a:r>
              <a:rPr sz="2400" b="1">
                <a:solidFill>
                  <a:srgbClr val="68D7BA"/>
                </a:solidFill>
                <a:latin typeface="Arial"/>
                <a:ea typeface="Arial"/>
                <a:cs typeface="Arial"/>
              </a:rPr>
              <a:t>RoBERTa</a:t>
            </a:r>
          </a:p>
        </p:txBody>
      </p:sp>
      <p:sp>
        <p:nvSpPr>
          <p:cNvPr id="4" name="Rechthoek 3">
            <a:extLst>
              <a:ext uri="{FF2B5EF4-FFF2-40B4-BE49-F238E27FC236}">
                <a16:creationId xmlns:a16="http://schemas.microsoft.com/office/drawing/2014/main" id="{4EAA279C-A8F8-4244-8270-6D360C700897}"/>
              </a:ext>
            </a:extLst>
          </p:cNvPr>
          <p:cNvSpPr>
            <a:spLocks noGrp="1"/>
          </p:cNvSpPr>
          <p:nvPr/>
        </p:nvSpPr>
        <p:spPr>
          <a:xfrm>
            <a:off x="6400800" y="1685925"/>
            <a:ext cx="5143500" cy="419100"/>
          </a:xfrm>
          <a:prstGeom prst="rect">
            <a:avLst/>
          </a:prstGeom>
          <a:noFill/>
          <a:ln w="0">
            <a:noFill/>
          </a:ln>
        </p:spPr>
        <p:txBody>
          <a:bodyPr wrap="square" lIns="0" tIns="0" rIns="0" bIns="0" anchor="t">
            <a:noAutofit/>
          </a:bodyPr>
          <a:lstStyle>
            <a:defPPr>
              <a:defRPr sz="2400" b="1">
                <a:solidFill>
                  <a:srgbClr val="8DA1BD"/>
                </a:solidFill>
                <a:latin typeface="Arial"/>
                <a:ea typeface="Arial"/>
                <a:cs typeface="Arial"/>
              </a:defRPr>
            </a:defPPr>
          </a:lstStyle>
          <a:p>
            <a:pPr>
              <a:buNone/>
              <a:defRPr sz="2400" b="1">
                <a:solidFill>
                  <a:srgbClr val="8DA1BD"/>
                </a:solidFill>
                <a:latin typeface="Arial"/>
                <a:ea typeface="Arial"/>
                <a:cs typeface="Arial"/>
              </a:defRPr>
            </a:pPr>
            <a:r>
              <a:rPr sz="2400" b="1">
                <a:solidFill>
                  <a:srgbClr val="8DA1BD"/>
                </a:solidFill>
                <a:latin typeface="Arial"/>
                <a:ea typeface="Arial"/>
                <a:cs typeface="Arial"/>
              </a:rPr>
              <a:t>VADER</a:t>
            </a:r>
          </a:p>
        </p:txBody>
      </p:sp>
      <p:graphicFrame>
        <p:nvGraphicFramePr>
          <p:cNvPr id="5" name="Tabel 4">
            <a:extLst>
              <a:ext uri="{FF2B5EF4-FFF2-40B4-BE49-F238E27FC236}">
                <a16:creationId xmlns:a16="http://schemas.microsoft.com/office/drawing/2014/main" id="{51C281A4-6F39-4878-9587-8D0F75C93283}"/>
              </a:ext>
            </a:extLst>
          </p:cNvPr>
          <p:cNvGraphicFramePr/>
          <p:nvPr/>
        </p:nvGraphicFramePr>
        <p:xfrm>
          <a:off x="609600" y="2381250"/>
          <a:ext cx="5181600" cy="2952750"/>
        </p:xfrm>
        <a:graphic>
          <a:graphicData uri="http://schemas.openxmlformats.org/drawingml/2006/table">
            <a:tbl>
              <a:tblPr firstRow="1"/>
              <a:tblGrid>
                <a:gridCol w="23812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933450">
                  <a:extLst>
                    <a:ext uri="{9D8B030D-6E8A-4147-A177-3AD203B41FA5}">
                      <a16:colId xmlns:a16="http://schemas.microsoft.com/office/drawing/2014/main" val="20002"/>
                    </a:ext>
                  </a:extLst>
                </a:gridCol>
                <a:gridCol w="933450">
                  <a:extLst>
                    <a:ext uri="{9D8B030D-6E8A-4147-A177-3AD203B41FA5}">
                      <a16:colId xmlns:a16="http://schemas.microsoft.com/office/drawing/2014/main" val="20003"/>
                    </a:ext>
                  </a:extLst>
                </a:gridCol>
              </a:tblGrid>
              <a:tr h="738188">
                <a:tc>
                  <a:txBody>
                    <a:bodyPr/>
                    <a:lstStyle/>
                    <a:p>
                      <a:r>
                        <a:rPr sz="1875" b="1">
                          <a:solidFill>
                            <a:srgbClr val="68D7BA"/>
                          </a:solidFill>
                          <a:latin typeface="Arial"/>
                          <a:ea typeface="Arial"/>
                          <a:cs typeface="Arial"/>
                        </a:rPr>
                        <a:t>Human / model</a:t>
                      </a:r>
                    </a:p>
                  </a:txBody>
                  <a:tcPr>
                    <a:lnL w="9525">
                      <a:solidFill>
                        <a:srgbClr val="35445A"/>
                      </a:solidFill>
                      <a:prstDash val="soli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tc>
                  <a:txBody>
                    <a:bodyPr/>
                    <a:lstStyle/>
                    <a:p>
                      <a:r>
                        <a:rPr sz="1875" b="1">
                          <a:solidFill>
                            <a:srgbClr val="68D7BA"/>
                          </a:solidFill>
                          <a:latin typeface="Arial"/>
                          <a:ea typeface="Arial"/>
                          <a:cs typeface="Arial"/>
                        </a:rPr>
                        <a:t>Neg</a:t>
                      </a:r>
                    </a:p>
                  </a:txBody>
                  <a:tcPr>
                    <a:lnL w="9525" cap="flat" cmpd="sng" algn="ctr">
                      <a:solidFill>
                        <a:srgbClr val="35445A"/>
                      </a:solidFill>
                      <a:prstDash val="solid"/>
                      <a:round/>
                      <a:headEnd type="none" w="med" len="med"/>
                      <a:tailEnd type="none" w="med" len="me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tc>
                  <a:txBody>
                    <a:bodyPr/>
                    <a:lstStyle/>
                    <a:p>
                      <a:r>
                        <a:rPr sz="1875" b="1">
                          <a:solidFill>
                            <a:srgbClr val="68D7BA"/>
                          </a:solidFill>
                          <a:latin typeface="Arial"/>
                          <a:ea typeface="Arial"/>
                          <a:cs typeface="Arial"/>
                        </a:rPr>
                        <a:t>Neu</a:t>
                      </a:r>
                    </a:p>
                  </a:txBody>
                  <a:tcPr>
                    <a:lnL w="9525" cap="flat" cmpd="sng" algn="ctr">
                      <a:solidFill>
                        <a:srgbClr val="35445A"/>
                      </a:solidFill>
                      <a:prstDash val="solid"/>
                      <a:round/>
                      <a:headEnd type="none" w="med" len="med"/>
                      <a:tailEnd type="none" w="med" len="me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tc>
                  <a:txBody>
                    <a:bodyPr/>
                    <a:lstStyle/>
                    <a:p>
                      <a:r>
                        <a:rPr sz="1875" b="1">
                          <a:solidFill>
                            <a:srgbClr val="68D7BA"/>
                          </a:solidFill>
                          <a:latin typeface="Arial"/>
                          <a:ea typeface="Arial"/>
                          <a:cs typeface="Arial"/>
                        </a:rPr>
                        <a:t>Pos</a:t>
                      </a:r>
                    </a:p>
                  </a:txBody>
                  <a:tcPr>
                    <a:lnL w="9525" cap="flat" cmpd="sng" algn="ctr">
                      <a:solidFill>
                        <a:srgbClr val="35445A"/>
                      </a:solidFill>
                      <a:prstDash val="solid"/>
                      <a:round/>
                      <a:headEnd type="none" w="med" len="med"/>
                      <a:tailEnd type="none" w="med" len="me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extLst>
                  <a:ext uri="{0D108BD9-81ED-4DB2-BD59-A6C34878D82A}">
                    <a16:rowId xmlns:a16="http://schemas.microsoft.com/office/drawing/2014/main" val="10000"/>
                  </a:ext>
                </a:extLst>
              </a:tr>
              <a:tr h="738188">
                <a:tc>
                  <a:txBody>
                    <a:bodyPr/>
                    <a:lstStyle/>
                    <a:p>
                      <a:r>
                        <a:rPr sz="1875" b="0">
                          <a:solidFill>
                            <a:srgbClr val="F3F6FB"/>
                          </a:solidFill>
                          <a:latin typeface="Arial"/>
                          <a:ea typeface="Arial"/>
                          <a:cs typeface="Arial"/>
                        </a:rPr>
                        <a:t>Negative</a:t>
                      </a:r>
                    </a:p>
                  </a:txBody>
                  <a:tcPr>
                    <a:lnL w="9525">
                      <a:solidFill>
                        <a:srgbClr val="35445A"/>
                      </a:solidFill>
                      <a:prstDash val="soli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18</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6</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2</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extLst>
                  <a:ext uri="{0D108BD9-81ED-4DB2-BD59-A6C34878D82A}">
                    <a16:rowId xmlns:a16="http://schemas.microsoft.com/office/drawing/2014/main" val="10001"/>
                  </a:ext>
                </a:extLst>
              </a:tr>
              <a:tr h="738188">
                <a:tc>
                  <a:txBody>
                    <a:bodyPr/>
                    <a:lstStyle/>
                    <a:p>
                      <a:r>
                        <a:rPr sz="1875" b="0">
                          <a:solidFill>
                            <a:srgbClr val="F3F6FB"/>
                          </a:solidFill>
                          <a:latin typeface="Arial"/>
                          <a:ea typeface="Arial"/>
                          <a:cs typeface="Arial"/>
                        </a:rPr>
                        <a:t>Neutral</a:t>
                      </a:r>
                    </a:p>
                  </a:txBody>
                  <a:tcPr>
                    <a:lnL w="9525">
                      <a:solidFill>
                        <a:srgbClr val="35445A"/>
                      </a:solidFill>
                      <a:prstDash val="soli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5</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11</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1</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extLst>
                  <a:ext uri="{0D108BD9-81ED-4DB2-BD59-A6C34878D82A}">
                    <a16:rowId xmlns:a16="http://schemas.microsoft.com/office/drawing/2014/main" val="10002"/>
                  </a:ext>
                </a:extLst>
              </a:tr>
              <a:tr h="738188">
                <a:tc>
                  <a:txBody>
                    <a:bodyPr/>
                    <a:lstStyle/>
                    <a:p>
                      <a:r>
                        <a:rPr sz="1875" b="0">
                          <a:solidFill>
                            <a:srgbClr val="F3F6FB"/>
                          </a:solidFill>
                          <a:latin typeface="Arial"/>
                          <a:ea typeface="Arial"/>
                          <a:cs typeface="Arial"/>
                        </a:rPr>
                        <a:t>Positive</a:t>
                      </a:r>
                    </a:p>
                  </a:txBody>
                  <a:tcPr>
                    <a:lnL w="9525">
                      <a:solidFill>
                        <a:srgbClr val="35445A"/>
                      </a:solidFill>
                      <a:prstDash val="soli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3</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2</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3</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extLst>
                  <a:ext uri="{0D108BD9-81ED-4DB2-BD59-A6C34878D82A}">
                    <a16:rowId xmlns:a16="http://schemas.microsoft.com/office/drawing/2014/main" val="10003"/>
                  </a:ext>
                </a:extLst>
              </a:tr>
            </a:tbl>
          </a:graphicData>
        </a:graphic>
      </p:graphicFrame>
      <p:graphicFrame>
        <p:nvGraphicFramePr>
          <p:cNvPr id="6" name="Tabel 5">
            <a:extLst>
              <a:ext uri="{FF2B5EF4-FFF2-40B4-BE49-F238E27FC236}">
                <a16:creationId xmlns:a16="http://schemas.microsoft.com/office/drawing/2014/main" id="{85CEC00E-328A-4F87-833F-D345948A9546}"/>
              </a:ext>
            </a:extLst>
          </p:cNvPr>
          <p:cNvGraphicFramePr/>
          <p:nvPr/>
        </p:nvGraphicFramePr>
        <p:xfrm>
          <a:off x="6400800" y="2381250"/>
          <a:ext cx="5181600" cy="2952750"/>
        </p:xfrm>
        <a:graphic>
          <a:graphicData uri="http://schemas.openxmlformats.org/drawingml/2006/table">
            <a:tbl>
              <a:tblPr firstRow="1"/>
              <a:tblGrid>
                <a:gridCol w="23812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933450">
                  <a:extLst>
                    <a:ext uri="{9D8B030D-6E8A-4147-A177-3AD203B41FA5}">
                      <a16:colId xmlns:a16="http://schemas.microsoft.com/office/drawing/2014/main" val="20002"/>
                    </a:ext>
                  </a:extLst>
                </a:gridCol>
                <a:gridCol w="933450">
                  <a:extLst>
                    <a:ext uri="{9D8B030D-6E8A-4147-A177-3AD203B41FA5}">
                      <a16:colId xmlns:a16="http://schemas.microsoft.com/office/drawing/2014/main" val="20003"/>
                    </a:ext>
                  </a:extLst>
                </a:gridCol>
              </a:tblGrid>
              <a:tr h="738188">
                <a:tc>
                  <a:txBody>
                    <a:bodyPr/>
                    <a:lstStyle/>
                    <a:p>
                      <a:r>
                        <a:rPr sz="1875" b="1">
                          <a:solidFill>
                            <a:srgbClr val="68D7BA"/>
                          </a:solidFill>
                          <a:latin typeface="Arial"/>
                          <a:ea typeface="Arial"/>
                          <a:cs typeface="Arial"/>
                        </a:rPr>
                        <a:t>Human / model</a:t>
                      </a:r>
                    </a:p>
                  </a:txBody>
                  <a:tcPr>
                    <a:lnL w="9525">
                      <a:solidFill>
                        <a:srgbClr val="35445A"/>
                      </a:solidFill>
                      <a:prstDash val="soli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tc>
                  <a:txBody>
                    <a:bodyPr/>
                    <a:lstStyle/>
                    <a:p>
                      <a:r>
                        <a:rPr sz="1875" b="1">
                          <a:solidFill>
                            <a:srgbClr val="68D7BA"/>
                          </a:solidFill>
                          <a:latin typeface="Arial"/>
                          <a:ea typeface="Arial"/>
                          <a:cs typeface="Arial"/>
                        </a:rPr>
                        <a:t>Neg</a:t>
                      </a:r>
                    </a:p>
                  </a:txBody>
                  <a:tcPr>
                    <a:lnL w="9525" cap="flat" cmpd="sng" algn="ctr">
                      <a:solidFill>
                        <a:srgbClr val="35445A"/>
                      </a:solidFill>
                      <a:prstDash val="solid"/>
                      <a:round/>
                      <a:headEnd type="none" w="med" len="med"/>
                      <a:tailEnd type="none" w="med" len="me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tc>
                  <a:txBody>
                    <a:bodyPr/>
                    <a:lstStyle/>
                    <a:p>
                      <a:r>
                        <a:rPr sz="1875" b="1">
                          <a:solidFill>
                            <a:srgbClr val="68D7BA"/>
                          </a:solidFill>
                          <a:latin typeface="Arial"/>
                          <a:ea typeface="Arial"/>
                          <a:cs typeface="Arial"/>
                        </a:rPr>
                        <a:t>Neu</a:t>
                      </a:r>
                    </a:p>
                  </a:txBody>
                  <a:tcPr>
                    <a:lnL w="9525" cap="flat" cmpd="sng" algn="ctr">
                      <a:solidFill>
                        <a:srgbClr val="35445A"/>
                      </a:solidFill>
                      <a:prstDash val="solid"/>
                      <a:round/>
                      <a:headEnd type="none" w="med" len="med"/>
                      <a:tailEnd type="none" w="med" len="me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tc>
                  <a:txBody>
                    <a:bodyPr/>
                    <a:lstStyle/>
                    <a:p>
                      <a:r>
                        <a:rPr sz="1875" b="1">
                          <a:solidFill>
                            <a:srgbClr val="68D7BA"/>
                          </a:solidFill>
                          <a:latin typeface="Arial"/>
                          <a:ea typeface="Arial"/>
                          <a:cs typeface="Arial"/>
                        </a:rPr>
                        <a:t>Pos</a:t>
                      </a:r>
                    </a:p>
                  </a:txBody>
                  <a:tcPr>
                    <a:lnL w="9525" cap="flat" cmpd="sng" algn="ctr">
                      <a:solidFill>
                        <a:srgbClr val="35445A"/>
                      </a:solidFill>
                      <a:prstDash val="solid"/>
                      <a:round/>
                      <a:headEnd type="none" w="med" len="med"/>
                      <a:tailEnd type="none" w="med" len="med"/>
                    </a:lnL>
                    <a:lnR w="9525">
                      <a:solidFill>
                        <a:srgbClr val="35445A"/>
                      </a:solidFill>
                      <a:prstDash val="solid"/>
                    </a:lnR>
                    <a:lnT w="9525">
                      <a:solidFill>
                        <a:srgbClr val="35445A"/>
                      </a:solidFill>
                      <a:prstDash val="solid"/>
                    </a:lnT>
                    <a:lnB w="9525">
                      <a:solidFill>
                        <a:srgbClr val="35445A"/>
                      </a:solidFill>
                      <a:prstDash val="solid"/>
                    </a:lnB>
                    <a:solidFill>
                      <a:srgbClr val="0B1422"/>
                    </a:solidFill>
                  </a:tcPr>
                </a:tc>
                <a:extLst>
                  <a:ext uri="{0D108BD9-81ED-4DB2-BD59-A6C34878D82A}">
                    <a16:rowId xmlns:a16="http://schemas.microsoft.com/office/drawing/2014/main" val="10000"/>
                  </a:ext>
                </a:extLst>
              </a:tr>
              <a:tr h="738188">
                <a:tc>
                  <a:txBody>
                    <a:bodyPr/>
                    <a:lstStyle/>
                    <a:p>
                      <a:r>
                        <a:rPr sz="1875" b="0">
                          <a:solidFill>
                            <a:srgbClr val="F3F6FB"/>
                          </a:solidFill>
                          <a:latin typeface="Arial"/>
                          <a:ea typeface="Arial"/>
                          <a:cs typeface="Arial"/>
                        </a:rPr>
                        <a:t>Negative</a:t>
                      </a:r>
                    </a:p>
                  </a:txBody>
                  <a:tcPr>
                    <a:lnL w="9525">
                      <a:solidFill>
                        <a:srgbClr val="35445A"/>
                      </a:solidFill>
                      <a:prstDash val="soli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13</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3</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10</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extLst>
                  <a:ext uri="{0D108BD9-81ED-4DB2-BD59-A6C34878D82A}">
                    <a16:rowId xmlns:a16="http://schemas.microsoft.com/office/drawing/2014/main" val="10001"/>
                  </a:ext>
                </a:extLst>
              </a:tr>
              <a:tr h="738188">
                <a:tc>
                  <a:txBody>
                    <a:bodyPr/>
                    <a:lstStyle/>
                    <a:p>
                      <a:r>
                        <a:rPr sz="1875" b="0">
                          <a:solidFill>
                            <a:srgbClr val="F3F6FB"/>
                          </a:solidFill>
                          <a:latin typeface="Arial"/>
                          <a:ea typeface="Arial"/>
                          <a:cs typeface="Arial"/>
                        </a:rPr>
                        <a:t>Neutral</a:t>
                      </a:r>
                    </a:p>
                  </a:txBody>
                  <a:tcPr>
                    <a:lnL w="9525">
                      <a:solidFill>
                        <a:srgbClr val="35445A"/>
                      </a:solidFill>
                      <a:prstDash val="soli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7</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3</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7</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extLst>
                  <a:ext uri="{0D108BD9-81ED-4DB2-BD59-A6C34878D82A}">
                    <a16:rowId xmlns:a16="http://schemas.microsoft.com/office/drawing/2014/main" val="10002"/>
                  </a:ext>
                </a:extLst>
              </a:tr>
              <a:tr h="738188">
                <a:tc>
                  <a:txBody>
                    <a:bodyPr/>
                    <a:lstStyle/>
                    <a:p>
                      <a:r>
                        <a:rPr sz="1875" b="0">
                          <a:solidFill>
                            <a:srgbClr val="F3F6FB"/>
                          </a:solidFill>
                          <a:latin typeface="Arial"/>
                          <a:ea typeface="Arial"/>
                          <a:cs typeface="Arial"/>
                        </a:rPr>
                        <a:t>Positive</a:t>
                      </a:r>
                    </a:p>
                  </a:txBody>
                  <a:tcPr>
                    <a:lnL w="9525">
                      <a:solidFill>
                        <a:srgbClr val="35445A"/>
                      </a:solidFill>
                      <a:prstDash val="soli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3</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4</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tc>
                  <a:txBody>
                    <a:bodyPr/>
                    <a:lstStyle/>
                    <a:p>
                      <a:r>
                        <a:rPr sz="1875" b="0">
                          <a:solidFill>
                            <a:srgbClr val="F3F6FB"/>
                          </a:solidFill>
                          <a:latin typeface="Arial"/>
                          <a:ea typeface="Arial"/>
                          <a:cs typeface="Arial"/>
                        </a:rPr>
                        <a:t>1</a:t>
                      </a:r>
                    </a:p>
                  </a:txBody>
                  <a:tcPr>
                    <a:lnL w="9525" cap="flat" cmpd="sng" algn="ctr">
                      <a:solidFill>
                        <a:srgbClr val="35445A"/>
                      </a:solidFill>
                      <a:prstDash val="solid"/>
                      <a:round/>
                      <a:headEnd type="none" w="med" len="med"/>
                      <a:tailEnd type="none" w="med" len="med"/>
                    </a:lnL>
                    <a:lnR w="9525">
                      <a:solidFill>
                        <a:srgbClr val="35445A"/>
                      </a:solidFill>
                      <a:prstDash val="solid"/>
                    </a:lnR>
                    <a:lnT w="9525" cap="flat" cmpd="sng" algn="ctr">
                      <a:solidFill>
                        <a:srgbClr val="35445A"/>
                      </a:solidFill>
                      <a:prstDash val="solid"/>
                      <a:round/>
                      <a:headEnd type="none" w="med" len="med"/>
                      <a:tailEnd type="none" w="med" len="med"/>
                    </a:lnT>
                    <a:lnB w="9525">
                      <a:solidFill>
                        <a:srgbClr val="35445A"/>
                      </a:solidFill>
                      <a:prstDash val="solid"/>
                    </a:lnB>
                    <a:solidFill>
                      <a:srgbClr val="0B1422"/>
                    </a:solidFill>
                  </a:tcPr>
                </a:tc>
                <a:extLst>
                  <a:ext uri="{0D108BD9-81ED-4DB2-BD59-A6C34878D82A}">
                    <a16:rowId xmlns:a16="http://schemas.microsoft.com/office/drawing/2014/main" val="10003"/>
                  </a:ext>
                </a:extLst>
              </a:tr>
            </a:tbl>
          </a:graphicData>
        </a:graphic>
      </p:graphicFrame>
      <p:sp>
        <p:nvSpPr>
          <p:cNvPr id="7" name="Rechthoek 6">
            <a:extLst>
              <a:ext uri="{FF2B5EF4-FFF2-40B4-BE49-F238E27FC236}">
                <a16:creationId xmlns:a16="http://schemas.microsoft.com/office/drawing/2014/main" id="{472F1AEA-3F02-41F5-8523-734B444AB3F2}"/>
              </a:ext>
            </a:extLst>
          </p:cNvPr>
          <p:cNvSpPr>
            <a:spLocks noGrp="1"/>
          </p:cNvSpPr>
          <p:nvPr/>
        </p:nvSpPr>
        <p:spPr>
          <a:xfrm>
            <a:off x="609600" y="5915025"/>
            <a:ext cx="10763250" cy="590550"/>
          </a:xfrm>
          <a:prstGeom prst="rect">
            <a:avLst/>
          </a:prstGeom>
          <a:noFill/>
          <a:ln w="0">
            <a:noFill/>
          </a:ln>
        </p:spPr>
        <p:txBody>
          <a:bodyPr wrap="square" lIns="0" tIns="0" rIns="0" bIns="0" anchor="t">
            <a:noAutofit/>
          </a:bodyPr>
          <a:lstStyle>
            <a:defPPr>
              <a:defRPr sz="1875" b="0">
                <a:solidFill>
                  <a:srgbClr val="AABBD0"/>
                </a:solidFill>
                <a:latin typeface="Arial"/>
                <a:ea typeface="Arial"/>
                <a:cs typeface="Arial"/>
              </a:defRPr>
            </a:defPPr>
          </a:lstStyle>
          <a:p>
            <a:pPr>
              <a:buNone/>
              <a:defRPr sz="1875" b="0">
                <a:solidFill>
                  <a:srgbClr val="AABBD0"/>
                </a:solidFill>
                <a:latin typeface="Arial"/>
                <a:ea typeface="Arial"/>
                <a:cs typeface="Arial"/>
              </a:defRPr>
            </a:pPr>
            <a:r>
              <a:rPr sz="1875" b="0">
                <a:solidFill>
                  <a:srgbClr val="AABBD0"/>
                </a:solidFill>
                <a:latin typeface="Arial"/>
                <a:ea typeface="Arial"/>
                <a:cs typeface="Arial"/>
              </a:rPr>
              <a:t>Rows: human labels. Columns: model predictions. Each matrix contains 51 comments.</a:t>
            </a:r>
          </a:p>
        </p:txBody>
      </p:sp>
    </p:spTree>
    <p:extLst>
      <p:ext uri="{BB962C8B-B14F-4D97-AF65-F5344CB8AC3E}">
        <p14:creationId xmlns:p14="http://schemas.microsoft.com/office/powerpoint/2010/main" val="177794236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2118</Words>
  <Application>Microsoft Office PowerPoint</Application>
  <DocSecurity>0</DocSecurity>
  <PresentationFormat>Breedbeeld</PresentationFormat>
  <Paragraphs>196</Paragraphs>
  <Slides>14</Slides>
  <Notes>14</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14</vt:i4>
      </vt:variant>
    </vt:vector>
  </HeadingPairs>
  <TitlesOfParts>
    <vt:vector size="17" baseType="lpstr">
      <vt:lpstr>Aptos</vt:lpstr>
      <vt:lpstr>Arial</vt:lpstr>
      <vt:lpstr>ChatGPT</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Luuk Aalders</cp:lastModifiedBy>
  <cp:revision>1</cp:revision>
  <dcterms:created xsi:type="dcterms:W3CDTF">2026-10-15T11:32:35Z</dcterms:created>
  <dcterms:modified xsi:type="dcterms:W3CDTF">2026-10-15T12:19:19Z</dcterms:modified>
</cp:coreProperties>
</file>