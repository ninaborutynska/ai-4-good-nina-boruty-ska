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gdQ3FvDuNlq9GLfVfwhp9FJ4Vo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51A3B4-0AD2-43B1-B54E-A34E672037D2}">
  <a:tblStyle styleId="{3E51A3B4-0AD2-43B1-B54E-A34E672037D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 of people</c:v>
                </c:pt>
              </c:strCache>
            </c:strRef>
          </c:tx>
          <c:dPt>
            <c:idx val="0"/>
            <c:spPr>
              <a:solidFill>
                <a:srgbClr val="1F4D3A"/>
              </a:solidFill>
            </c:spPr>
          </c:dPt>
          <c:dPt>
            <c:idx val="1"/>
            <c:spPr>
              <a:solidFill>
                <a:srgbClr val="F2A541"/>
              </a:solidFill>
            </c:spPr>
          </c:dPt>
          <c:cat>
            <c:strRef>
              <c:f>Sheet1!$A$2:$A$3</c:f>
              <c:strCache>
                <c:ptCount val="2"/>
                <c:pt idx="0">
                  <c:v>Low income (&lt;=50K): 76%</c:v>
                </c:pt>
                <c:pt idx="1">
                  <c:v>Higher income (&gt;50K): 24%</c:v>
                </c:pt>
              </c:strCache>
            </c:strRef>
          </c:cat>
          <c:val>
            <c:numRef>
              <c:f>Sheet1!$B$2:$B$3</c:f>
              <c:numCache>
                <c:formatCode>General</c:formatCode>
                <c:ptCount val="2"/>
                <c:pt idx="0">
                  <c:v>0.761</c:v>
                </c:pt>
                <c:pt idx="1">
                  <c:v>0.239</c:v>
                </c:pt>
              </c:numCache>
            </c:numRef>
          </c:val>
        </c:ser>
        <c:dLbls>
          <c:numFmt formatCode="0%" sourceLinked="0"/>
          <c:txPr>
            <a:bodyPr/>
            <a:lstStyle/>
            <a:p>
              <a:pPr>
                <a:defRPr sz="18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Calibri"/>
              </a:rPr>
              <a:t>Test balanced accuracy</a:t>
            </a:r>
          </a:p>
        </c:rich>
      </c:tx>
      <c:layout/>
      <c:overlay val="0"/>
    </c:title>
    <c:autoTitleDeleted val="0"/>
    <c:plotArea>
      <c:barChart>
        <c:barDir val="col"/>
        <c:grouping val="clustered"/>
        <c:ser>
          <c:idx val="0"/>
          <c:order val="0"/>
          <c:tx>
            <c:strRef>
              <c:f>Sheet1!$B$1</c:f>
              <c:strCache>
                <c:ptCount val="1"/>
                <c:pt idx="0">
                  <c:v>Test balanced accuracy</c:v>
                </c:pt>
              </c:strCache>
            </c:strRef>
          </c:tx>
          <c:dPt>
            <c:idx val="0"/>
            <c:spPr>
              <a:solidFill>
                <a:srgbClr val="55655D"/>
              </a:solidFill>
            </c:spPr>
          </c:dPt>
          <c:dPt>
            <c:idx val="1"/>
            <c:spPr>
              <a:solidFill>
                <a:srgbClr val="8DB580"/>
              </a:solidFill>
            </c:spPr>
          </c:dPt>
          <c:dPt>
            <c:idx val="2"/>
            <c:spPr>
              <a:solidFill>
                <a:srgbClr val="8DB580"/>
              </a:solidFill>
            </c:spPr>
          </c:dPt>
          <c:dPt>
            <c:idx val="3"/>
            <c:spPr>
              <a:solidFill>
                <a:srgbClr val="1F4D3A"/>
              </a:solidFill>
            </c:spPr>
          </c:dPt>
          <c:cat>
            <c:strRef>
              <c:f>Sheet1!$A$2:$A$5</c:f>
              <c:strCache>
                <c:ptCount val="4"/>
                <c:pt idx="0">
                  <c:v>Baseline</c:v>
                </c:pt>
                <c:pt idx="1">
                  <c:v>KNN</c:v>
                </c:pt>
                <c:pt idx="2">
                  <c:v>Logistic regression</c:v>
                </c:pt>
                <c:pt idx="3">
                  <c:v>Random forest</c:v>
                </c:pt>
              </c:strCache>
            </c:strRef>
          </c:cat>
          <c:val>
            <c:numRef>
              <c:f>Sheet1!$B$2:$B$5</c:f>
              <c:numCache>
                <c:formatCode>General</c:formatCode>
                <c:ptCount val="4"/>
                <c:pt idx="0">
                  <c:v>0.5</c:v>
                </c:pt>
                <c:pt idx="1">
                  <c:v>0.77</c:v>
                </c:pt>
                <c:pt idx="2">
                  <c:v>0.823</c:v>
                </c:pt>
                <c:pt idx="3">
                  <c:v>0.827</c:v>
                </c:pt>
              </c:numCache>
            </c:numRef>
          </c:val>
        </c:ser>
        <c:dLbls>
          <c:numFmt formatCode="0.000"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
          <c:min val="0.0"/>
        </c:scaling>
        <c:delete val="0"/>
        <c:axPos val="l"/>
        <c:majorGridlines>
          <c:spPr>
            <a:ln>
              <a:solidFill>
                <a:srgbClr val="DDE5DF"/>
              </a:solidFill>
            </a:ln>
          </c:spPr>
        </c:majorGridlines>
        <c:numFmt formatCode="0.0" sourceLinked="0"/>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Calibri"/>
              </a:rPr>
              <a:t>Random forest, women vs men</a:t>
            </a:r>
          </a:p>
        </c:rich>
      </c:tx>
      <c:layout/>
      <c:overlay val="0"/>
    </c:title>
    <c:autoTitleDeleted val="0"/>
    <c:plotArea>
      <c:barChart>
        <c:barDir val="col"/>
        <c:grouping val="clustered"/>
        <c:ser>
          <c:idx val="0"/>
          <c:order val="0"/>
          <c:tx>
            <c:strRef>
              <c:f>Sheet1!$B$1</c:f>
              <c:strCache>
                <c:ptCount val="1"/>
                <c:pt idx="0">
                  <c:v>Women</c:v>
                </c:pt>
              </c:strCache>
            </c:strRef>
          </c:tx>
          <c:spPr>
            <a:solidFill>
              <a:srgbClr val="F2A541"/>
            </a:solidFill>
          </c:spPr>
          <c:cat>
            <c:strRef>
              <c:f>Sheet1!$A$2:$A$3</c:f>
              <c:strCache>
                <c:ptCount val="2"/>
                <c:pt idx="0">
                  <c:v>Low-income people found</c:v>
                </c:pt>
                <c:pt idx="1">
                  <c:v>Higher-income people left out</c:v>
                </c:pt>
              </c:strCache>
            </c:strRef>
          </c:cat>
          <c:val>
            <c:numRef>
              <c:f>Sheet1!$B$2:$B$3</c:f>
              <c:numCache>
                <c:formatCode>General</c:formatCode>
                <c:ptCount val="2"/>
                <c:pt idx="0">
                  <c:v>96.3</c:v>
                </c:pt>
                <c:pt idx="1">
                  <c:v>62.8</c:v>
                </c:pt>
              </c:numCache>
            </c:numRef>
          </c:val>
        </c:ser>
        <c:ser>
          <c:idx val="1"/>
          <c:order val="1"/>
          <c:tx>
            <c:strRef>
              <c:f>Sheet1!$C$1</c:f>
              <c:strCache>
                <c:ptCount val="1"/>
                <c:pt idx="0">
                  <c:v>Men</c:v>
                </c:pt>
              </c:strCache>
            </c:strRef>
          </c:tx>
          <c:spPr>
            <a:solidFill>
              <a:srgbClr val="1F4D3A"/>
            </a:solidFill>
          </c:spPr>
          <c:cat>
            <c:strRef>
              <c:f>Sheet1!$A$2:$A$3</c:f>
              <c:strCache>
                <c:ptCount val="2"/>
                <c:pt idx="0">
                  <c:v>Low-income people found</c:v>
                </c:pt>
                <c:pt idx="1">
                  <c:v>Higher-income people left out</c:v>
                </c:pt>
              </c:strCache>
            </c:strRef>
          </c:cat>
          <c:val>
            <c:numRef>
              <c:f>Sheet1!$C$2:$C$3</c:f>
              <c:numCache>
                <c:formatCode>General</c:formatCode>
                <c:ptCount val="2"/>
                <c:pt idx="0">
                  <c:v>74.5</c:v>
                </c:pt>
                <c:pt idx="1">
                  <c:v>86.1</c:v>
                </c:pt>
              </c:numCache>
            </c:numRef>
          </c:val>
        </c:ser>
        <c:dLbls>
          <c:numFmt formatCode="0.0&quot;%&quot;" sourceLinked="0"/>
          <c:txPr>
            <a:bodyPr/>
            <a:lstStyle/>
            <a:p>
              <a:pPr>
                <a:defRPr sz="14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0.0"/>
          <c:min val="0.0"/>
        </c:scaling>
        <c:delete val="0"/>
        <c:axPos val="l"/>
        <c:majorGridlines>
          <c:spPr>
            <a:ln>
              <a:solidFill>
                <a:srgbClr val="DDE5DF"/>
              </a:solidFill>
            </a:ln>
          </c:spPr>
        </c:majorGridlines>
        <c:numFmt formatCode="0&quot;%&quot;" sourceLinked="0"/>
        <c:majorTickMark val="out"/>
        <c:minorTickMark val="none"/>
        <c:tickLblPos val="nextTo"/>
        <c:txPr>
          <a:bodyPr/>
          <a:lstStyle/>
          <a:p>
            <a:pPr>
              <a:defRPr sz="1200"/>
            </a:pPr>
          </a:p>
        </c:txPr>
        <c:crossAx val="-2068027336"/>
        <c:crosses val="autoZero"/>
      </c:valAx>
    </c:plotArea>
    <c:legend>
      <c:legendPos val="b"/>
      <c:overlay val="0"/>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our project is about students who are entitled to money but do not get it. We built a proof of concept with scikit-learn, and we will be clear about what it can and cannot do. SDG 8: income security for low-income students.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grant is based on parents' income. The CPB found that 24 percent of entitled first-years do not use it. They miss about 175 euro a month, and 41 percent borrow from DUO instead. DUO estimates that a letter reduces non-use by about 15 percent. The CPB figure is based on 2018 data.</a:t>
            </a:r>
            <a:endParaRPr/>
          </a:p>
        </p:txBody>
      </p:sp>
      <p:sp>
        <p:nvSpPr>
          <p:cNvPr id="94" name="Google Shape;94;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upfront: the data is the UCI Adult dataset, 1994 US Census. The target is income above or below 50 thousand dollars. We use low income as a stand-in. A real DUO tool would need recent Dutch data, which is not public.</a:t>
            </a:r>
            <a:endParaRPr/>
          </a:p>
        </p:txBody>
      </p:sp>
      <p:sp>
        <p:nvSpPr>
          <p:cNvPr id="111" name="Google Shape;11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user is a DUO team member. The model ranks, it does not decide. Entitlement is decided from the real parental income. Not in the data: Dutch families, recent years, students (the data is about adults).</a:t>
            </a:r>
            <a:endParaRPr/>
          </a:p>
        </p:txBody>
      </p:sp>
      <p:sp>
        <p:nvSpPr>
          <p:cNvPr id="126" name="Google Shape;12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 balance is 76 percent low income. That is why plain accuracy and plain recall are not good main metrics. We removed the full stops in the labels, turned question marks into missing values, removed 52 duplicates, and dropped fnlwgt and education.</a:t>
            </a:r>
            <a:endParaRPr/>
          </a:p>
        </p:txBody>
      </p:sp>
      <p:sp>
        <p:nvSpPr>
          <p:cNvPr id="145" name="Google Shape;14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Highlight that the test set is touched only once, and that all preprocessing happens inside a scikit-learn Pipeline, so nothing leaks from test into training.</a:t>
            </a:r>
            <a:endParaRPr/>
          </a:p>
        </p:txBody>
      </p:sp>
      <p:sp>
        <p:nvSpPr>
          <p:cNvPr id="162" name="Google Shape;16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Baseline is first in the table. Test scores match cross-validation, so the estimate is honest. Random forest: train 0.902, CV 0.826, test 0.827, so it overfits a bit but is still best on new data.</a:t>
            </a:r>
            <a:endParaRPr/>
          </a:p>
        </p:txBody>
      </p:sp>
      <p:sp>
        <p:nvSpPr>
          <p:cNvPr id="193" name="Google Shape;19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matrix: of 7,422 low-income people the forest finds 6,163 and misses 1,259, which is 17 percent. A missed student gets no letter and may miss about 175 euro a month. A false positive costs one letter.</a:t>
            </a:r>
            <a:endParaRPr/>
          </a:p>
        </p:txBody>
      </p:sp>
      <p:sp>
        <p:nvSpPr>
          <p:cNvPr id="203" name="Google Shape;203;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the last cell of the notebook live. Change one value, for example the hours per week or the marital status, and show how the probability moves.</a:t>
            </a:r>
            <a:endParaRPr/>
          </a:p>
        </p:txBody>
      </p:sp>
      <p:sp>
        <p:nvSpPr>
          <p:cNvPr id="228" name="Google Shape;22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choice we defend hardest. 76 percent of people are low income, so a model that sends everyone a letter gets recall 1.0. Balanced accuracy gives that lazy model 0.5, so it is a fair test.</a:t>
            </a:r>
            <a:endParaRPr/>
          </a:p>
        </p:txBody>
      </p:sp>
      <p:sp>
        <p:nvSpPr>
          <p:cNvPr id="243" name="Google Shape;243;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Sex and race are features. The model learns old patterns, for example that women earn less. The groups Amer-Indian-Eskimo and Other are under 100 people in the test set, too small to conclude anything. Income is personal data, so we only used a public, anonymised dataset (CC BY 4.0).</a:t>
            </a:r>
            <a:endParaRPr/>
          </a:p>
        </p:txBody>
      </p:sp>
      <p:sp>
        <p:nvSpPr>
          <p:cNvPr id="258" name="Google Shape;2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recommendation and the conditions. Be ready for: why balanced accuracy, why random forest over logistic regression, why race is in the model, the blind spot (married men), and why 1994 US data is not usable for real Dutch students.</a:t>
            </a:r>
            <a:endParaRPr/>
          </a:p>
        </p:txBody>
      </p:sp>
      <p:sp>
        <p:nvSpPr>
          <p:cNvPr id="274" name="Google Shape;274;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4D3A"/>
        </a:solidFill>
      </p:bgPr>
    </p:bg>
    <p:spTree>
      <p:nvGrpSpPr>
        <p:cNvPr id="84" name="Shape 84"/>
        <p:cNvGrpSpPr/>
        <p:nvPr/>
      </p:nvGrpSpPr>
      <p:grpSpPr>
        <a:xfrm>
          <a:off x="0" y="0"/>
          <a:ext cx="0" cy="0"/>
          <a:chOff x="0" y="0"/>
          <a:chExt cx="0" cy="0"/>
        </a:xfrm>
      </p:grpSpPr>
      <p:sp>
        <p:nvSpPr>
          <p:cNvPr id="85" name="Google Shape;85;p1"/>
          <p:cNvSpPr/>
          <p:nvPr/>
        </p:nvSpPr>
        <p:spPr>
          <a:xfrm>
            <a:off x="8138160" y="822960"/>
            <a:ext cx="3383280" cy="3383280"/>
          </a:xfrm>
          <a:prstGeom prst="ellipse">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9418320" y="3566160"/>
            <a:ext cx="2103120" cy="2103120"/>
          </a:xfrm>
          <a:prstGeom prst="ellipse">
            <a:avLst/>
          </a:prstGeom>
          <a:solidFill>
            <a:srgbClr val="F2A5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731520" y="731520"/>
            <a:ext cx="6949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8DB580"/>
                </a:solidFill>
                <a:latin typeface="Calibri"/>
                <a:ea typeface="Calibri"/>
                <a:cs typeface="Calibri"/>
                <a:sym typeface="Calibri"/>
              </a:rPr>
              <a:t>AI FOR GOOD  |  HACKATHON 5  |  MODEL SHOWDOWN</a:t>
            </a:r>
            <a:endParaRPr/>
          </a:p>
        </p:txBody>
      </p:sp>
      <p:sp>
        <p:nvSpPr>
          <p:cNvPr id="88" name="Google Shape;88;p1"/>
          <p:cNvSpPr txBox="1"/>
          <p:nvPr/>
        </p:nvSpPr>
        <p:spPr>
          <a:xfrm>
            <a:off x="731520" y="1645920"/>
            <a:ext cx="7315200" cy="20116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5400" u="none" cap="none" strike="noStrike">
                <a:solidFill>
                  <a:srgbClr val="FFFFFF"/>
                </a:solidFill>
                <a:latin typeface="Cambria"/>
                <a:ea typeface="Cambria"/>
                <a:cs typeface="Cambria"/>
                <a:sym typeface="Cambria"/>
              </a:rPr>
              <a:t>Who misses the extra grant?</a:t>
            </a:r>
            <a:endParaRPr/>
          </a:p>
        </p:txBody>
      </p:sp>
      <p:sp>
        <p:nvSpPr>
          <p:cNvPr id="89" name="Google Shape;89;p1"/>
          <p:cNvSpPr txBox="1"/>
          <p:nvPr/>
        </p:nvSpPr>
        <p:spPr>
          <a:xfrm>
            <a:off x="731520" y="3657600"/>
            <a:ext cx="713232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EAF3E7"/>
                </a:solidFill>
                <a:latin typeface="Calibri"/>
                <a:ea typeface="Calibri"/>
                <a:cs typeface="Calibri"/>
                <a:sym typeface="Calibri"/>
              </a:rPr>
              <a:t>Three tuned models, one honest comparison, and what happens when the data is over 30 years old and American</a:t>
            </a:r>
            <a:endParaRPr/>
          </a:p>
        </p:txBody>
      </p:sp>
      <p:sp>
        <p:nvSpPr>
          <p:cNvPr id="90" name="Google Shape;90;p1"/>
          <p:cNvSpPr txBox="1"/>
          <p:nvPr/>
        </p:nvSpPr>
        <p:spPr>
          <a:xfrm>
            <a:off x="731520" y="5394960"/>
            <a:ext cx="6858000" cy="686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F2A541"/>
                </a:solidFill>
                <a:latin typeface="Calibri"/>
                <a:ea typeface="Calibri"/>
                <a:cs typeface="Calibri"/>
                <a:sym typeface="Calibri"/>
              </a:rPr>
              <a:t>SDG 8</a:t>
            </a:r>
            <a:r>
              <a:rPr b="0" i="0" lang="en-US" sz="1800" u="none" cap="none" strike="noStrike">
                <a:solidFill>
                  <a:srgbClr val="FFFFFF"/>
                </a:solidFill>
                <a:latin typeface="Calibri"/>
                <a:ea typeface="Calibri"/>
                <a:cs typeface="Calibri"/>
                <a:sym typeface="Calibri"/>
              </a:rPr>
              <a:t>  Decent Work and Economic Growth</a:t>
            </a:r>
            <a:endParaRPr/>
          </a:p>
          <a:p>
            <a:pPr indent="0" lvl="0" marL="0" marR="0" rtl="0" algn="l">
              <a:spcBef>
                <a:spcPts val="600"/>
              </a:spcBef>
              <a:spcAft>
                <a:spcPts val="0"/>
              </a:spcAft>
              <a:buNone/>
            </a:pPr>
            <a:r>
              <a:rPr b="0" i="0" lang="en-US" sz="1800" u="none" cap="none" strike="noStrike">
                <a:solidFill>
                  <a:srgbClr val="FFFFFF"/>
                </a:solidFill>
                <a:latin typeface="Calibri"/>
                <a:ea typeface="Calibri"/>
                <a:cs typeface="Calibri"/>
                <a:sym typeface="Calibri"/>
              </a:rPr>
              <a:t>Dylan Dinh Duy and Nina Borutyńska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2"/>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About 1 in 4 entitled students never claims the grant</a:t>
            </a:r>
            <a:endParaRPr/>
          </a:p>
        </p:txBody>
      </p:sp>
      <p:sp>
        <p:nvSpPr>
          <p:cNvPr id="97" name="Google Shape;97;p2"/>
          <p:cNvSpPr/>
          <p:nvPr/>
        </p:nvSpPr>
        <p:spPr>
          <a:xfrm>
            <a:off x="640080" y="1737360"/>
            <a:ext cx="3520440" cy="27432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nvSpPr>
        <p:spPr>
          <a:xfrm>
            <a:off x="822959" y="1920240"/>
            <a:ext cx="3154680" cy="109728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4400" u="none" cap="none" strike="noStrike">
                <a:solidFill>
                  <a:srgbClr val="1F4D3A"/>
                </a:solidFill>
                <a:latin typeface="Cambria"/>
                <a:ea typeface="Cambria"/>
                <a:cs typeface="Cambria"/>
                <a:sym typeface="Cambria"/>
              </a:rPr>
              <a:t>24%</a:t>
            </a:r>
            <a:endParaRPr/>
          </a:p>
        </p:txBody>
      </p:sp>
      <p:sp>
        <p:nvSpPr>
          <p:cNvPr id="99" name="Google Shape;99;p2"/>
          <p:cNvSpPr txBox="1"/>
          <p:nvPr/>
        </p:nvSpPr>
        <p:spPr>
          <a:xfrm>
            <a:off x="822959" y="3108960"/>
            <a:ext cx="3154680" cy="1280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1B2B24"/>
                </a:solidFill>
                <a:latin typeface="Calibri"/>
                <a:ea typeface="Calibri"/>
                <a:cs typeface="Calibri"/>
                <a:sym typeface="Calibri"/>
              </a:rPr>
              <a:t>of entitled first-year hbo/wo students do not use the aanvullende beurs (CPB, 2018 data)</a:t>
            </a:r>
            <a:endParaRPr/>
          </a:p>
        </p:txBody>
      </p:sp>
      <p:sp>
        <p:nvSpPr>
          <p:cNvPr id="100" name="Google Shape;100;p2"/>
          <p:cNvSpPr/>
          <p:nvPr/>
        </p:nvSpPr>
        <p:spPr>
          <a:xfrm>
            <a:off x="4389120" y="1737360"/>
            <a:ext cx="3520440" cy="27432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4572000" y="1920240"/>
            <a:ext cx="3154680" cy="109728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4400" u="none" cap="none" strike="noStrike">
                <a:solidFill>
                  <a:srgbClr val="1F4D3A"/>
                </a:solidFill>
                <a:latin typeface="Cambria"/>
                <a:ea typeface="Cambria"/>
                <a:cs typeface="Cambria"/>
                <a:sym typeface="Cambria"/>
              </a:rPr>
              <a:t>EUR 175</a:t>
            </a:r>
            <a:endParaRPr/>
          </a:p>
        </p:txBody>
      </p:sp>
      <p:sp>
        <p:nvSpPr>
          <p:cNvPr id="102" name="Google Shape;102;p2"/>
          <p:cNvSpPr txBox="1"/>
          <p:nvPr/>
        </p:nvSpPr>
        <p:spPr>
          <a:xfrm>
            <a:off x="4572000" y="3108960"/>
            <a:ext cx="3154680" cy="1280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1B2B24"/>
                </a:solidFill>
                <a:latin typeface="Calibri"/>
                <a:ea typeface="Calibri"/>
                <a:cs typeface="Calibri"/>
                <a:sym typeface="Calibri"/>
              </a:rPr>
              <a:t>per month missed on average</a:t>
            </a:r>
            <a:endParaRPr/>
          </a:p>
        </p:txBody>
      </p:sp>
      <p:sp>
        <p:nvSpPr>
          <p:cNvPr id="103" name="Google Shape;103;p2"/>
          <p:cNvSpPr/>
          <p:nvPr/>
        </p:nvSpPr>
        <p:spPr>
          <a:xfrm>
            <a:off x="8138159" y="1737360"/>
            <a:ext cx="3520440" cy="27432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8321039" y="1920240"/>
            <a:ext cx="3154680" cy="109728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4400" u="none" cap="none" strike="noStrike">
                <a:solidFill>
                  <a:srgbClr val="1F4D3A"/>
                </a:solidFill>
                <a:latin typeface="Cambria"/>
                <a:ea typeface="Cambria"/>
                <a:cs typeface="Cambria"/>
                <a:sym typeface="Cambria"/>
              </a:rPr>
              <a:t>41%</a:t>
            </a:r>
            <a:endParaRPr/>
          </a:p>
        </p:txBody>
      </p:sp>
      <p:sp>
        <p:nvSpPr>
          <p:cNvPr id="105" name="Google Shape;105;p2"/>
          <p:cNvSpPr txBox="1"/>
          <p:nvPr/>
        </p:nvSpPr>
        <p:spPr>
          <a:xfrm>
            <a:off x="8321039" y="3108960"/>
            <a:ext cx="3154680" cy="1280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1B2B24"/>
                </a:solidFill>
                <a:latin typeface="Calibri"/>
                <a:ea typeface="Calibri"/>
                <a:cs typeface="Calibri"/>
                <a:sym typeface="Calibri"/>
              </a:rPr>
              <a:t>of them take a DUO loan instead, which must be repaid</a:t>
            </a:r>
            <a:endParaRPr/>
          </a:p>
        </p:txBody>
      </p:sp>
      <p:sp>
        <p:nvSpPr>
          <p:cNvPr id="106" name="Google Shape;106;p2"/>
          <p:cNvSpPr txBox="1"/>
          <p:nvPr/>
        </p:nvSpPr>
        <p:spPr>
          <a:xfrm>
            <a:off x="640080" y="4800600"/>
            <a:ext cx="10881360" cy="8229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F4D3A"/>
                </a:solidFill>
                <a:latin typeface="Calibri"/>
                <a:ea typeface="Calibri"/>
                <a:cs typeface="Calibri"/>
                <a:sym typeface="Calibri"/>
              </a:rPr>
              <a:t>Why it matters: </a:t>
            </a:r>
            <a:r>
              <a:rPr b="0" i="0" lang="en-US" sz="2000" u="none" cap="none" strike="noStrike">
                <a:solidFill>
                  <a:srgbClr val="1B2B24"/>
                </a:solidFill>
                <a:latin typeface="Calibri"/>
                <a:ea typeface="Calibri"/>
                <a:cs typeface="Calibri"/>
                <a:sym typeface="Calibri"/>
              </a:rPr>
              <a:t>DUO estimates that a letter reduces non-use by about 15%, so reaching the right students pays off.</a:t>
            </a:r>
            <a:endParaRPr/>
          </a:p>
        </p:txBody>
      </p:sp>
      <p:sp>
        <p:nvSpPr>
          <p:cNvPr id="107" name="Google Shape;107;p2"/>
          <p:cNvSpPr txBox="1"/>
          <p:nvPr/>
        </p:nvSpPr>
        <p:spPr>
          <a:xfrm>
            <a:off x="640080" y="5989320"/>
            <a:ext cx="108813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55655D"/>
                </a:solidFill>
                <a:latin typeface="Calibri"/>
                <a:ea typeface="Calibri"/>
                <a:cs typeface="Calibri"/>
                <a:sym typeface="Calibri"/>
              </a:rPr>
              <a:t>Sources: CPB, "Niet-gebruik van de aanvullende beurs" (Dec 2020); Vox (10 Dec 2020); TU/e Cursor (22 Nov 2021)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3"/>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What our model really does</a:t>
            </a:r>
            <a:endParaRPr/>
          </a:p>
        </p:txBody>
      </p:sp>
      <p:sp>
        <p:nvSpPr>
          <p:cNvPr id="114" name="Google Shape;114;p3"/>
          <p:cNvSpPr/>
          <p:nvPr/>
        </p:nvSpPr>
        <p:spPr>
          <a:xfrm>
            <a:off x="640080" y="1554480"/>
            <a:ext cx="5212080" cy="27432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868680" y="1691640"/>
            <a:ext cx="47548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55655D"/>
                </a:solidFill>
                <a:latin typeface="Calibri"/>
                <a:ea typeface="Calibri"/>
                <a:cs typeface="Calibri"/>
                <a:sym typeface="Calibri"/>
              </a:rPr>
              <a:t>THE REAL PROBLEM</a:t>
            </a:r>
            <a:endParaRPr/>
          </a:p>
        </p:txBody>
      </p:sp>
      <p:sp>
        <p:nvSpPr>
          <p:cNvPr id="116" name="Google Shape;116;p3"/>
          <p:cNvSpPr txBox="1"/>
          <p:nvPr/>
        </p:nvSpPr>
        <p:spPr>
          <a:xfrm>
            <a:off x="868680" y="2148840"/>
            <a:ext cx="4754880" cy="20116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1B2B24"/>
                </a:solidFill>
                <a:latin typeface="Calibri"/>
                <a:ea typeface="Calibri"/>
                <a:cs typeface="Calibri"/>
                <a:sym typeface="Calibri"/>
              </a:rPr>
              <a:t>Dutch students entitled to the aanvullende beurs who never apply</a:t>
            </a:r>
            <a:endParaRPr/>
          </a:p>
          <a:p>
            <a:pPr indent="0" lvl="0" marL="0" marR="0" rtl="0" algn="l">
              <a:spcBef>
                <a:spcPts val="1400"/>
              </a:spcBef>
              <a:spcAft>
                <a:spcPts val="0"/>
              </a:spcAft>
              <a:buNone/>
            </a:pPr>
            <a:r>
              <a:rPr b="0" i="0" lang="en-US" sz="2200" u="none" cap="none" strike="noStrike">
                <a:solidFill>
                  <a:srgbClr val="1B2B24"/>
                </a:solidFill>
                <a:latin typeface="Calibri"/>
                <a:ea typeface="Calibri"/>
                <a:cs typeface="Calibri"/>
                <a:sym typeface="Calibri"/>
              </a:rPr>
              <a:t>DUO wants to send them a letter</a:t>
            </a:r>
            <a:endParaRPr/>
          </a:p>
        </p:txBody>
      </p:sp>
      <p:sp>
        <p:nvSpPr>
          <p:cNvPr id="117" name="Google Shape;117;p3"/>
          <p:cNvSpPr/>
          <p:nvPr/>
        </p:nvSpPr>
        <p:spPr>
          <a:xfrm>
            <a:off x="6355080" y="1554480"/>
            <a:ext cx="5212080" cy="2743200"/>
          </a:xfrm>
          <a:prstGeom prst="roundRect">
            <a:avLst>
              <a:gd fmla="val 8000" name="adj"/>
            </a:avLst>
          </a:prstGeom>
          <a:solidFill>
            <a:srgbClr val="1F4D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3"/>
          <p:cNvSpPr txBox="1"/>
          <p:nvPr/>
        </p:nvSpPr>
        <p:spPr>
          <a:xfrm>
            <a:off x="6583680" y="1691640"/>
            <a:ext cx="47548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8DB580"/>
                </a:solidFill>
                <a:latin typeface="Calibri"/>
                <a:ea typeface="Calibri"/>
                <a:cs typeface="Calibri"/>
                <a:sym typeface="Calibri"/>
              </a:rPr>
              <a:t>OUR PROOF OF CONCEPT</a:t>
            </a:r>
            <a:endParaRPr/>
          </a:p>
        </p:txBody>
      </p:sp>
      <p:sp>
        <p:nvSpPr>
          <p:cNvPr id="119" name="Google Shape;119;p3"/>
          <p:cNvSpPr txBox="1"/>
          <p:nvPr/>
        </p:nvSpPr>
        <p:spPr>
          <a:xfrm>
            <a:off x="6583680" y="2148840"/>
            <a:ext cx="4754880" cy="20116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Predicts if a person earns $50K or less (low income)</a:t>
            </a:r>
            <a:endParaRPr/>
          </a:p>
          <a:p>
            <a:pPr indent="0" lvl="0" marL="0" marR="0" rtl="0" algn="l">
              <a:spcBef>
                <a:spcPts val="1400"/>
              </a:spcBef>
              <a:spcAft>
                <a:spcPts val="0"/>
              </a:spcAft>
              <a:buNone/>
            </a:pPr>
            <a:r>
              <a:rPr b="0" i="0" lang="en-US" sz="2200" u="none" cap="none" strike="noStrike">
                <a:solidFill>
                  <a:srgbClr val="FFFFFF"/>
                </a:solidFill>
                <a:latin typeface="Calibri"/>
                <a:ea typeface="Calibri"/>
                <a:cs typeface="Calibri"/>
                <a:sym typeface="Calibri"/>
              </a:rPr>
              <a:t>Low income stands in for "parents may be entitled"</a:t>
            </a:r>
            <a:endParaRPr/>
          </a:p>
        </p:txBody>
      </p:sp>
      <p:sp>
        <p:nvSpPr>
          <p:cNvPr id="120" name="Google Shape;120;p3"/>
          <p:cNvSpPr txBox="1"/>
          <p:nvPr/>
        </p:nvSpPr>
        <p:spPr>
          <a:xfrm>
            <a:off x="5852160" y="2468880"/>
            <a:ext cx="548640" cy="91440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000" u="none" cap="none" strike="noStrike">
                <a:solidFill>
                  <a:srgbClr val="F2A541"/>
                </a:solidFill>
                <a:latin typeface="Calibri"/>
                <a:ea typeface="Calibri"/>
                <a:cs typeface="Calibri"/>
                <a:sym typeface="Calibri"/>
              </a:rPr>
              <a:t>&gt;</a:t>
            </a:r>
            <a:endParaRPr/>
          </a:p>
        </p:txBody>
      </p:sp>
      <p:sp>
        <p:nvSpPr>
          <p:cNvPr id="121" name="Google Shape;121;p3"/>
          <p:cNvSpPr/>
          <p:nvPr/>
        </p:nvSpPr>
        <p:spPr>
          <a:xfrm>
            <a:off x="640080" y="4663440"/>
            <a:ext cx="10927080" cy="1371600"/>
          </a:xfrm>
          <a:prstGeom prst="roundRect">
            <a:avLst>
              <a:gd fmla="val 8000" name="adj"/>
            </a:avLst>
          </a:prstGeom>
          <a:solidFill>
            <a:srgbClr val="F2A5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txBox="1"/>
          <p:nvPr/>
        </p:nvSpPr>
        <p:spPr>
          <a:xfrm>
            <a:off x="868680" y="4709160"/>
            <a:ext cx="10515600" cy="128016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900" u="none" cap="none" strike="noStrike">
                <a:solidFill>
                  <a:srgbClr val="1B2B24"/>
                </a:solidFill>
                <a:latin typeface="Calibri"/>
                <a:ea typeface="Calibri"/>
                <a:cs typeface="Calibri"/>
                <a:sym typeface="Calibri"/>
              </a:rPr>
              <a:t>Not Dutch data. </a:t>
            </a:r>
            <a:r>
              <a:rPr b="0" i="0" lang="en-US" sz="1900" u="none" cap="none" strike="noStrike">
                <a:solidFill>
                  <a:srgbClr val="1B2B24"/>
                </a:solidFill>
                <a:latin typeface="Calibri"/>
                <a:ea typeface="Calibri"/>
                <a:cs typeface="Calibri"/>
                <a:sym typeface="Calibri"/>
              </a:rPr>
              <a:t>48,842 US adults from the 1994 Census (UCI Adult, CC BY 4.0). It does not predict "entitled but not applying". It applies the full method to a public dataset. A real DUO tool needs recent Dutch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4"/>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Who uses it, and who must not</a:t>
            </a:r>
            <a:endParaRPr/>
          </a:p>
        </p:txBody>
      </p:sp>
      <p:sp>
        <p:nvSpPr>
          <p:cNvPr id="129" name="Google Shape;129;p4"/>
          <p:cNvSpPr/>
          <p:nvPr/>
        </p:nvSpPr>
        <p:spPr>
          <a:xfrm>
            <a:off x="640080" y="1645920"/>
            <a:ext cx="2606040" cy="3291840"/>
          </a:xfrm>
          <a:prstGeom prst="roundRect">
            <a:avLst>
              <a:gd fmla="val 8000" name="adj"/>
            </a:avLst>
          </a:prstGeom>
          <a:solidFill>
            <a:srgbClr val="1F4D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4"/>
          <p:cNvSpPr txBox="1"/>
          <p:nvPr/>
        </p:nvSpPr>
        <p:spPr>
          <a:xfrm>
            <a:off x="822959" y="1783080"/>
            <a:ext cx="22402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8DB580"/>
                </a:solidFill>
                <a:latin typeface="Calibri"/>
                <a:ea typeface="Calibri"/>
                <a:cs typeface="Calibri"/>
                <a:sym typeface="Calibri"/>
              </a:rPr>
              <a:t>USER</a:t>
            </a:r>
            <a:endParaRPr/>
          </a:p>
        </p:txBody>
      </p:sp>
      <p:sp>
        <p:nvSpPr>
          <p:cNvPr id="131" name="Google Shape;131;p4"/>
          <p:cNvSpPr txBox="1"/>
          <p:nvPr/>
        </p:nvSpPr>
        <p:spPr>
          <a:xfrm>
            <a:off x="822959" y="2286000"/>
            <a:ext cx="2240280" cy="2560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FFFFFF"/>
                </a:solidFill>
                <a:latin typeface="Calibri"/>
                <a:ea typeface="Calibri"/>
                <a:cs typeface="Calibri"/>
                <a:sym typeface="Calibri"/>
              </a:rPr>
              <a:t>A DUO team member choosing who gets an information letter</a:t>
            </a:r>
            <a:endParaRPr/>
          </a:p>
        </p:txBody>
      </p:sp>
      <p:sp>
        <p:nvSpPr>
          <p:cNvPr id="132" name="Google Shape;132;p4"/>
          <p:cNvSpPr/>
          <p:nvPr/>
        </p:nvSpPr>
        <p:spPr>
          <a:xfrm>
            <a:off x="3410711" y="1645920"/>
            <a:ext cx="2606040" cy="329184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4"/>
          <p:cNvSpPr txBox="1"/>
          <p:nvPr/>
        </p:nvSpPr>
        <p:spPr>
          <a:xfrm>
            <a:off x="3593591" y="1783080"/>
            <a:ext cx="22402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55655D"/>
                </a:solidFill>
                <a:latin typeface="Calibri"/>
                <a:ea typeface="Calibri"/>
                <a:cs typeface="Calibri"/>
                <a:sym typeface="Calibri"/>
              </a:rPr>
              <a:t>NEEDS</a:t>
            </a:r>
            <a:endParaRPr/>
          </a:p>
        </p:txBody>
      </p:sp>
      <p:sp>
        <p:nvSpPr>
          <p:cNvPr id="134" name="Google Shape;134;p4"/>
          <p:cNvSpPr txBox="1"/>
          <p:nvPr/>
        </p:nvSpPr>
        <p:spPr>
          <a:xfrm>
            <a:off x="3593591" y="2286000"/>
            <a:ext cx="2240280" cy="2560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1B2B24"/>
                </a:solidFill>
                <a:latin typeface="Calibri"/>
                <a:ea typeface="Calibri"/>
                <a:cs typeface="Calibri"/>
                <a:sym typeface="Calibri"/>
              </a:rPr>
              <a:t>A ranked list of students whose parents are probably low income, and a reason they can explain</a:t>
            </a:r>
            <a:endParaRPr/>
          </a:p>
        </p:txBody>
      </p:sp>
      <p:sp>
        <p:nvSpPr>
          <p:cNvPr id="135" name="Google Shape;135;p4"/>
          <p:cNvSpPr/>
          <p:nvPr/>
        </p:nvSpPr>
        <p:spPr>
          <a:xfrm>
            <a:off x="6181344" y="1645920"/>
            <a:ext cx="2606040" cy="329184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txBox="1"/>
          <p:nvPr/>
        </p:nvSpPr>
        <p:spPr>
          <a:xfrm>
            <a:off x="6364224" y="1783080"/>
            <a:ext cx="22402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55655D"/>
                </a:solidFill>
                <a:latin typeface="Calibri"/>
                <a:ea typeface="Calibri"/>
                <a:cs typeface="Calibri"/>
                <a:sym typeface="Calibri"/>
              </a:rPr>
              <a:t>CONDITIONS</a:t>
            </a:r>
            <a:endParaRPr/>
          </a:p>
        </p:txBody>
      </p:sp>
      <p:sp>
        <p:nvSpPr>
          <p:cNvPr id="137" name="Google Shape;137;p4"/>
          <p:cNvSpPr txBox="1"/>
          <p:nvPr/>
        </p:nvSpPr>
        <p:spPr>
          <a:xfrm>
            <a:off x="6364224" y="2286000"/>
            <a:ext cx="2240280" cy="2560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1B2B24"/>
                </a:solidFill>
                <a:latin typeface="Calibri"/>
                <a:ea typeface="Calibri"/>
                <a:cs typeface="Calibri"/>
                <a:sym typeface="Calibri"/>
              </a:rPr>
              <a:t>The model only picks who gets a letter. DUO checks the real income. The letter is never the only channel.</a:t>
            </a:r>
            <a:endParaRPr/>
          </a:p>
        </p:txBody>
      </p:sp>
      <p:sp>
        <p:nvSpPr>
          <p:cNvPr id="138" name="Google Shape;138;p4"/>
          <p:cNvSpPr/>
          <p:nvPr/>
        </p:nvSpPr>
        <p:spPr>
          <a:xfrm>
            <a:off x="8951976" y="1645920"/>
            <a:ext cx="2606040" cy="3291840"/>
          </a:xfrm>
          <a:prstGeom prst="roundRect">
            <a:avLst>
              <a:gd fmla="val 8000" name="adj"/>
            </a:avLst>
          </a:prstGeom>
          <a:solidFill>
            <a:srgbClr val="F2A5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4"/>
          <p:cNvSpPr txBox="1"/>
          <p:nvPr/>
        </p:nvSpPr>
        <p:spPr>
          <a:xfrm>
            <a:off x="9134855" y="1783080"/>
            <a:ext cx="22402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1B2B24"/>
                </a:solidFill>
                <a:latin typeface="Calibri"/>
                <a:ea typeface="Calibri"/>
                <a:cs typeface="Calibri"/>
                <a:sym typeface="Calibri"/>
              </a:rPr>
              <a:t>NOT FOR</a:t>
            </a:r>
            <a:endParaRPr/>
          </a:p>
        </p:txBody>
      </p:sp>
      <p:sp>
        <p:nvSpPr>
          <p:cNvPr id="140" name="Google Shape;140;p4"/>
          <p:cNvSpPr txBox="1"/>
          <p:nvPr/>
        </p:nvSpPr>
        <p:spPr>
          <a:xfrm>
            <a:off x="9134855" y="2286000"/>
            <a:ext cx="2240280" cy="2560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1B2B24"/>
                </a:solidFill>
                <a:latin typeface="Calibri"/>
                <a:ea typeface="Calibri"/>
                <a:cs typeface="Calibri"/>
                <a:sym typeface="Calibri"/>
              </a:rPr>
              <a:t>Refusing a grant. Dutch students, until it is trained again on recent Dutch data.</a:t>
            </a:r>
            <a:endParaRPr/>
          </a:p>
        </p:txBody>
      </p:sp>
      <p:sp>
        <p:nvSpPr>
          <p:cNvPr id="141" name="Google Shape;141;p4"/>
          <p:cNvSpPr txBox="1"/>
          <p:nvPr/>
        </p:nvSpPr>
        <p:spPr>
          <a:xfrm>
            <a:off x="640080" y="5303520"/>
            <a:ext cx="10881360" cy="6400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600" u="none" cap="none" strike="noStrike">
                <a:solidFill>
                  <a:srgbClr val="55655D"/>
                </a:solidFill>
                <a:latin typeface="Calibri"/>
                <a:ea typeface="Calibri"/>
                <a:cs typeface="Calibri"/>
                <a:sym typeface="Calibri"/>
              </a:rPr>
              <a:t>Affected people: students whose parents are, or are not, picked. "Not flagged" never means "not entitled".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5"/>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The data: 48,842 US adults, 1994</a:t>
            </a:r>
            <a:endParaRPr/>
          </a:p>
        </p:txBody>
      </p:sp>
      <p:graphicFrame>
        <p:nvGraphicFramePr>
          <p:cNvPr id="148" name="Google Shape;148;p5"/>
          <p:cNvGraphicFramePr/>
          <p:nvPr/>
        </p:nvGraphicFramePr>
        <p:xfrm>
          <a:off x="640080" y="1463040"/>
          <a:ext cx="4754880" cy="4206240"/>
        </p:xfrm>
        <a:graphic>
          <a:graphicData uri="http://schemas.openxmlformats.org/drawingml/2006/chart">
            <c:chart r:id="rId3"/>
          </a:graphicData>
        </a:graphic>
      </p:graphicFrame>
      <p:sp>
        <p:nvSpPr>
          <p:cNvPr id="149" name="Google Shape;149;p5"/>
          <p:cNvSpPr txBox="1"/>
          <p:nvPr/>
        </p:nvSpPr>
        <p:spPr>
          <a:xfrm>
            <a:off x="2103120" y="2788920"/>
            <a:ext cx="1828800" cy="118872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000" u="none" cap="none" strike="noStrike">
                <a:solidFill>
                  <a:srgbClr val="1F4D3A"/>
                </a:solidFill>
                <a:latin typeface="Cambria"/>
                <a:ea typeface="Cambria"/>
                <a:cs typeface="Cambria"/>
                <a:sym typeface="Cambria"/>
              </a:rPr>
              <a:t>76%</a:t>
            </a:r>
            <a:endParaRPr/>
          </a:p>
          <a:p>
            <a:pPr indent="0" lvl="0" marL="0" marR="0" rtl="0" algn="ctr">
              <a:spcBef>
                <a:spcPts val="0"/>
              </a:spcBef>
              <a:spcAft>
                <a:spcPts val="0"/>
              </a:spcAft>
              <a:buNone/>
            </a:pPr>
            <a:r>
              <a:rPr b="0" i="0" lang="en-US" sz="1400" u="none" cap="none" strike="noStrike">
                <a:solidFill>
                  <a:srgbClr val="55655D"/>
                </a:solidFill>
                <a:latin typeface="Calibri"/>
                <a:ea typeface="Calibri"/>
                <a:cs typeface="Calibri"/>
                <a:sym typeface="Calibri"/>
              </a:rPr>
              <a:t>low income</a:t>
            </a:r>
            <a:endParaRPr/>
          </a:p>
        </p:txBody>
      </p:sp>
      <p:sp>
        <p:nvSpPr>
          <p:cNvPr id="150" name="Google Shape;150;p5"/>
          <p:cNvSpPr txBox="1"/>
          <p:nvPr/>
        </p:nvSpPr>
        <p:spPr>
          <a:xfrm>
            <a:off x="5852160" y="1554480"/>
            <a:ext cx="15544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55655D"/>
                </a:solidFill>
                <a:latin typeface="Calibri"/>
                <a:ea typeface="Calibri"/>
                <a:cs typeface="Calibri"/>
                <a:sym typeface="Calibri"/>
              </a:rPr>
              <a:t>Source</a:t>
            </a:r>
            <a:endParaRPr/>
          </a:p>
        </p:txBody>
      </p:sp>
      <p:sp>
        <p:nvSpPr>
          <p:cNvPr id="151" name="Google Shape;151;p5"/>
          <p:cNvSpPr txBox="1"/>
          <p:nvPr/>
        </p:nvSpPr>
        <p:spPr>
          <a:xfrm>
            <a:off x="7406640" y="1554480"/>
            <a:ext cx="420624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UCI Adult (Census Income), CC BY 4.0</a:t>
            </a:r>
            <a:endParaRPr/>
          </a:p>
        </p:txBody>
      </p:sp>
      <p:sp>
        <p:nvSpPr>
          <p:cNvPr id="152" name="Google Shape;152;p5"/>
          <p:cNvSpPr txBox="1"/>
          <p:nvPr/>
        </p:nvSpPr>
        <p:spPr>
          <a:xfrm>
            <a:off x="5852160" y="2578608"/>
            <a:ext cx="15544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55655D"/>
                </a:solidFill>
                <a:latin typeface="Calibri"/>
                <a:ea typeface="Calibri"/>
                <a:cs typeface="Calibri"/>
                <a:sym typeface="Calibri"/>
              </a:rPr>
              <a:t>Size</a:t>
            </a:r>
            <a:endParaRPr/>
          </a:p>
        </p:txBody>
      </p:sp>
      <p:sp>
        <p:nvSpPr>
          <p:cNvPr id="153" name="Google Shape;153;p5"/>
          <p:cNvSpPr txBox="1"/>
          <p:nvPr/>
        </p:nvSpPr>
        <p:spPr>
          <a:xfrm>
            <a:off x="7406640" y="2578608"/>
            <a:ext cx="420624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48,842 rows, 14 features plus the target</a:t>
            </a:r>
            <a:endParaRPr/>
          </a:p>
        </p:txBody>
      </p:sp>
      <p:sp>
        <p:nvSpPr>
          <p:cNvPr id="154" name="Google Shape;154;p5"/>
          <p:cNvSpPr txBox="1"/>
          <p:nvPr/>
        </p:nvSpPr>
        <p:spPr>
          <a:xfrm>
            <a:off x="5852160" y="3602736"/>
            <a:ext cx="15544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55655D"/>
                </a:solidFill>
                <a:latin typeface="Calibri"/>
                <a:ea typeface="Calibri"/>
                <a:cs typeface="Calibri"/>
                <a:sym typeface="Calibri"/>
              </a:rPr>
              <a:t>Cleaned</a:t>
            </a:r>
            <a:endParaRPr/>
          </a:p>
        </p:txBody>
      </p:sp>
      <p:sp>
        <p:nvSpPr>
          <p:cNvPr id="155" name="Google Shape;155;p5"/>
          <p:cNvSpPr txBox="1"/>
          <p:nvPr/>
        </p:nvSpPr>
        <p:spPr>
          <a:xfrm>
            <a:off x="7406640" y="3602736"/>
            <a:ext cx="420624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 became missing values, 52 duplicate rows removed, 2 columns dropped</a:t>
            </a:r>
            <a:endParaRPr/>
          </a:p>
        </p:txBody>
      </p:sp>
      <p:sp>
        <p:nvSpPr>
          <p:cNvPr id="156" name="Google Shape;156;p5"/>
          <p:cNvSpPr txBox="1"/>
          <p:nvPr/>
        </p:nvSpPr>
        <p:spPr>
          <a:xfrm>
            <a:off x="5852160" y="4626864"/>
            <a:ext cx="15544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55655D"/>
                </a:solidFill>
                <a:latin typeface="Calibri"/>
                <a:ea typeface="Calibri"/>
                <a:cs typeface="Calibri"/>
                <a:sym typeface="Calibri"/>
              </a:rPr>
              <a:t>Limits</a:t>
            </a:r>
            <a:endParaRPr/>
          </a:p>
        </p:txBody>
      </p:sp>
      <p:sp>
        <p:nvSpPr>
          <p:cNvPr id="157" name="Google Shape;157;p5"/>
          <p:cNvSpPr txBox="1"/>
          <p:nvPr/>
        </p:nvSpPr>
        <p:spPr>
          <a:xfrm>
            <a:off x="7406640" y="4626864"/>
            <a:ext cx="4206240" cy="10058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Old, US only, adults only. Sex and race are columns.</a:t>
            </a:r>
            <a:endParaRPr/>
          </a:p>
        </p:txBody>
      </p:sp>
      <p:sp>
        <p:nvSpPr>
          <p:cNvPr id="158" name="Google Shape;158;p5"/>
          <p:cNvSpPr txBox="1"/>
          <p:nvPr/>
        </p:nvSpPr>
        <p:spPr>
          <a:xfrm>
            <a:off x="640080" y="5852160"/>
            <a:ext cx="108813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F4D3A"/>
                </a:solidFill>
                <a:latin typeface="Calibri"/>
                <a:ea typeface="Calibri"/>
                <a:cs typeface="Calibri"/>
                <a:sym typeface="Calibri"/>
              </a:rPr>
              <a:t>76% low income means a model that always says "low income" is right 76% of the time without learning anything.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6"/>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The solution, step by step</a:t>
            </a:r>
            <a:endParaRPr/>
          </a:p>
        </p:txBody>
      </p:sp>
      <p:sp>
        <p:nvSpPr>
          <p:cNvPr id="165" name="Google Shape;165;p6"/>
          <p:cNvSpPr/>
          <p:nvPr/>
        </p:nvSpPr>
        <p:spPr>
          <a:xfrm>
            <a:off x="640080" y="1645920"/>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6"/>
          <p:cNvSpPr/>
          <p:nvPr/>
        </p:nvSpPr>
        <p:spPr>
          <a:xfrm>
            <a:off x="822959" y="182880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1</a:t>
            </a:r>
            <a:endParaRPr/>
          </a:p>
        </p:txBody>
      </p:sp>
      <p:sp>
        <p:nvSpPr>
          <p:cNvPr id="167" name="Google Shape;167;p6"/>
          <p:cNvSpPr txBox="1"/>
          <p:nvPr/>
        </p:nvSpPr>
        <p:spPr>
          <a:xfrm>
            <a:off x="1508760" y="182880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Split first</a:t>
            </a:r>
            <a:endParaRPr/>
          </a:p>
        </p:txBody>
      </p:sp>
      <p:sp>
        <p:nvSpPr>
          <p:cNvPr id="168" name="Google Shape;168;p6"/>
          <p:cNvSpPr txBox="1"/>
          <p:nvPr/>
        </p:nvSpPr>
        <p:spPr>
          <a:xfrm>
            <a:off x="868680" y="2423160"/>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20% test set, stratified, kept closed until the end</a:t>
            </a:r>
            <a:endParaRPr/>
          </a:p>
        </p:txBody>
      </p:sp>
      <p:sp>
        <p:nvSpPr>
          <p:cNvPr id="169" name="Google Shape;169;p6"/>
          <p:cNvSpPr/>
          <p:nvPr/>
        </p:nvSpPr>
        <p:spPr>
          <a:xfrm>
            <a:off x="4343400" y="1645920"/>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6"/>
          <p:cNvSpPr/>
          <p:nvPr/>
        </p:nvSpPr>
        <p:spPr>
          <a:xfrm>
            <a:off x="4526280" y="182880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2</a:t>
            </a:r>
            <a:endParaRPr/>
          </a:p>
        </p:txBody>
      </p:sp>
      <p:sp>
        <p:nvSpPr>
          <p:cNvPr id="171" name="Google Shape;171;p6"/>
          <p:cNvSpPr txBox="1"/>
          <p:nvPr/>
        </p:nvSpPr>
        <p:spPr>
          <a:xfrm>
            <a:off x="5212080" y="182880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Pipeline</a:t>
            </a:r>
            <a:endParaRPr/>
          </a:p>
        </p:txBody>
      </p:sp>
      <p:sp>
        <p:nvSpPr>
          <p:cNvPr id="172" name="Google Shape;172;p6"/>
          <p:cNvSpPr txBox="1"/>
          <p:nvPr/>
        </p:nvSpPr>
        <p:spPr>
          <a:xfrm>
            <a:off x="4572000" y="2423160"/>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Impute, scale and one-hot encode, learned from training data only</a:t>
            </a:r>
            <a:endParaRPr/>
          </a:p>
        </p:txBody>
      </p:sp>
      <p:sp>
        <p:nvSpPr>
          <p:cNvPr id="173" name="Google Shape;173;p6"/>
          <p:cNvSpPr/>
          <p:nvPr/>
        </p:nvSpPr>
        <p:spPr>
          <a:xfrm>
            <a:off x="8046719" y="1645920"/>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6"/>
          <p:cNvSpPr/>
          <p:nvPr/>
        </p:nvSpPr>
        <p:spPr>
          <a:xfrm>
            <a:off x="8229599" y="182880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3</a:t>
            </a:r>
            <a:endParaRPr/>
          </a:p>
        </p:txBody>
      </p:sp>
      <p:sp>
        <p:nvSpPr>
          <p:cNvPr id="175" name="Google Shape;175;p6"/>
          <p:cNvSpPr txBox="1"/>
          <p:nvPr/>
        </p:nvSpPr>
        <p:spPr>
          <a:xfrm>
            <a:off x="8915399" y="182880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Baseline</a:t>
            </a:r>
            <a:endParaRPr/>
          </a:p>
        </p:txBody>
      </p:sp>
      <p:sp>
        <p:nvSpPr>
          <p:cNvPr id="176" name="Google Shape;176;p6"/>
          <p:cNvSpPr txBox="1"/>
          <p:nvPr/>
        </p:nvSpPr>
        <p:spPr>
          <a:xfrm>
            <a:off x="8275319" y="2423160"/>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Always says "low income"</a:t>
            </a:r>
            <a:endParaRPr/>
          </a:p>
        </p:txBody>
      </p:sp>
      <p:sp>
        <p:nvSpPr>
          <p:cNvPr id="177" name="Google Shape;177;p6"/>
          <p:cNvSpPr/>
          <p:nvPr/>
        </p:nvSpPr>
        <p:spPr>
          <a:xfrm>
            <a:off x="640080" y="3749039"/>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6"/>
          <p:cNvSpPr/>
          <p:nvPr/>
        </p:nvSpPr>
        <p:spPr>
          <a:xfrm>
            <a:off x="822959" y="393192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4</a:t>
            </a:r>
            <a:endParaRPr/>
          </a:p>
        </p:txBody>
      </p:sp>
      <p:sp>
        <p:nvSpPr>
          <p:cNvPr id="179" name="Google Shape;179;p6"/>
          <p:cNvSpPr txBox="1"/>
          <p:nvPr/>
        </p:nvSpPr>
        <p:spPr>
          <a:xfrm>
            <a:off x="1508760" y="393192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Tune</a:t>
            </a:r>
            <a:endParaRPr/>
          </a:p>
        </p:txBody>
      </p:sp>
      <p:sp>
        <p:nvSpPr>
          <p:cNvPr id="180" name="Google Shape;180;p6"/>
          <p:cNvSpPr txBox="1"/>
          <p:nvPr/>
        </p:nvSpPr>
        <p:spPr>
          <a:xfrm>
            <a:off x="868680" y="4526279"/>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KNN, logistic regression, random forest, 5-fold cross-validation</a:t>
            </a:r>
            <a:endParaRPr/>
          </a:p>
        </p:txBody>
      </p:sp>
      <p:sp>
        <p:nvSpPr>
          <p:cNvPr id="181" name="Google Shape;181;p6"/>
          <p:cNvSpPr/>
          <p:nvPr/>
        </p:nvSpPr>
        <p:spPr>
          <a:xfrm>
            <a:off x="4343400" y="3749039"/>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6"/>
          <p:cNvSpPr/>
          <p:nvPr/>
        </p:nvSpPr>
        <p:spPr>
          <a:xfrm>
            <a:off x="4526280" y="393192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5</a:t>
            </a:r>
            <a:endParaRPr/>
          </a:p>
        </p:txBody>
      </p:sp>
      <p:sp>
        <p:nvSpPr>
          <p:cNvPr id="183" name="Google Shape;183;p6"/>
          <p:cNvSpPr txBox="1"/>
          <p:nvPr/>
        </p:nvSpPr>
        <p:spPr>
          <a:xfrm>
            <a:off x="5212080" y="393192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Test once</a:t>
            </a:r>
            <a:endParaRPr/>
          </a:p>
        </p:txBody>
      </p:sp>
      <p:sp>
        <p:nvSpPr>
          <p:cNvPr id="184" name="Google Shape;184;p6"/>
          <p:cNvSpPr txBox="1"/>
          <p:nvPr/>
        </p:nvSpPr>
        <p:spPr>
          <a:xfrm>
            <a:off x="4572000" y="4526279"/>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Same test rows for every model</a:t>
            </a:r>
            <a:endParaRPr/>
          </a:p>
        </p:txBody>
      </p:sp>
      <p:sp>
        <p:nvSpPr>
          <p:cNvPr id="185" name="Google Shape;185;p6"/>
          <p:cNvSpPr/>
          <p:nvPr/>
        </p:nvSpPr>
        <p:spPr>
          <a:xfrm>
            <a:off x="8046719" y="3749039"/>
            <a:ext cx="3520440" cy="187451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6"/>
          <p:cNvSpPr/>
          <p:nvPr/>
        </p:nvSpPr>
        <p:spPr>
          <a:xfrm>
            <a:off x="8229599" y="3931920"/>
            <a:ext cx="502920" cy="502920"/>
          </a:xfrm>
          <a:prstGeom prst="ellipse">
            <a:avLst/>
          </a:prstGeom>
          <a:solidFill>
            <a:srgbClr val="1F4D3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rgbClr val="FFFFFF"/>
                </a:solidFill>
                <a:latin typeface="Calibri"/>
                <a:ea typeface="Calibri"/>
                <a:cs typeface="Calibri"/>
                <a:sym typeface="Calibri"/>
              </a:rPr>
              <a:t>6</a:t>
            </a:r>
            <a:endParaRPr/>
          </a:p>
        </p:txBody>
      </p:sp>
      <p:sp>
        <p:nvSpPr>
          <p:cNvPr id="187" name="Google Shape;187;p6"/>
          <p:cNvSpPr txBox="1"/>
          <p:nvPr/>
        </p:nvSpPr>
        <p:spPr>
          <a:xfrm>
            <a:off x="8915399" y="3931920"/>
            <a:ext cx="2560320" cy="502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1F4D3A"/>
                </a:solidFill>
                <a:latin typeface="Cambria"/>
                <a:ea typeface="Cambria"/>
                <a:cs typeface="Cambria"/>
                <a:sym typeface="Cambria"/>
              </a:rPr>
              <a:t>Use it</a:t>
            </a:r>
            <a:endParaRPr/>
          </a:p>
        </p:txBody>
      </p:sp>
      <p:sp>
        <p:nvSpPr>
          <p:cNvPr id="188" name="Google Shape;188;p6"/>
          <p:cNvSpPr txBox="1"/>
          <p:nvPr/>
        </p:nvSpPr>
        <p:spPr>
          <a:xfrm>
            <a:off x="8275319" y="4526279"/>
            <a:ext cx="3108960" cy="10515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Probability for a new person</a:t>
            </a:r>
            <a:endParaRPr/>
          </a:p>
        </p:txBody>
      </p:sp>
      <p:sp>
        <p:nvSpPr>
          <p:cNvPr id="189" name="Google Shape;189;p6"/>
          <p:cNvSpPr txBox="1"/>
          <p:nvPr/>
        </p:nvSpPr>
        <p:spPr>
          <a:xfrm>
            <a:off x="640080" y="5806440"/>
            <a:ext cx="10881360" cy="8686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55655D"/>
                </a:solidFill>
                <a:latin typeface="Calibri"/>
                <a:ea typeface="Calibri"/>
                <a:cs typeface="Calibri"/>
                <a:sym typeface="Calibri"/>
              </a:rPr>
              <a:t>Input: one person's census record (12 features). Output: the probability of low income. scikit-learn does the pipeline, the three models, the tuning and the scores.</a:t>
            </a:r>
            <a:endParaRPr/>
          </a:p>
          <a:p>
            <a:pPr indent="0" lvl="0" marL="0" marR="0" rtl="0" algn="l">
              <a:spcBef>
                <a:spcPts val="300"/>
              </a:spcBef>
              <a:spcAft>
                <a:spcPts val="0"/>
              </a:spcAft>
              <a:buNone/>
            </a:pPr>
            <a:r>
              <a:rPr b="0" i="0" lang="en-US" sz="1400" u="none" cap="none" strike="noStrike">
                <a:solidFill>
                  <a:srgbClr val="55655D"/>
                </a:solidFill>
                <a:latin typeface="Calibri"/>
                <a:ea typeface="Calibri"/>
                <a:cs typeface="Calibri"/>
                <a:sym typeface="Calibri"/>
              </a:rPr>
              <a:t>Everything runs from the raw file to the final prediction with Run all.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7"/>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All three models beat the baseline</a:t>
            </a:r>
            <a:endParaRPr/>
          </a:p>
        </p:txBody>
      </p:sp>
      <p:graphicFrame>
        <p:nvGraphicFramePr>
          <p:cNvPr id="196" name="Google Shape;196;p7"/>
          <p:cNvGraphicFramePr/>
          <p:nvPr/>
        </p:nvGraphicFramePr>
        <p:xfrm>
          <a:off x="640080" y="1463040"/>
          <a:ext cx="5669280" cy="4297680"/>
        </p:xfrm>
        <a:graphic>
          <a:graphicData uri="http://schemas.openxmlformats.org/drawingml/2006/chart">
            <c:chart r:id="rId3"/>
          </a:graphicData>
        </a:graphic>
      </p:graphicFrame>
      <p:graphicFrame>
        <p:nvGraphicFramePr>
          <p:cNvPr id="197" name="Google Shape;197;p7"/>
          <p:cNvGraphicFramePr/>
          <p:nvPr/>
        </p:nvGraphicFramePr>
        <p:xfrm>
          <a:off x="6583680" y="1737360"/>
          <a:ext cx="3000000" cy="3000000"/>
        </p:xfrm>
        <a:graphic>
          <a:graphicData uri="http://schemas.openxmlformats.org/drawingml/2006/table">
            <a:tbl>
              <a:tblPr bandRow="1" firstRow="1">
                <a:noFill/>
                <a:tableStyleId>{3E51A3B4-0AD2-43B1-B54E-A34E672037D2}</a:tableStyleId>
              </a:tblPr>
              <a:tblGrid>
                <a:gridCol w="1371600"/>
                <a:gridCol w="1463050"/>
                <a:gridCol w="1097275"/>
                <a:gridCol w="1097275"/>
              </a:tblGrid>
              <a:tr h="621800">
                <a:tc>
                  <a:txBody>
                    <a:bodyPr/>
                    <a:lstStyle/>
                    <a:p>
                      <a:pPr indent="0" lvl="0" marL="0" marR="0" rtl="0" algn="l">
                        <a:spcBef>
                          <a:spcPts val="0"/>
                        </a:spcBef>
                        <a:spcAft>
                          <a:spcPts val="0"/>
                        </a:spcAft>
                        <a:buNone/>
                      </a:pPr>
                      <a:r>
                        <a:rPr b="1" lang="en-US" sz="1400" u="none" cap="none" strike="noStrike">
                          <a:solidFill>
                            <a:srgbClr val="FFFFFF"/>
                          </a:solidFill>
                          <a:latin typeface="Calibri"/>
                          <a:ea typeface="Calibri"/>
                          <a:cs typeface="Calibri"/>
                          <a:sym typeface="Calibri"/>
                        </a:rPr>
                        <a:t>Model</a:t>
                      </a:r>
                      <a:endParaRPr/>
                    </a:p>
                  </a:txBody>
                  <a:tcPr marT="45725" marB="45725" marR="54875" marL="54875" anchor="ctr">
                    <a:solidFill>
                      <a:srgbClr val="1F4D3A"/>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Calibri"/>
                          <a:ea typeface="Calibri"/>
                          <a:cs typeface="Calibri"/>
                          <a:sym typeface="Calibri"/>
                        </a:rPr>
                        <a:t>CV (mean ± std)</a:t>
                      </a:r>
                      <a:endParaRPr/>
                    </a:p>
                  </a:txBody>
                  <a:tcPr marT="45725" marB="45725" marR="54875" marL="54875" anchor="ctr">
                    <a:solidFill>
                      <a:srgbClr val="1F4D3A"/>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Calibri"/>
                          <a:ea typeface="Calibri"/>
                          <a:cs typeface="Calibri"/>
                          <a:sym typeface="Calibri"/>
                        </a:rPr>
                        <a:t>Test precision</a:t>
                      </a:r>
                      <a:endParaRPr/>
                    </a:p>
                  </a:txBody>
                  <a:tcPr marT="45725" marB="45725" marR="54875" marL="54875" anchor="ctr">
                    <a:solidFill>
                      <a:srgbClr val="1F4D3A"/>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Calibri"/>
                          <a:ea typeface="Calibri"/>
                          <a:cs typeface="Calibri"/>
                          <a:sym typeface="Calibri"/>
                        </a:rPr>
                        <a:t>Test recall</a:t>
                      </a:r>
                      <a:endParaRPr/>
                    </a:p>
                  </a:txBody>
                  <a:tcPr marT="45725" marB="45725" marR="54875" marL="54875" anchor="ctr">
                    <a:solidFill>
                      <a:srgbClr val="1F4D3A"/>
                    </a:solidFill>
                  </a:tcPr>
                </a:tc>
              </a:tr>
              <a:tr h="621800">
                <a:tc>
                  <a:txBody>
                    <a:bodyPr/>
                    <a:lstStyle/>
                    <a:p>
                      <a:pPr indent="0" lvl="0" marL="0" marR="0" rtl="0" algn="l">
                        <a:spcBef>
                          <a:spcPts val="0"/>
                        </a:spcBef>
                        <a:spcAft>
                          <a:spcPts val="0"/>
                        </a:spcAft>
                        <a:buNone/>
                      </a:pPr>
                      <a:r>
                        <a:rPr b="0" lang="en-US" sz="1400" u="none" cap="none" strike="noStrike">
                          <a:solidFill>
                            <a:srgbClr val="1B2B24"/>
                          </a:solidFill>
                          <a:latin typeface="Calibri"/>
                          <a:ea typeface="Calibri"/>
                          <a:cs typeface="Calibri"/>
                          <a:sym typeface="Calibri"/>
                        </a:rPr>
                        <a:t>Baseline</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0.500 ± 0.000</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0.761</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1.000</a:t>
                      </a:r>
                      <a:endParaRPr/>
                    </a:p>
                  </a:txBody>
                  <a:tcPr marT="45725" marB="45725" marR="54875" marL="54875" anchor="ctr">
                    <a:solidFill>
                      <a:srgbClr val="FFFFFF"/>
                    </a:solidFill>
                  </a:tcPr>
                </a:tc>
              </a:tr>
              <a:tr h="621800">
                <a:tc>
                  <a:txBody>
                    <a:bodyPr/>
                    <a:lstStyle/>
                    <a:p>
                      <a:pPr indent="0" lvl="0" marL="0" marR="0" rtl="0" algn="l">
                        <a:spcBef>
                          <a:spcPts val="0"/>
                        </a:spcBef>
                        <a:spcAft>
                          <a:spcPts val="0"/>
                        </a:spcAft>
                        <a:buNone/>
                      </a:pPr>
                      <a:r>
                        <a:rPr b="0" lang="en-US" sz="1400" u="none" cap="none" strike="noStrike">
                          <a:solidFill>
                            <a:srgbClr val="1B2B24"/>
                          </a:solidFill>
                          <a:latin typeface="Calibri"/>
                          <a:ea typeface="Calibri"/>
                          <a:cs typeface="Calibri"/>
                          <a:sym typeface="Calibri"/>
                        </a:rPr>
                        <a:t>KNN (k=31)</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0.766 ± 0.006</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0.884</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0.925</a:t>
                      </a:r>
                      <a:endParaRPr/>
                    </a:p>
                  </a:txBody>
                  <a:tcPr marT="45725" marB="45725" marR="54875" marL="54875" anchor="ctr">
                    <a:solidFill>
                      <a:srgbClr val="FFFFFF"/>
                    </a:solidFill>
                  </a:tcPr>
                </a:tc>
              </a:tr>
              <a:tr h="621800">
                <a:tc>
                  <a:txBody>
                    <a:bodyPr/>
                    <a:lstStyle/>
                    <a:p>
                      <a:pPr indent="0" lvl="0" marL="0" marR="0" rtl="0" algn="l">
                        <a:spcBef>
                          <a:spcPts val="0"/>
                        </a:spcBef>
                        <a:spcAft>
                          <a:spcPts val="0"/>
                        </a:spcAft>
                        <a:buNone/>
                      </a:pPr>
                      <a:r>
                        <a:rPr b="0" lang="en-US" sz="1400" u="none" cap="none" strike="noStrike">
                          <a:solidFill>
                            <a:srgbClr val="1B2B24"/>
                          </a:solidFill>
                          <a:latin typeface="Calibri"/>
                          <a:ea typeface="Calibri"/>
                          <a:cs typeface="Calibri"/>
                          <a:sym typeface="Calibri"/>
                        </a:rPr>
                        <a:t>Logistic reg.</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0.820 ± 0.005</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0.944</a:t>
                      </a:r>
                      <a:endParaRPr/>
                    </a:p>
                  </a:txBody>
                  <a:tcPr marT="45725" marB="45725"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B2B24"/>
                          </a:solidFill>
                          <a:latin typeface="Calibri"/>
                          <a:ea typeface="Calibri"/>
                          <a:cs typeface="Calibri"/>
                          <a:sym typeface="Calibri"/>
                        </a:rPr>
                        <a:t>0.795</a:t>
                      </a:r>
                      <a:endParaRPr/>
                    </a:p>
                  </a:txBody>
                  <a:tcPr marT="45725" marB="45725" marR="54875" marL="54875" anchor="ctr">
                    <a:solidFill>
                      <a:srgbClr val="FFFFFF"/>
                    </a:solidFill>
                  </a:tcPr>
                </a:tc>
              </a:tr>
              <a:tr h="621800">
                <a:tc>
                  <a:txBody>
                    <a:bodyPr/>
                    <a:lstStyle/>
                    <a:p>
                      <a:pPr indent="0" lvl="0" marL="0" marR="0" rtl="0" algn="l">
                        <a:spcBef>
                          <a:spcPts val="0"/>
                        </a:spcBef>
                        <a:spcAft>
                          <a:spcPts val="0"/>
                        </a:spcAft>
                        <a:buNone/>
                      </a:pPr>
                      <a:r>
                        <a:rPr b="1" lang="en-US" sz="1400" u="none" cap="none" strike="noStrike">
                          <a:solidFill>
                            <a:srgbClr val="1B2B24"/>
                          </a:solidFill>
                          <a:latin typeface="Calibri"/>
                          <a:ea typeface="Calibri"/>
                          <a:cs typeface="Calibri"/>
                          <a:sym typeface="Calibri"/>
                        </a:rPr>
                        <a:t>Random forest</a:t>
                      </a:r>
                      <a:endParaRPr/>
                    </a:p>
                  </a:txBody>
                  <a:tcPr marT="45725" marB="45725" marR="54875" marL="54875" anchor="ctr">
                    <a:solidFill>
                      <a:srgbClr val="EAF3E7"/>
                    </a:solidFill>
                  </a:tcPr>
                </a:tc>
                <a:tc>
                  <a:txBody>
                    <a:bodyPr/>
                    <a:lstStyle/>
                    <a:p>
                      <a:pPr indent="0" lvl="0" marL="0" marR="0" rtl="0" algn="ctr">
                        <a:spcBef>
                          <a:spcPts val="0"/>
                        </a:spcBef>
                        <a:spcAft>
                          <a:spcPts val="0"/>
                        </a:spcAft>
                        <a:buNone/>
                      </a:pPr>
                      <a:r>
                        <a:rPr b="1" lang="en-US" sz="1400" u="none" cap="none" strike="noStrike">
                          <a:solidFill>
                            <a:srgbClr val="1B2B24"/>
                          </a:solidFill>
                          <a:latin typeface="Calibri"/>
                          <a:ea typeface="Calibri"/>
                          <a:cs typeface="Calibri"/>
                          <a:sym typeface="Calibri"/>
                        </a:rPr>
                        <a:t>0.826 ± 0.006</a:t>
                      </a:r>
                      <a:endParaRPr/>
                    </a:p>
                  </a:txBody>
                  <a:tcPr marT="45725" marB="45725" marR="54875" marL="54875" anchor="ctr">
                    <a:solidFill>
                      <a:srgbClr val="EAF3E7"/>
                    </a:solidFill>
                  </a:tcPr>
                </a:tc>
                <a:tc>
                  <a:txBody>
                    <a:bodyPr/>
                    <a:lstStyle/>
                    <a:p>
                      <a:pPr indent="0" lvl="0" marL="0" marR="0" rtl="0" algn="ctr">
                        <a:spcBef>
                          <a:spcPts val="0"/>
                        </a:spcBef>
                        <a:spcAft>
                          <a:spcPts val="0"/>
                        </a:spcAft>
                        <a:buNone/>
                      </a:pPr>
                      <a:r>
                        <a:rPr b="1" lang="en-US" sz="1400" u="none" cap="none" strike="noStrike">
                          <a:solidFill>
                            <a:srgbClr val="1B2B24"/>
                          </a:solidFill>
                          <a:latin typeface="Calibri"/>
                          <a:ea typeface="Calibri"/>
                          <a:cs typeface="Calibri"/>
                          <a:sym typeface="Calibri"/>
                        </a:rPr>
                        <a:t>0.938</a:t>
                      </a:r>
                      <a:endParaRPr/>
                    </a:p>
                  </a:txBody>
                  <a:tcPr marT="45725" marB="45725" marR="54875" marL="54875" anchor="ctr">
                    <a:solidFill>
                      <a:srgbClr val="EAF3E7"/>
                    </a:solidFill>
                  </a:tcPr>
                </a:tc>
                <a:tc>
                  <a:txBody>
                    <a:bodyPr/>
                    <a:lstStyle/>
                    <a:p>
                      <a:pPr indent="0" lvl="0" marL="0" marR="0" rtl="0" algn="ctr">
                        <a:spcBef>
                          <a:spcPts val="0"/>
                        </a:spcBef>
                        <a:spcAft>
                          <a:spcPts val="0"/>
                        </a:spcAft>
                        <a:buNone/>
                      </a:pPr>
                      <a:r>
                        <a:rPr b="1" lang="en-US" sz="1400" u="none" cap="none" strike="noStrike">
                          <a:solidFill>
                            <a:srgbClr val="1B2B24"/>
                          </a:solidFill>
                          <a:latin typeface="Calibri"/>
                          <a:ea typeface="Calibri"/>
                          <a:cs typeface="Calibri"/>
                          <a:sym typeface="Calibri"/>
                        </a:rPr>
                        <a:t>0.830</a:t>
                      </a:r>
                      <a:endParaRPr/>
                    </a:p>
                  </a:txBody>
                  <a:tcPr marT="45725" marB="45725" marR="54875" marL="54875" anchor="ctr">
                    <a:solidFill>
                      <a:srgbClr val="EAF3E7"/>
                    </a:solidFill>
                  </a:tcPr>
                </a:tc>
              </a:tr>
            </a:tbl>
          </a:graphicData>
        </a:graphic>
      </p:graphicFrame>
      <p:sp>
        <p:nvSpPr>
          <p:cNvPr id="198" name="Google Shape;198;p7"/>
          <p:cNvSpPr txBox="1"/>
          <p:nvPr/>
        </p:nvSpPr>
        <p:spPr>
          <a:xfrm>
            <a:off x="6583680" y="4937760"/>
            <a:ext cx="5029200" cy="1417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1B2B24"/>
                </a:solidFill>
                <a:latin typeface="Calibri"/>
                <a:ea typeface="Calibri"/>
                <a:cs typeface="Calibri"/>
                <a:sym typeface="Calibri"/>
              </a:rPr>
              <a:t>Random forest and logistic regression are tied on the main metric (spread about 0.006); the forest finds 264 more low-income students. Sending everyone a letter would waste 2,336 letters in the test set. The forest wastes 410.</a:t>
            </a:r>
            <a:endParaRPr/>
          </a:p>
        </p:txBody>
      </p:sp>
      <p:sp>
        <p:nvSpPr>
          <p:cNvPr id="199" name="Google Shape;199;p7"/>
          <p:cNvSpPr txBox="1"/>
          <p:nvPr/>
        </p:nvSpPr>
        <p:spPr>
          <a:xfrm>
            <a:off x="640080" y="5989320"/>
            <a:ext cx="566928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55655D"/>
                </a:solidFill>
                <a:latin typeface="Calibri"/>
                <a:ea typeface="Calibri"/>
                <a:cs typeface="Calibri"/>
                <a:sym typeface="Calibri"/>
              </a:rPr>
              <a:t>Main metric: balanced accuracy. Settings were tuned on the training set only.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8"/>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The random forest misses 1 in 6 low-income people</a:t>
            </a:r>
            <a:endParaRPr/>
          </a:p>
        </p:txBody>
      </p:sp>
      <p:sp>
        <p:nvSpPr>
          <p:cNvPr id="206" name="Google Shape;206;p8"/>
          <p:cNvSpPr txBox="1"/>
          <p:nvPr/>
        </p:nvSpPr>
        <p:spPr>
          <a:xfrm>
            <a:off x="3017520" y="1417320"/>
            <a:ext cx="2743200" cy="4572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00" u="none" cap="none" strike="noStrike">
                <a:solidFill>
                  <a:srgbClr val="55655D"/>
                </a:solidFill>
                <a:latin typeface="Calibri"/>
                <a:ea typeface="Calibri"/>
                <a:cs typeface="Calibri"/>
                <a:sym typeface="Calibri"/>
              </a:rPr>
              <a:t>Model says: low income</a:t>
            </a:r>
            <a:endParaRPr/>
          </a:p>
        </p:txBody>
      </p:sp>
      <p:sp>
        <p:nvSpPr>
          <p:cNvPr id="207" name="Google Shape;207;p8"/>
          <p:cNvSpPr txBox="1"/>
          <p:nvPr/>
        </p:nvSpPr>
        <p:spPr>
          <a:xfrm>
            <a:off x="5852160" y="1417320"/>
            <a:ext cx="2743200" cy="4572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1400" u="none" cap="none" strike="noStrike">
                <a:solidFill>
                  <a:srgbClr val="55655D"/>
                </a:solidFill>
                <a:latin typeface="Calibri"/>
                <a:ea typeface="Calibri"/>
                <a:cs typeface="Calibri"/>
                <a:sym typeface="Calibri"/>
              </a:rPr>
              <a:t>Model says: higher income</a:t>
            </a:r>
            <a:endParaRPr/>
          </a:p>
        </p:txBody>
      </p:sp>
      <p:sp>
        <p:nvSpPr>
          <p:cNvPr id="208" name="Google Shape;208;p8"/>
          <p:cNvSpPr txBox="1"/>
          <p:nvPr/>
        </p:nvSpPr>
        <p:spPr>
          <a:xfrm>
            <a:off x="640080" y="2331720"/>
            <a:ext cx="2286000" cy="109728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400" u="none" cap="none" strike="noStrike">
                <a:solidFill>
                  <a:srgbClr val="55655D"/>
                </a:solidFill>
                <a:latin typeface="Calibri"/>
                <a:ea typeface="Calibri"/>
                <a:cs typeface="Calibri"/>
                <a:sym typeface="Calibri"/>
              </a:rPr>
              <a:t>Really low income (7,422)</a:t>
            </a:r>
            <a:endParaRPr/>
          </a:p>
        </p:txBody>
      </p:sp>
      <p:sp>
        <p:nvSpPr>
          <p:cNvPr id="209" name="Google Shape;209;p8"/>
          <p:cNvSpPr txBox="1"/>
          <p:nvPr/>
        </p:nvSpPr>
        <p:spPr>
          <a:xfrm>
            <a:off x="640080" y="4114800"/>
            <a:ext cx="2286000" cy="109728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400" u="none" cap="none" strike="noStrike">
                <a:solidFill>
                  <a:srgbClr val="55655D"/>
                </a:solidFill>
                <a:latin typeface="Calibri"/>
                <a:ea typeface="Calibri"/>
                <a:cs typeface="Calibri"/>
                <a:sym typeface="Calibri"/>
              </a:rPr>
              <a:t>Really higher income (2,336)</a:t>
            </a:r>
            <a:endParaRPr/>
          </a:p>
        </p:txBody>
      </p:sp>
      <p:sp>
        <p:nvSpPr>
          <p:cNvPr id="210" name="Google Shape;210;p8"/>
          <p:cNvSpPr/>
          <p:nvPr/>
        </p:nvSpPr>
        <p:spPr>
          <a:xfrm>
            <a:off x="3017520" y="1874519"/>
            <a:ext cx="2743200" cy="1828800"/>
          </a:xfrm>
          <a:prstGeom prst="roundRect">
            <a:avLst>
              <a:gd fmla="val 8000" name="adj"/>
            </a:avLst>
          </a:prstGeom>
          <a:solidFill>
            <a:srgbClr val="1F4D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8"/>
          <p:cNvSpPr txBox="1"/>
          <p:nvPr/>
        </p:nvSpPr>
        <p:spPr>
          <a:xfrm>
            <a:off x="3108960" y="2057400"/>
            <a:ext cx="256032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FFFFFF"/>
                </a:solidFill>
                <a:latin typeface="Cambria"/>
                <a:ea typeface="Cambria"/>
                <a:cs typeface="Cambria"/>
                <a:sym typeface="Cambria"/>
              </a:rPr>
              <a:t>6,163</a:t>
            </a:r>
            <a:endParaRPr/>
          </a:p>
        </p:txBody>
      </p:sp>
      <p:sp>
        <p:nvSpPr>
          <p:cNvPr id="212" name="Google Shape;212;p8"/>
          <p:cNvSpPr txBox="1"/>
          <p:nvPr/>
        </p:nvSpPr>
        <p:spPr>
          <a:xfrm>
            <a:off x="3108960" y="2926079"/>
            <a:ext cx="256032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low income, gets a letter</a:t>
            </a:r>
            <a:endParaRPr/>
          </a:p>
        </p:txBody>
      </p:sp>
      <p:sp>
        <p:nvSpPr>
          <p:cNvPr id="213" name="Google Shape;213;p8"/>
          <p:cNvSpPr/>
          <p:nvPr/>
        </p:nvSpPr>
        <p:spPr>
          <a:xfrm>
            <a:off x="5852160" y="1874519"/>
            <a:ext cx="2743200" cy="1828800"/>
          </a:xfrm>
          <a:prstGeom prst="roundRect">
            <a:avLst>
              <a:gd fmla="val 8000" name="adj"/>
            </a:avLst>
          </a:prstGeom>
          <a:solidFill>
            <a:srgbClr val="B53A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8"/>
          <p:cNvSpPr txBox="1"/>
          <p:nvPr/>
        </p:nvSpPr>
        <p:spPr>
          <a:xfrm>
            <a:off x="5943600" y="2057400"/>
            <a:ext cx="256032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FFFFFF"/>
                </a:solidFill>
                <a:latin typeface="Cambria"/>
                <a:ea typeface="Cambria"/>
                <a:cs typeface="Cambria"/>
                <a:sym typeface="Cambria"/>
              </a:rPr>
              <a:t>1,259</a:t>
            </a:r>
            <a:endParaRPr/>
          </a:p>
        </p:txBody>
      </p:sp>
      <p:sp>
        <p:nvSpPr>
          <p:cNvPr id="215" name="Google Shape;215;p8"/>
          <p:cNvSpPr txBox="1"/>
          <p:nvPr/>
        </p:nvSpPr>
        <p:spPr>
          <a:xfrm>
            <a:off x="5943600" y="2926079"/>
            <a:ext cx="256032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low income, MISSED</a:t>
            </a:r>
            <a:endParaRPr/>
          </a:p>
        </p:txBody>
      </p:sp>
      <p:sp>
        <p:nvSpPr>
          <p:cNvPr id="216" name="Google Shape;216;p8"/>
          <p:cNvSpPr/>
          <p:nvPr/>
        </p:nvSpPr>
        <p:spPr>
          <a:xfrm>
            <a:off x="3017520" y="3794760"/>
            <a:ext cx="2743200" cy="18288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8"/>
          <p:cNvSpPr txBox="1"/>
          <p:nvPr/>
        </p:nvSpPr>
        <p:spPr>
          <a:xfrm>
            <a:off x="3108960" y="3977640"/>
            <a:ext cx="256032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1B2B24"/>
                </a:solidFill>
                <a:latin typeface="Cambria"/>
                <a:ea typeface="Cambria"/>
                <a:cs typeface="Cambria"/>
                <a:sym typeface="Cambria"/>
              </a:rPr>
              <a:t>410</a:t>
            </a:r>
            <a:endParaRPr/>
          </a:p>
        </p:txBody>
      </p:sp>
      <p:sp>
        <p:nvSpPr>
          <p:cNvPr id="218" name="Google Shape;218;p8"/>
          <p:cNvSpPr txBox="1"/>
          <p:nvPr/>
        </p:nvSpPr>
        <p:spPr>
          <a:xfrm>
            <a:off x="3108960" y="4846320"/>
            <a:ext cx="256032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400" u="none" cap="none" strike="noStrike">
                <a:solidFill>
                  <a:srgbClr val="1B2B24"/>
                </a:solidFill>
                <a:latin typeface="Calibri"/>
                <a:ea typeface="Calibri"/>
                <a:cs typeface="Calibri"/>
                <a:sym typeface="Calibri"/>
              </a:rPr>
              <a:t>higher income, letter by mistake</a:t>
            </a:r>
            <a:endParaRPr/>
          </a:p>
        </p:txBody>
      </p:sp>
      <p:sp>
        <p:nvSpPr>
          <p:cNvPr id="219" name="Google Shape;219;p8"/>
          <p:cNvSpPr/>
          <p:nvPr/>
        </p:nvSpPr>
        <p:spPr>
          <a:xfrm>
            <a:off x="5852160" y="3794760"/>
            <a:ext cx="2743200" cy="182880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8"/>
          <p:cNvSpPr txBox="1"/>
          <p:nvPr/>
        </p:nvSpPr>
        <p:spPr>
          <a:xfrm>
            <a:off x="5943600" y="3977640"/>
            <a:ext cx="256032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1B2B24"/>
                </a:solidFill>
                <a:latin typeface="Cambria"/>
                <a:ea typeface="Cambria"/>
                <a:cs typeface="Cambria"/>
                <a:sym typeface="Cambria"/>
              </a:rPr>
              <a:t>1,926</a:t>
            </a:r>
            <a:endParaRPr/>
          </a:p>
        </p:txBody>
      </p:sp>
      <p:sp>
        <p:nvSpPr>
          <p:cNvPr id="221" name="Google Shape;221;p8"/>
          <p:cNvSpPr txBox="1"/>
          <p:nvPr/>
        </p:nvSpPr>
        <p:spPr>
          <a:xfrm>
            <a:off x="5943600" y="4846320"/>
            <a:ext cx="256032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400" u="none" cap="none" strike="noStrike">
                <a:solidFill>
                  <a:srgbClr val="1B2B24"/>
                </a:solidFill>
                <a:latin typeface="Calibri"/>
                <a:ea typeface="Calibri"/>
                <a:cs typeface="Calibri"/>
                <a:sym typeface="Calibri"/>
              </a:rPr>
              <a:t>higher income, correctly left out</a:t>
            </a:r>
            <a:endParaRPr/>
          </a:p>
        </p:txBody>
      </p:sp>
      <p:sp>
        <p:nvSpPr>
          <p:cNvPr id="222" name="Google Shape;222;p8"/>
          <p:cNvSpPr/>
          <p:nvPr/>
        </p:nvSpPr>
        <p:spPr>
          <a:xfrm>
            <a:off x="9052560" y="1874519"/>
            <a:ext cx="2560320" cy="3749039"/>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8"/>
          <p:cNvSpPr txBox="1"/>
          <p:nvPr/>
        </p:nvSpPr>
        <p:spPr>
          <a:xfrm>
            <a:off x="9189720" y="2011680"/>
            <a:ext cx="2286000" cy="3566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F4D3A"/>
                </a:solidFill>
                <a:latin typeface="Calibri"/>
                <a:ea typeface="Calibri"/>
                <a:cs typeface="Calibri"/>
                <a:sym typeface="Calibri"/>
              </a:rPr>
              <a:t>Who is missed?</a:t>
            </a:r>
            <a:endParaRPr/>
          </a:p>
          <a:p>
            <a:pPr indent="0" lvl="0" marL="0" marR="0" rtl="0" algn="l">
              <a:spcBef>
                <a:spcPts val="800"/>
              </a:spcBef>
              <a:spcAft>
                <a:spcPts val="0"/>
              </a:spcAft>
              <a:buNone/>
            </a:pPr>
            <a:r>
              <a:rPr b="0" i="0" lang="en-US" sz="1500" u="none" cap="none" strike="noStrike">
                <a:solidFill>
                  <a:srgbClr val="1B2B24"/>
                </a:solidFill>
                <a:latin typeface="Calibri"/>
                <a:ea typeface="Calibri"/>
                <a:cs typeface="Calibri"/>
                <a:sym typeface="Calibri"/>
              </a:rPr>
              <a:t>96% are married</a:t>
            </a:r>
            <a:endParaRPr/>
          </a:p>
          <a:p>
            <a:pPr indent="0" lvl="0" marL="0" marR="0" rtl="0" algn="l">
              <a:spcBef>
                <a:spcPts val="800"/>
              </a:spcBef>
              <a:spcAft>
                <a:spcPts val="0"/>
              </a:spcAft>
              <a:buNone/>
            </a:pPr>
            <a:r>
              <a:rPr b="0" i="0" lang="en-US" sz="1500" u="none" cap="none" strike="noStrike">
                <a:solidFill>
                  <a:srgbClr val="1B2B24"/>
                </a:solidFill>
                <a:latin typeface="Calibri"/>
                <a:ea typeface="Calibri"/>
                <a:cs typeface="Calibri"/>
                <a:sym typeface="Calibri"/>
              </a:rPr>
              <a:t>91% are men</a:t>
            </a:r>
            <a:endParaRPr/>
          </a:p>
          <a:p>
            <a:pPr indent="0" lvl="0" marL="0" marR="0" rtl="0" algn="l">
              <a:spcBef>
                <a:spcPts val="800"/>
              </a:spcBef>
              <a:spcAft>
                <a:spcPts val="0"/>
              </a:spcAft>
              <a:buNone/>
            </a:pPr>
            <a:r>
              <a:rPr b="0" i="0" lang="en-US" sz="1500" u="none" cap="none" strike="noStrike">
                <a:solidFill>
                  <a:srgbClr val="1B2B24"/>
                </a:solidFill>
                <a:latin typeface="Calibri"/>
                <a:ea typeface="Calibri"/>
                <a:cs typeface="Calibri"/>
                <a:sym typeface="Calibri"/>
              </a:rPr>
              <a:t>They are older and work more hours</a:t>
            </a:r>
            <a:endParaRPr/>
          </a:p>
          <a:p>
            <a:pPr indent="0" lvl="0" marL="0" marR="0" rtl="0" algn="l">
              <a:spcBef>
                <a:spcPts val="800"/>
              </a:spcBef>
              <a:spcAft>
                <a:spcPts val="0"/>
              </a:spcAft>
              <a:buNone/>
            </a:pPr>
            <a:r>
              <a:rPr b="0" i="1" lang="en-US" sz="1500" u="none" cap="none" strike="noStrike">
                <a:solidFill>
                  <a:srgbClr val="1B2B24"/>
                </a:solidFill>
                <a:latin typeface="Calibri"/>
                <a:ea typeface="Calibri"/>
                <a:cs typeface="Calibri"/>
                <a:sym typeface="Calibri"/>
              </a:rPr>
              <a:t>The model learned "married man with a full-time job = high income".</a:t>
            </a:r>
            <a:endParaRPr/>
          </a:p>
        </p:txBody>
      </p:sp>
      <p:sp>
        <p:nvSpPr>
          <p:cNvPr id="224" name="Google Shape;224;p8"/>
          <p:cNvSpPr txBox="1"/>
          <p:nvPr/>
        </p:nvSpPr>
        <p:spPr>
          <a:xfrm>
            <a:off x="640080" y="5943600"/>
            <a:ext cx="108813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1F4D3A"/>
                </a:solidFill>
                <a:latin typeface="Calibri"/>
                <a:ea typeface="Calibri"/>
                <a:cs typeface="Calibri"/>
                <a:sym typeface="Calibri"/>
              </a:rPr>
              <a:t>Test set: 9,758 people. Missing a student costs money; an extra letter costs almost nothing.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9"/>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Live prediction: a made-up parent</a:t>
            </a:r>
            <a:endParaRPr/>
          </a:p>
        </p:txBody>
      </p:sp>
      <p:sp>
        <p:nvSpPr>
          <p:cNvPr id="231" name="Google Shape;231;p9"/>
          <p:cNvSpPr/>
          <p:nvPr/>
        </p:nvSpPr>
        <p:spPr>
          <a:xfrm>
            <a:off x="640080" y="1554480"/>
            <a:ext cx="5486400" cy="4206240"/>
          </a:xfrm>
          <a:prstGeom prst="roundRect">
            <a:avLst>
              <a:gd fmla="val 8000" name="adj"/>
            </a:avLst>
          </a:prstGeom>
          <a:solidFill>
            <a:srgbClr val="EAF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9"/>
          <p:cNvSpPr txBox="1"/>
          <p:nvPr/>
        </p:nvSpPr>
        <p:spPr>
          <a:xfrm>
            <a:off x="868680" y="1691640"/>
            <a:ext cx="50292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55655D"/>
                </a:solidFill>
                <a:latin typeface="Calibri"/>
                <a:ea typeface="Calibri"/>
                <a:cs typeface="Calibri"/>
                <a:sym typeface="Calibri"/>
              </a:rPr>
              <a:t>INPUT</a:t>
            </a:r>
            <a:endParaRPr/>
          </a:p>
        </p:txBody>
      </p:sp>
      <p:sp>
        <p:nvSpPr>
          <p:cNvPr id="233" name="Google Shape;233;p9"/>
          <p:cNvSpPr txBox="1"/>
          <p:nvPr/>
        </p:nvSpPr>
        <p:spPr>
          <a:xfrm>
            <a:off x="868680" y="2194560"/>
            <a:ext cx="5029200" cy="34747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1B2B24"/>
                </a:solidFill>
                <a:latin typeface="Calibri"/>
                <a:ea typeface="Calibri"/>
                <a:cs typeface="Calibri"/>
                <a:sym typeface="Calibri"/>
              </a:rPr>
              <a:t>46 years old, divorced woman</a:t>
            </a:r>
            <a:endParaRPr/>
          </a:p>
          <a:p>
            <a:pPr indent="0" lvl="0" marL="0" marR="0" rtl="0" algn="l">
              <a:spcBef>
                <a:spcPts val="1400"/>
              </a:spcBef>
              <a:spcAft>
                <a:spcPts val="0"/>
              </a:spcAft>
              <a:buNone/>
            </a:pPr>
            <a:r>
              <a:rPr b="0" i="0" lang="en-US" sz="2000" u="none" cap="none" strike="noStrike">
                <a:solidFill>
                  <a:srgbClr val="1B2B24"/>
                </a:solidFill>
                <a:latin typeface="Calibri"/>
                <a:ea typeface="Calibri"/>
                <a:cs typeface="Calibri"/>
                <a:sym typeface="Calibri"/>
              </a:rPr>
              <a:t>Works 32 hours a week in a service job</a:t>
            </a:r>
            <a:endParaRPr/>
          </a:p>
          <a:p>
            <a:pPr indent="0" lvl="0" marL="0" marR="0" rtl="0" algn="l">
              <a:spcBef>
                <a:spcPts val="1400"/>
              </a:spcBef>
              <a:spcAft>
                <a:spcPts val="0"/>
              </a:spcAft>
              <a:buNone/>
            </a:pPr>
            <a:r>
              <a:rPr b="0" i="0" lang="en-US" sz="2000" u="none" cap="none" strike="noStrike">
                <a:solidFill>
                  <a:srgbClr val="1B2B24"/>
                </a:solidFill>
                <a:latin typeface="Calibri"/>
                <a:ea typeface="Calibri"/>
                <a:cs typeface="Calibri"/>
                <a:sym typeface="Calibri"/>
              </a:rPr>
              <a:t>Private sector, 9 years of education</a:t>
            </a:r>
            <a:endParaRPr/>
          </a:p>
          <a:p>
            <a:pPr indent="0" lvl="0" marL="0" marR="0" rtl="0" algn="l">
              <a:spcBef>
                <a:spcPts val="1400"/>
              </a:spcBef>
              <a:spcAft>
                <a:spcPts val="0"/>
              </a:spcAft>
              <a:buNone/>
            </a:pPr>
            <a:r>
              <a:rPr b="0" i="0" lang="en-US" sz="2000" u="none" cap="none" strike="noStrike">
                <a:solidFill>
                  <a:srgbClr val="1B2B24"/>
                </a:solidFill>
                <a:latin typeface="Calibri"/>
                <a:ea typeface="Calibri"/>
                <a:cs typeface="Calibri"/>
                <a:sym typeface="Calibri"/>
              </a:rPr>
              <a:t>No capital gain or loss, born in the US</a:t>
            </a:r>
            <a:endParaRPr/>
          </a:p>
        </p:txBody>
      </p:sp>
      <p:sp>
        <p:nvSpPr>
          <p:cNvPr id="234" name="Google Shape;234;p9"/>
          <p:cNvSpPr txBox="1"/>
          <p:nvPr/>
        </p:nvSpPr>
        <p:spPr>
          <a:xfrm>
            <a:off x="6172200" y="2743200"/>
            <a:ext cx="640080" cy="100584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F2A541"/>
                </a:solidFill>
                <a:latin typeface="Calibri"/>
                <a:ea typeface="Calibri"/>
                <a:cs typeface="Calibri"/>
                <a:sym typeface="Calibri"/>
              </a:rPr>
              <a:t>&gt;</a:t>
            </a:r>
            <a:endParaRPr/>
          </a:p>
        </p:txBody>
      </p:sp>
      <p:sp>
        <p:nvSpPr>
          <p:cNvPr id="235" name="Google Shape;235;p9"/>
          <p:cNvSpPr/>
          <p:nvPr/>
        </p:nvSpPr>
        <p:spPr>
          <a:xfrm>
            <a:off x="6858000" y="1554480"/>
            <a:ext cx="4709160" cy="4206240"/>
          </a:xfrm>
          <a:prstGeom prst="roundRect">
            <a:avLst>
              <a:gd fmla="val 8000" name="adj"/>
            </a:avLst>
          </a:prstGeom>
          <a:solidFill>
            <a:srgbClr val="1F4D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9"/>
          <p:cNvSpPr txBox="1"/>
          <p:nvPr/>
        </p:nvSpPr>
        <p:spPr>
          <a:xfrm>
            <a:off x="7086600" y="1691640"/>
            <a:ext cx="42062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8DB580"/>
                </a:solidFill>
                <a:latin typeface="Calibri"/>
                <a:ea typeface="Calibri"/>
                <a:cs typeface="Calibri"/>
                <a:sym typeface="Calibri"/>
              </a:rPr>
              <a:t>OUTPUT</a:t>
            </a:r>
            <a:endParaRPr/>
          </a:p>
        </p:txBody>
      </p:sp>
      <p:sp>
        <p:nvSpPr>
          <p:cNvPr id="237" name="Google Shape;237;p9"/>
          <p:cNvSpPr txBox="1"/>
          <p:nvPr/>
        </p:nvSpPr>
        <p:spPr>
          <a:xfrm>
            <a:off x="7086600" y="2194560"/>
            <a:ext cx="4206240" cy="164592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8000" u="none" cap="none" strike="noStrike">
                <a:solidFill>
                  <a:srgbClr val="F2A541"/>
                </a:solidFill>
                <a:latin typeface="Cambria"/>
                <a:ea typeface="Cambria"/>
                <a:cs typeface="Cambria"/>
                <a:sym typeface="Cambria"/>
              </a:rPr>
              <a:t>99%</a:t>
            </a:r>
            <a:endParaRPr/>
          </a:p>
        </p:txBody>
      </p:sp>
      <p:sp>
        <p:nvSpPr>
          <p:cNvPr id="238" name="Google Shape;238;p9"/>
          <p:cNvSpPr txBox="1"/>
          <p:nvPr/>
        </p:nvSpPr>
        <p:spPr>
          <a:xfrm>
            <a:off x="7086600" y="3931920"/>
            <a:ext cx="4206240" cy="17373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probability of low income: send the letter</a:t>
            </a:r>
            <a:endParaRPr/>
          </a:p>
          <a:p>
            <a:pPr indent="0" lvl="0" marL="0" marR="0" rtl="0" algn="l">
              <a:spcBef>
                <a:spcPts val="1000"/>
              </a:spcBef>
              <a:spcAft>
                <a:spcPts val="0"/>
              </a:spcAft>
              <a:buNone/>
            </a:pPr>
            <a:r>
              <a:rPr b="0" i="0" lang="en-US" sz="1700" u="none" cap="none" strike="noStrike">
                <a:solidFill>
                  <a:srgbClr val="FFFFFF"/>
                </a:solidFill>
                <a:latin typeface="Calibri"/>
                <a:ea typeface="Calibri"/>
                <a:cs typeface="Calibri"/>
                <a:sym typeface="Calibri"/>
              </a:rPr>
              <a:t>DUO should always see the probability, because 55% and 99% are different messages.</a:t>
            </a:r>
            <a:endParaRPr/>
          </a:p>
        </p:txBody>
      </p:sp>
      <p:sp>
        <p:nvSpPr>
          <p:cNvPr id="239" name="Google Shape;239;p9"/>
          <p:cNvSpPr txBox="1"/>
          <p:nvPr/>
        </p:nvSpPr>
        <p:spPr>
          <a:xfrm>
            <a:off x="640080" y="6035040"/>
            <a:ext cx="1088136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55655D"/>
                </a:solidFill>
                <a:latin typeface="Calibri"/>
                <a:ea typeface="Calibri"/>
                <a:cs typeface="Calibri"/>
                <a:sym typeface="Calibri"/>
              </a:rPr>
              <a:t>Run live: the last cell of the notebook (step 10).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4D3A"/>
        </a:solidFill>
      </p:bgPr>
    </p:bg>
    <p:spTree>
      <p:nvGrpSpPr>
        <p:cNvPr id="244" name="Shape 244"/>
        <p:cNvGrpSpPr/>
        <p:nvPr/>
      </p:nvGrpSpPr>
      <p:grpSpPr>
        <a:xfrm>
          <a:off x="0" y="0"/>
          <a:ext cx="0" cy="0"/>
          <a:chOff x="0" y="0"/>
          <a:chExt cx="0" cy="0"/>
        </a:xfrm>
      </p:grpSpPr>
      <p:sp>
        <p:nvSpPr>
          <p:cNvPr id="245" name="Google Shape;245;p10"/>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FFFFFF"/>
                </a:solidFill>
                <a:latin typeface="Cambria"/>
                <a:ea typeface="Cambria"/>
                <a:cs typeface="Cambria"/>
                <a:sym typeface="Cambria"/>
              </a:rPr>
              <a:t>The decision we defend hardest: balanced accuracy, not recall</a:t>
            </a:r>
            <a:endParaRPr/>
          </a:p>
        </p:txBody>
      </p:sp>
      <p:sp>
        <p:nvSpPr>
          <p:cNvPr id="246" name="Google Shape;246;p10"/>
          <p:cNvSpPr/>
          <p:nvPr/>
        </p:nvSpPr>
        <p:spPr>
          <a:xfrm>
            <a:off x="640080" y="1737360"/>
            <a:ext cx="5303520" cy="3200400"/>
          </a:xfrm>
          <a:prstGeom prst="roundRect">
            <a:avLst>
              <a:gd fmla="val 8000" name="adj"/>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0"/>
          <p:cNvSpPr txBox="1"/>
          <p:nvPr/>
        </p:nvSpPr>
        <p:spPr>
          <a:xfrm>
            <a:off x="868680" y="1874519"/>
            <a:ext cx="484632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8DB580"/>
                </a:solidFill>
                <a:latin typeface="Calibri"/>
                <a:ea typeface="Calibri"/>
                <a:cs typeface="Calibri"/>
                <a:sym typeface="Calibri"/>
              </a:rPr>
              <a:t>THE LAZY BASELINE</a:t>
            </a:r>
            <a:endParaRPr/>
          </a:p>
        </p:txBody>
      </p:sp>
      <p:sp>
        <p:nvSpPr>
          <p:cNvPr id="248" name="Google Shape;248;p10"/>
          <p:cNvSpPr txBox="1"/>
          <p:nvPr/>
        </p:nvSpPr>
        <p:spPr>
          <a:xfrm>
            <a:off x="868680" y="2331720"/>
            <a:ext cx="484632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400" u="none" cap="none" strike="noStrike">
                <a:solidFill>
                  <a:srgbClr val="FFFFFF"/>
                </a:solidFill>
                <a:latin typeface="Cambria"/>
                <a:ea typeface="Cambria"/>
                <a:cs typeface="Cambria"/>
                <a:sym typeface="Cambria"/>
              </a:rPr>
              <a:t>recall = 1.0</a:t>
            </a:r>
            <a:endParaRPr/>
          </a:p>
        </p:txBody>
      </p:sp>
      <p:sp>
        <p:nvSpPr>
          <p:cNvPr id="249" name="Google Shape;249;p10"/>
          <p:cNvSpPr txBox="1"/>
          <p:nvPr/>
        </p:nvSpPr>
        <p:spPr>
          <a:xfrm>
            <a:off x="868680" y="3383280"/>
            <a:ext cx="48463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EAF3E7"/>
                </a:solidFill>
                <a:latin typeface="Calibri"/>
                <a:ea typeface="Calibri"/>
                <a:cs typeface="Calibri"/>
                <a:sym typeface="Calibri"/>
              </a:rPr>
              <a:t>It says "low income" for everyone, so it finds every low-income person and learns nothing.</a:t>
            </a:r>
            <a:endParaRPr/>
          </a:p>
        </p:txBody>
      </p:sp>
      <p:sp>
        <p:nvSpPr>
          <p:cNvPr id="250" name="Google Shape;250;p10"/>
          <p:cNvSpPr/>
          <p:nvPr/>
        </p:nvSpPr>
        <p:spPr>
          <a:xfrm>
            <a:off x="6263640" y="1737360"/>
            <a:ext cx="5303520" cy="3200400"/>
          </a:xfrm>
          <a:prstGeom prst="roundRect">
            <a:avLst>
              <a:gd fmla="val 8000" name="adj"/>
            </a:avLst>
          </a:prstGeom>
          <a:solidFill>
            <a:srgbClr val="F2A5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0"/>
          <p:cNvSpPr txBox="1"/>
          <p:nvPr/>
        </p:nvSpPr>
        <p:spPr>
          <a:xfrm>
            <a:off x="6492240" y="1874519"/>
            <a:ext cx="484632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1B2B24"/>
                </a:solidFill>
                <a:latin typeface="Calibri"/>
                <a:ea typeface="Calibri"/>
                <a:cs typeface="Calibri"/>
                <a:sym typeface="Calibri"/>
              </a:rPr>
              <a:t>THE SAME BASELINE, BALANCED</a:t>
            </a:r>
            <a:endParaRPr/>
          </a:p>
        </p:txBody>
      </p:sp>
      <p:sp>
        <p:nvSpPr>
          <p:cNvPr id="252" name="Google Shape;252;p10"/>
          <p:cNvSpPr txBox="1"/>
          <p:nvPr/>
        </p:nvSpPr>
        <p:spPr>
          <a:xfrm>
            <a:off x="6492240" y="2286000"/>
            <a:ext cx="484632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600" u="none" cap="none" strike="noStrike">
                <a:solidFill>
                  <a:srgbClr val="1B2B24"/>
                </a:solidFill>
                <a:latin typeface="Cambria"/>
                <a:ea typeface="Cambria"/>
                <a:cs typeface="Cambria"/>
                <a:sym typeface="Cambria"/>
              </a:rPr>
              <a:t>balanced</a:t>
            </a:r>
            <a:endParaRPr/>
          </a:p>
          <a:p>
            <a:pPr indent="0" lvl="0" marL="0" marR="0" rtl="0" algn="l">
              <a:spcBef>
                <a:spcPts val="0"/>
              </a:spcBef>
              <a:spcAft>
                <a:spcPts val="0"/>
              </a:spcAft>
              <a:buNone/>
            </a:pPr>
            <a:r>
              <a:rPr b="1" i="0" lang="en-US" sz="3600" u="none" cap="none" strike="noStrike">
                <a:solidFill>
                  <a:srgbClr val="1B2B24"/>
                </a:solidFill>
                <a:latin typeface="Cambria"/>
                <a:ea typeface="Cambria"/>
                <a:cs typeface="Cambria"/>
                <a:sym typeface="Cambria"/>
              </a:rPr>
              <a:t>accuracy = 0.5</a:t>
            </a:r>
            <a:endParaRPr/>
          </a:p>
        </p:txBody>
      </p:sp>
      <p:sp>
        <p:nvSpPr>
          <p:cNvPr id="253" name="Google Shape;253;p10"/>
          <p:cNvSpPr txBox="1"/>
          <p:nvPr/>
        </p:nvSpPr>
        <p:spPr>
          <a:xfrm>
            <a:off x="6492240" y="3703320"/>
            <a:ext cx="4846320" cy="11887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1B2B24"/>
                </a:solidFill>
                <a:latin typeface="Calibri"/>
                <a:ea typeface="Calibri"/>
                <a:cs typeface="Calibri"/>
                <a:sym typeface="Calibri"/>
              </a:rPr>
              <a:t>It averages the share of low-income people found and the share of higher-income people left out.</a:t>
            </a:r>
            <a:endParaRPr/>
          </a:p>
        </p:txBody>
      </p:sp>
      <p:sp>
        <p:nvSpPr>
          <p:cNvPr id="254" name="Google Shape;254;p10"/>
          <p:cNvSpPr txBox="1"/>
          <p:nvPr/>
        </p:nvSpPr>
        <p:spPr>
          <a:xfrm>
            <a:off x="640080" y="5257800"/>
            <a:ext cx="10911535"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FFFFFF"/>
                </a:solidFill>
                <a:latin typeface="Calibri"/>
                <a:ea typeface="Calibri"/>
                <a:cs typeface="Calibri"/>
                <a:sym typeface="Calibri"/>
              </a:rPr>
              <a:t>Every model has to beat 0.5. Recall, precision and F1 are still in every table.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1"/>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1F4D3A"/>
                </a:solidFill>
                <a:latin typeface="Cambria"/>
                <a:ea typeface="Cambria"/>
                <a:cs typeface="Cambria"/>
                <a:sym typeface="Cambria"/>
              </a:rPr>
              <a:t>Ethics: sex and race are in the model</a:t>
            </a:r>
            <a:endParaRPr/>
          </a:p>
        </p:txBody>
      </p:sp>
      <p:graphicFrame>
        <p:nvGraphicFramePr>
          <p:cNvPr id="261" name="Google Shape;261;p11"/>
          <p:cNvGraphicFramePr/>
          <p:nvPr/>
        </p:nvGraphicFramePr>
        <p:xfrm>
          <a:off x="640080" y="1463040"/>
          <a:ext cx="5760720" cy="4114800"/>
        </p:xfrm>
        <a:graphic>
          <a:graphicData uri="http://schemas.openxmlformats.org/drawingml/2006/chart">
            <c:chart r:id="rId3"/>
          </a:graphicData>
        </a:graphic>
      </p:graphicFrame>
      <p:sp>
        <p:nvSpPr>
          <p:cNvPr id="262" name="Google Shape;262;p11"/>
          <p:cNvSpPr txBox="1"/>
          <p:nvPr/>
        </p:nvSpPr>
        <p:spPr>
          <a:xfrm>
            <a:off x="6675120" y="1508760"/>
            <a:ext cx="49377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F4D3A"/>
                </a:solidFill>
                <a:latin typeface="Cambria"/>
                <a:ea typeface="Cambria"/>
                <a:cs typeface="Cambria"/>
                <a:sym typeface="Cambria"/>
              </a:rPr>
              <a:t>Old US data</a:t>
            </a:r>
            <a:endParaRPr/>
          </a:p>
        </p:txBody>
      </p:sp>
      <p:sp>
        <p:nvSpPr>
          <p:cNvPr id="263" name="Google Shape;263;p11"/>
          <p:cNvSpPr txBox="1"/>
          <p:nvPr/>
        </p:nvSpPr>
        <p:spPr>
          <a:xfrm>
            <a:off x="6675120" y="1874519"/>
            <a:ext cx="4937760" cy="7772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1B2B24"/>
                </a:solidFill>
                <a:latin typeface="Calibri"/>
                <a:ea typeface="Calibri"/>
                <a:cs typeface="Calibri"/>
                <a:sym typeface="Calibri"/>
              </a:rPr>
              <a:t>Says nothing about Dutch students. Train again on recent Dutch data first.</a:t>
            </a:r>
            <a:endParaRPr/>
          </a:p>
        </p:txBody>
      </p:sp>
      <p:sp>
        <p:nvSpPr>
          <p:cNvPr id="264" name="Google Shape;264;p11"/>
          <p:cNvSpPr txBox="1"/>
          <p:nvPr/>
        </p:nvSpPr>
        <p:spPr>
          <a:xfrm>
            <a:off x="6675120" y="2606039"/>
            <a:ext cx="49377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F4D3A"/>
                </a:solidFill>
                <a:latin typeface="Cambria"/>
                <a:ea typeface="Cambria"/>
                <a:cs typeface="Cambria"/>
                <a:sym typeface="Cambria"/>
              </a:rPr>
              <a:t>Group gaps</a:t>
            </a:r>
            <a:endParaRPr/>
          </a:p>
        </p:txBody>
      </p:sp>
      <p:sp>
        <p:nvSpPr>
          <p:cNvPr id="265" name="Google Shape;265;p11"/>
          <p:cNvSpPr txBox="1"/>
          <p:nvPr/>
        </p:nvSpPr>
        <p:spPr>
          <a:xfrm>
            <a:off x="6675120" y="2971799"/>
            <a:ext cx="4937760" cy="7772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1B2B24"/>
                </a:solidFill>
                <a:latin typeface="Calibri"/>
                <a:ea typeface="Calibri"/>
                <a:cs typeface="Calibri"/>
                <a:sym typeface="Calibri"/>
              </a:rPr>
              <a:t>Finds 96% of low-income women but 75% of men. Recall is lower for White (0.81) than Black (0.93) people.</a:t>
            </a:r>
            <a:endParaRPr/>
          </a:p>
        </p:txBody>
      </p:sp>
      <p:sp>
        <p:nvSpPr>
          <p:cNvPr id="266" name="Google Shape;266;p11"/>
          <p:cNvSpPr txBox="1"/>
          <p:nvPr/>
        </p:nvSpPr>
        <p:spPr>
          <a:xfrm>
            <a:off x="6675120" y="3703320"/>
            <a:ext cx="49377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F4D3A"/>
                </a:solidFill>
                <a:latin typeface="Cambria"/>
                <a:ea typeface="Cambria"/>
                <a:cs typeface="Cambria"/>
                <a:sym typeface="Cambria"/>
              </a:rPr>
              <a:t>Hidden proxies</a:t>
            </a:r>
            <a:endParaRPr/>
          </a:p>
        </p:txBody>
      </p:sp>
      <p:sp>
        <p:nvSpPr>
          <p:cNvPr id="267" name="Google Shape;267;p11"/>
          <p:cNvSpPr txBox="1"/>
          <p:nvPr/>
        </p:nvSpPr>
        <p:spPr>
          <a:xfrm>
            <a:off x="6675120" y="4069080"/>
            <a:ext cx="4937760" cy="7772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1B2B24"/>
                </a:solidFill>
                <a:latin typeface="Calibri"/>
                <a:ea typeface="Calibri"/>
                <a:cs typeface="Calibri"/>
                <a:sym typeface="Calibri"/>
              </a:rPr>
              <a:t>Marital status and occupation can stand in for sex and race, so dropping the columns is not enough.</a:t>
            </a:r>
            <a:endParaRPr/>
          </a:p>
        </p:txBody>
      </p:sp>
      <p:sp>
        <p:nvSpPr>
          <p:cNvPr id="268" name="Google Shape;268;p11"/>
          <p:cNvSpPr txBox="1"/>
          <p:nvPr/>
        </p:nvSpPr>
        <p:spPr>
          <a:xfrm>
            <a:off x="6675120" y="4800600"/>
            <a:ext cx="49377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F4D3A"/>
                </a:solidFill>
                <a:latin typeface="Cambria"/>
                <a:ea typeface="Cambria"/>
                <a:cs typeface="Cambria"/>
                <a:sym typeface="Cambria"/>
              </a:rPr>
              <a:t>What we did</a:t>
            </a:r>
            <a:endParaRPr/>
          </a:p>
        </p:txBody>
      </p:sp>
      <p:sp>
        <p:nvSpPr>
          <p:cNvPr id="269" name="Google Shape;269;p11"/>
          <p:cNvSpPr txBox="1"/>
          <p:nvPr/>
        </p:nvSpPr>
        <p:spPr>
          <a:xfrm>
            <a:off x="6675120" y="5166360"/>
            <a:ext cx="4937760" cy="7772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1B2B24"/>
                </a:solidFill>
                <a:latin typeface="Calibri"/>
                <a:ea typeface="Calibri"/>
                <a:cs typeface="Calibri"/>
                <a:sym typeface="Calibri"/>
              </a:rPr>
              <a:t>Balanced accuracy, a per-group check, and a README warning on who must not use it.</a:t>
            </a:r>
            <a:endParaRPr/>
          </a:p>
        </p:txBody>
      </p:sp>
      <p:sp>
        <p:nvSpPr>
          <p:cNvPr id="270" name="Google Shape;270;p11"/>
          <p:cNvSpPr txBox="1"/>
          <p:nvPr/>
        </p:nvSpPr>
        <p:spPr>
          <a:xfrm>
            <a:off x="640080" y="5943600"/>
            <a:ext cx="108813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55655D"/>
                </a:solidFill>
                <a:latin typeface="Calibri"/>
                <a:ea typeface="Calibri"/>
                <a:cs typeface="Calibri"/>
                <a:sym typeface="Calibri"/>
              </a:rPr>
              <a:t>Next step: retrain on Dutch data, test without sex and race, choose the letter threshold with cross-validation.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4D3A"/>
        </a:solidFill>
      </p:bgPr>
    </p:bg>
    <p:spTree>
      <p:nvGrpSpPr>
        <p:cNvPr id="275" name="Shape 275"/>
        <p:cNvGrpSpPr/>
        <p:nvPr/>
      </p:nvGrpSpPr>
      <p:grpSpPr>
        <a:xfrm>
          <a:off x="0" y="0"/>
          <a:ext cx="0" cy="0"/>
          <a:chOff x="0" y="0"/>
          <a:chExt cx="0" cy="0"/>
        </a:xfrm>
      </p:grpSpPr>
      <p:sp>
        <p:nvSpPr>
          <p:cNvPr id="276" name="Google Shape;276;p12"/>
          <p:cNvSpPr txBox="1"/>
          <p:nvPr/>
        </p:nvSpPr>
        <p:spPr>
          <a:xfrm>
            <a:off x="640080" y="274320"/>
            <a:ext cx="10911535" cy="11430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3200" u="none" cap="none" strike="noStrike">
                <a:solidFill>
                  <a:srgbClr val="FFFFFF"/>
                </a:solidFill>
                <a:latin typeface="Cambria"/>
                <a:ea typeface="Cambria"/>
                <a:cs typeface="Cambria"/>
                <a:sym typeface="Cambria"/>
              </a:rPr>
              <a:t>Recommendation: random forest, with conditions</a:t>
            </a:r>
            <a:endParaRPr/>
          </a:p>
        </p:txBody>
      </p:sp>
      <p:sp>
        <p:nvSpPr>
          <p:cNvPr id="277" name="Google Shape;277;p12"/>
          <p:cNvSpPr/>
          <p:nvPr/>
        </p:nvSpPr>
        <p:spPr>
          <a:xfrm>
            <a:off x="640080" y="1645920"/>
            <a:ext cx="5349240" cy="2011680"/>
          </a:xfrm>
          <a:prstGeom prst="roundRect">
            <a:avLst>
              <a:gd fmla="val 8000" name="adj"/>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2"/>
          <p:cNvSpPr txBox="1"/>
          <p:nvPr/>
        </p:nvSpPr>
        <p:spPr>
          <a:xfrm>
            <a:off x="868680" y="1783080"/>
            <a:ext cx="49377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F2A541"/>
                </a:solidFill>
                <a:latin typeface="Cambria"/>
                <a:ea typeface="Cambria"/>
                <a:cs typeface="Cambria"/>
                <a:sym typeface="Cambria"/>
              </a:rPr>
              <a:t>Why the forest</a:t>
            </a:r>
            <a:endParaRPr/>
          </a:p>
        </p:txBody>
      </p:sp>
      <p:sp>
        <p:nvSpPr>
          <p:cNvPr id="279" name="Google Shape;279;p12"/>
          <p:cNvSpPr txBox="1"/>
          <p:nvPr/>
        </p:nvSpPr>
        <p:spPr>
          <a:xfrm>
            <a:off x="868680" y="2377440"/>
            <a:ext cx="493776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Best main score (0.827 on test). It finds 83% of low-income people and wastes 410 letters, against 2,336 if everyone gets one.</a:t>
            </a:r>
            <a:endParaRPr/>
          </a:p>
        </p:txBody>
      </p:sp>
      <p:sp>
        <p:nvSpPr>
          <p:cNvPr id="280" name="Google Shape;280;p12"/>
          <p:cNvSpPr/>
          <p:nvPr/>
        </p:nvSpPr>
        <p:spPr>
          <a:xfrm>
            <a:off x="6172200" y="1645920"/>
            <a:ext cx="5349240" cy="2011680"/>
          </a:xfrm>
          <a:prstGeom prst="roundRect">
            <a:avLst>
              <a:gd fmla="val 8000" name="adj"/>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12"/>
          <p:cNvSpPr txBox="1"/>
          <p:nvPr/>
        </p:nvSpPr>
        <p:spPr>
          <a:xfrm>
            <a:off x="6400800" y="1783080"/>
            <a:ext cx="49377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F2A541"/>
                </a:solidFill>
                <a:latin typeface="Cambria"/>
                <a:ea typeface="Cambria"/>
                <a:cs typeface="Cambria"/>
                <a:sym typeface="Cambria"/>
              </a:rPr>
              <a:t>The alternative</a:t>
            </a:r>
            <a:endParaRPr/>
          </a:p>
        </p:txBody>
      </p:sp>
      <p:sp>
        <p:nvSpPr>
          <p:cNvPr id="282" name="Google Shape;282;p12"/>
          <p:cNvSpPr txBox="1"/>
          <p:nvPr/>
        </p:nvSpPr>
        <p:spPr>
          <a:xfrm>
            <a:off x="6400800" y="2377440"/>
            <a:ext cx="493776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Logistic regression is easier to explain and almost as good (0.823).</a:t>
            </a:r>
            <a:endParaRPr/>
          </a:p>
        </p:txBody>
      </p:sp>
      <p:sp>
        <p:nvSpPr>
          <p:cNvPr id="283" name="Google Shape;283;p12"/>
          <p:cNvSpPr/>
          <p:nvPr/>
        </p:nvSpPr>
        <p:spPr>
          <a:xfrm>
            <a:off x="640080" y="3886200"/>
            <a:ext cx="5349240" cy="2011680"/>
          </a:xfrm>
          <a:prstGeom prst="roundRect">
            <a:avLst>
              <a:gd fmla="val 8000" name="adj"/>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12"/>
          <p:cNvSpPr txBox="1"/>
          <p:nvPr/>
        </p:nvSpPr>
        <p:spPr>
          <a:xfrm>
            <a:off x="868680" y="4023360"/>
            <a:ext cx="49377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F2A541"/>
                </a:solidFill>
                <a:latin typeface="Cambria"/>
                <a:ea typeface="Cambria"/>
                <a:cs typeface="Cambria"/>
                <a:sym typeface="Cambria"/>
              </a:rPr>
              <a:t>Conditions</a:t>
            </a:r>
            <a:endParaRPr/>
          </a:p>
        </p:txBody>
      </p:sp>
      <p:sp>
        <p:nvSpPr>
          <p:cNvPr id="285" name="Google Shape;285;p12"/>
          <p:cNvSpPr txBox="1"/>
          <p:nvPr/>
        </p:nvSpPr>
        <p:spPr>
          <a:xfrm>
            <a:off x="868680" y="4617720"/>
            <a:ext cx="493776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It misses 17%, so the letter cannot be the only channel. Retrain on recent Dutch data before any use.</a:t>
            </a:r>
            <a:endParaRPr/>
          </a:p>
        </p:txBody>
      </p:sp>
      <p:sp>
        <p:nvSpPr>
          <p:cNvPr id="286" name="Google Shape;286;p12"/>
          <p:cNvSpPr/>
          <p:nvPr/>
        </p:nvSpPr>
        <p:spPr>
          <a:xfrm>
            <a:off x="6172200" y="3886200"/>
            <a:ext cx="5349240" cy="2011680"/>
          </a:xfrm>
          <a:prstGeom prst="roundRect">
            <a:avLst>
              <a:gd fmla="val 8000" name="adj"/>
            </a:avLst>
          </a:prstGeom>
          <a:solidFill>
            <a:srgbClr val="2A6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2"/>
          <p:cNvSpPr txBox="1"/>
          <p:nvPr/>
        </p:nvSpPr>
        <p:spPr>
          <a:xfrm>
            <a:off x="6400800" y="4023360"/>
            <a:ext cx="493776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200" u="none" cap="none" strike="noStrike">
                <a:solidFill>
                  <a:srgbClr val="F2A541"/>
                </a:solidFill>
                <a:latin typeface="Cambria"/>
                <a:ea typeface="Cambria"/>
                <a:cs typeface="Cambria"/>
                <a:sym typeface="Cambria"/>
              </a:rPr>
              <a:t>Next step</a:t>
            </a:r>
            <a:endParaRPr/>
          </a:p>
        </p:txBody>
      </p:sp>
      <p:sp>
        <p:nvSpPr>
          <p:cNvPr id="288" name="Google Shape;288;p12"/>
          <p:cNvSpPr txBox="1"/>
          <p:nvPr/>
        </p:nvSpPr>
        <p:spPr>
          <a:xfrm>
            <a:off x="6400800" y="4617720"/>
            <a:ext cx="4937760" cy="12344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700" u="none" cap="none" strike="noStrike">
                <a:solidFill>
                  <a:srgbClr val="FFFFFF"/>
                </a:solidFill>
                <a:latin typeface="Calibri"/>
                <a:ea typeface="Calibri"/>
                <a:cs typeface="Calibri"/>
                <a:sym typeface="Calibri"/>
              </a:rPr>
              <a:t>Choose a letter threshold below 50% with cross-validation, and repeat the per-group check.</a:t>
            </a:r>
            <a:endParaRPr/>
          </a:p>
        </p:txBody>
      </p:sp>
      <p:sp>
        <p:nvSpPr>
          <p:cNvPr id="289" name="Google Shape;289;p12"/>
          <p:cNvSpPr txBox="1"/>
          <p:nvPr/>
        </p:nvSpPr>
        <p:spPr>
          <a:xfrm>
            <a:off x="640080" y="6217920"/>
            <a:ext cx="10911535"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EAF3E7"/>
                </a:solidFill>
                <a:latin typeface="Calibri"/>
                <a:ea typeface="Calibri"/>
                <a:cs typeface="Calibri"/>
                <a:sym typeface="Calibri"/>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